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1"/>
    <p:sldMasterId id="2147483685" r:id="rId2"/>
    <p:sldMasterId id="2147483688" r:id="rId3"/>
  </p:sldMasterIdLst>
  <p:notesMasterIdLst>
    <p:notesMasterId r:id="rId43"/>
  </p:notesMasterIdLst>
  <p:handoutMasterIdLst>
    <p:handoutMasterId r:id="rId44"/>
  </p:handoutMasterIdLst>
  <p:sldIdLst>
    <p:sldId id="261" r:id="rId4"/>
    <p:sldId id="1383" r:id="rId5"/>
    <p:sldId id="1470" r:id="rId6"/>
    <p:sldId id="1431" r:id="rId7"/>
    <p:sldId id="1436" r:id="rId8"/>
    <p:sldId id="1434" r:id="rId9"/>
    <p:sldId id="1466" r:id="rId10"/>
    <p:sldId id="1467" r:id="rId11"/>
    <p:sldId id="1442" r:id="rId12"/>
    <p:sldId id="1435" r:id="rId13"/>
    <p:sldId id="1462" r:id="rId14"/>
    <p:sldId id="1471" r:id="rId15"/>
    <p:sldId id="1438" r:id="rId16"/>
    <p:sldId id="1439" r:id="rId17"/>
    <p:sldId id="1444" r:id="rId18"/>
    <p:sldId id="1468" r:id="rId19"/>
    <p:sldId id="1440" r:id="rId20"/>
    <p:sldId id="1464" r:id="rId21"/>
    <p:sldId id="1443" r:id="rId22"/>
    <p:sldId id="1445" r:id="rId23"/>
    <p:sldId id="1469" r:id="rId24"/>
    <p:sldId id="1465" r:id="rId25"/>
    <p:sldId id="1446" r:id="rId26"/>
    <p:sldId id="1447" r:id="rId27"/>
    <p:sldId id="1448" r:id="rId28"/>
    <p:sldId id="1451" r:id="rId29"/>
    <p:sldId id="1450" r:id="rId30"/>
    <p:sldId id="1452" r:id="rId31"/>
    <p:sldId id="1453" r:id="rId32"/>
    <p:sldId id="1454" r:id="rId33"/>
    <p:sldId id="1455" r:id="rId34"/>
    <p:sldId id="1456" r:id="rId35"/>
    <p:sldId id="1457" r:id="rId36"/>
    <p:sldId id="1458" r:id="rId37"/>
    <p:sldId id="1459" r:id="rId38"/>
    <p:sldId id="1460" r:id="rId39"/>
    <p:sldId id="1472" r:id="rId40"/>
    <p:sldId id="1473" r:id="rId41"/>
    <p:sldId id="1461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o, Callie" initials="HC" lastIdx="1" clrIdx="0">
    <p:extLst>
      <p:ext uri="{19B8F6BF-5375-455C-9EA6-DF929625EA0E}">
        <p15:presenceInfo xmlns:p15="http://schemas.microsoft.com/office/powerpoint/2012/main" userId="S::chao33@gatech.edu::c1d199f9-baa9-49f0-9dc5-86d4c8cc02c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057"/>
    <a:srgbClr val="007AFF"/>
    <a:srgbClr val="FFB602"/>
    <a:srgbClr val="FFC000"/>
    <a:srgbClr val="BF9000"/>
    <a:srgbClr val="920000"/>
    <a:srgbClr val="000000"/>
    <a:srgbClr val="C00000"/>
    <a:srgbClr val="9DC3E6"/>
    <a:srgbClr val="FFF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4DB970-CD50-4C01-93A7-6F2843CABA93}" v="20" dt="2026-02-10T16:48:42.154"/>
    <p1510:client id="{EAFC9193-DFA2-4282-B11F-86EC02A90B41}" v="1" dt="2026-02-10T16:00:18.050"/>
  </p1510:revLst>
</p1510:revInfo>
</file>

<file path=ppt/tableStyles.xml><?xml version="1.0" encoding="utf-8"?>
<a:tblStyleLst xmlns:a="http://schemas.openxmlformats.org/drawingml/2006/main" def="{5C22544A-7EE6-4342-B048-85BDC9FD1C3A}"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>
        <p:guide orient="horz" pos="2160"/>
        <p:guide pos="3840"/>
        <p:guide/>
      </p:guideLst>
    </p:cSldViewPr>
  </p:slideViewPr>
  <p:outlineViewPr>
    <p:cViewPr>
      <p:scale>
        <a:sx n="33" d="100"/>
        <a:sy n="33" d="100"/>
      </p:scale>
      <p:origin x="0" y="-23448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4104" y="12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viewProps" Target="viewProps.xml"/><Relationship Id="rId50" Type="http://schemas.microsoft.com/office/2015/10/relationships/revisionInfo" Target="revisionInfo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commentAuthors" Target="commentAuthor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notesMaster" Target="notesMasters/notesMaster1.xml"/><Relationship Id="rId48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presProps" Target="pres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4641391-8555-475C-B8C1-F7E058C9C9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5A0B5B-C42C-4503-82B0-B5E9C32BAC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BF373F-E9CD-4F15-B047-E0FA24F48B57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F0EC6C-20BF-4515-BE00-23FDCC24CEB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7A46FE-B11C-452A-9BAF-121B73B341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4C416F-D90F-4504-B7D2-9B16EDED3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93188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F895E8-E1CA-4443-920E-E538D2781036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70C58A-EE4C-492A-80BB-EEBA0CC034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7432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980B6FE-061E-424F-ADED-325E8D09EF12}"/>
              </a:ext>
            </a:extLst>
          </p:cNvPr>
          <p:cNvSpPr/>
          <p:nvPr userDrawn="1"/>
        </p:nvSpPr>
        <p:spPr>
          <a:xfrm>
            <a:off x="-9" y="6638927"/>
            <a:ext cx="12192000" cy="219075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9EA9B7-6196-45B5-909A-E38654385A00}"/>
              </a:ext>
            </a:extLst>
          </p:cNvPr>
          <p:cNvSpPr/>
          <p:nvPr userDrawn="1"/>
        </p:nvSpPr>
        <p:spPr>
          <a:xfrm>
            <a:off x="0" y="0"/>
            <a:ext cx="12192000" cy="885826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9126" y="1647825"/>
            <a:ext cx="11010167" cy="2447926"/>
          </a:xfrm>
        </p:spPr>
        <p:txBody>
          <a:bodyPr anchor="t">
            <a:noAutofit/>
          </a:bodyPr>
          <a:lstStyle>
            <a:lvl1pPr algn="ctr">
              <a:defRPr sz="5400" b="1" spc="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056" name="Picture 8" descr="Nebo Leverages Geo-targeting for Georgia Tech">
            <a:extLst>
              <a:ext uri="{FF2B5EF4-FFF2-40B4-BE49-F238E27FC236}">
                <a16:creationId xmlns:a16="http://schemas.microsoft.com/office/drawing/2014/main" id="{99116C07-C5EC-40A2-90D8-C7EE4A73F6E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5551" y="78234"/>
            <a:ext cx="1713767" cy="729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88620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492739"/>
            <a:ext cx="9144000" cy="176322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EE0B29-1DCB-4D69-A6F7-C287AD1AA2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7454" y="432661"/>
            <a:ext cx="6137077" cy="722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447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49501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tx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17581" y="6489389"/>
            <a:ext cx="711737" cy="30000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756A96-ABC2-47C1-9989-9660D00AE332}"/>
              </a:ext>
            </a:extLst>
          </p:cNvPr>
          <p:cNvSpPr/>
          <p:nvPr userDrawn="1"/>
        </p:nvSpPr>
        <p:spPr>
          <a:xfrm flipV="1">
            <a:off x="0" y="6437928"/>
            <a:ext cx="12192000" cy="45719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DF593F-2F59-4FB9-B28E-7E3028D30F55}"/>
              </a:ext>
            </a:extLst>
          </p:cNvPr>
          <p:cNvSpPr/>
          <p:nvPr userDrawn="1"/>
        </p:nvSpPr>
        <p:spPr>
          <a:xfrm>
            <a:off x="0" y="0"/>
            <a:ext cx="12192000" cy="885826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945" y="258469"/>
            <a:ext cx="11322539" cy="6244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2" name="Picture 8" descr="Nebo Leverages Geo-targeting for Georgia Tech">
            <a:extLst>
              <a:ext uri="{FF2B5EF4-FFF2-40B4-BE49-F238E27FC236}">
                <a16:creationId xmlns:a16="http://schemas.microsoft.com/office/drawing/2014/main" id="{AE511F9F-17DC-43F4-B6F0-B8D643FCD38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5551" y="78234"/>
            <a:ext cx="1713767" cy="729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8F84CF5-63C1-475F-B006-D6DCB1C29CF7}"/>
              </a:ext>
            </a:extLst>
          </p:cNvPr>
          <p:cNvSpPr txBox="1">
            <a:spLocks/>
          </p:cNvSpPr>
          <p:nvPr/>
        </p:nvSpPr>
        <p:spPr>
          <a:xfrm>
            <a:off x="1473230" y="6491970"/>
            <a:ext cx="4903022" cy="2974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defTabSz="914400">
              <a:spcBef>
                <a:spcPct val="0"/>
              </a:spcBef>
              <a:defRPr sz="1400" b="1" i="0" spc="0">
                <a:solidFill>
                  <a:schemeClr val="bg2">
                    <a:lumMod val="50000"/>
                  </a:schemeClr>
                </a:solidFill>
                <a:latin typeface="Corbel" panose="020B0503020204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 sz="1400" dirty="0">
                <a:latin typeface="Aptos" panose="020B0004020202020204" pitchFamily="34" charset="0"/>
              </a:rPr>
              <a:t>Callie Hao | Sharc-lab @ Georgia Institute of Technology</a:t>
            </a:r>
            <a:endParaRPr lang="en-US" sz="1400" dirty="0">
              <a:latin typeface="Aptos" panose="020B0004020202020204" pitchFamily="34" charset="0"/>
            </a:endParaRPr>
          </a:p>
        </p:txBody>
      </p:sp>
      <p:pic>
        <p:nvPicPr>
          <p:cNvPr id="14" name="Picture 13" descr="Logo&#10;&#10;Description automatically generated">
            <a:extLst>
              <a:ext uri="{FF2B5EF4-FFF2-40B4-BE49-F238E27FC236}">
                <a16:creationId xmlns:a16="http://schemas.microsoft.com/office/drawing/2014/main" id="{4962942D-35AC-4097-AC85-DA745636937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039" y="6533945"/>
            <a:ext cx="263811" cy="21347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7831D84-8318-4BE3-8B04-5B15FD0019F3}"/>
              </a:ext>
            </a:extLst>
          </p:cNvPr>
          <p:cNvSpPr txBox="1"/>
          <p:nvPr userDrawn="1"/>
        </p:nvSpPr>
        <p:spPr>
          <a:xfrm>
            <a:off x="7129712" y="6491970"/>
            <a:ext cx="3033015" cy="30777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lvl="0" defTabSz="914400">
              <a:spcBef>
                <a:spcPct val="0"/>
              </a:spcBef>
              <a:defRPr sz="1400" b="1" i="0" spc="0">
                <a:solidFill>
                  <a:schemeClr val="bg2">
                    <a:lumMod val="50000"/>
                  </a:schemeClr>
                </a:solidFill>
                <a:latin typeface="Corbel" panose="020B0503020204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 dirty="0">
                <a:latin typeface="Aptos" panose="020B0004020202020204" pitchFamily="34" charset="0"/>
              </a:rPr>
              <a:t>https://sharclab.ece.gatech.edu/ </a:t>
            </a:r>
            <a:endParaRPr lang="en-US" dirty="0">
              <a:latin typeface="Aptos" panose="020B0004020202020204" pitchFamily="34" charset="0"/>
            </a:endParaRPr>
          </a:p>
        </p:txBody>
      </p:sp>
      <p:grpSp>
        <p:nvGrpSpPr>
          <p:cNvPr id="9" name="Graphic 4" descr="Home with solid fill">
            <a:extLst>
              <a:ext uri="{FF2B5EF4-FFF2-40B4-BE49-F238E27FC236}">
                <a16:creationId xmlns:a16="http://schemas.microsoft.com/office/drawing/2014/main" id="{41266146-5008-4BAD-BC20-9A9239612ACF}"/>
              </a:ext>
            </a:extLst>
          </p:cNvPr>
          <p:cNvGrpSpPr/>
          <p:nvPr/>
        </p:nvGrpSpPr>
        <p:grpSpPr>
          <a:xfrm>
            <a:off x="6902117" y="6502643"/>
            <a:ext cx="280738" cy="280738"/>
            <a:chOff x="6902117" y="6502643"/>
            <a:chExt cx="280738" cy="280738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E244A24-ECF9-48BB-BBE0-8C4C14F27B46}"/>
                </a:ext>
              </a:extLst>
            </p:cNvPr>
            <p:cNvSpPr/>
            <p:nvPr/>
          </p:nvSpPr>
          <p:spPr>
            <a:xfrm>
              <a:off x="6919663" y="6537735"/>
              <a:ext cx="245645" cy="128086"/>
            </a:xfrm>
            <a:custGeom>
              <a:avLst/>
              <a:gdLst>
                <a:gd name="connsiteX0" fmla="*/ 122823 w 245645"/>
                <a:gd name="connsiteY0" fmla="*/ 0 h 128086"/>
                <a:gd name="connsiteX1" fmla="*/ 122823 w 245645"/>
                <a:gd name="connsiteY1" fmla="*/ 0 h 128086"/>
                <a:gd name="connsiteX2" fmla="*/ 0 w 245645"/>
                <a:gd name="connsiteY2" fmla="*/ 116974 h 128086"/>
                <a:gd name="connsiteX3" fmla="*/ 13160 w 245645"/>
                <a:gd name="connsiteY3" fmla="*/ 128087 h 128086"/>
                <a:gd name="connsiteX4" fmla="*/ 122823 w 245645"/>
                <a:gd name="connsiteY4" fmla="*/ 23980 h 128086"/>
                <a:gd name="connsiteX5" fmla="*/ 122823 w 245645"/>
                <a:gd name="connsiteY5" fmla="*/ 23980 h 128086"/>
                <a:gd name="connsiteX6" fmla="*/ 232486 w 245645"/>
                <a:gd name="connsiteY6" fmla="*/ 128087 h 128086"/>
                <a:gd name="connsiteX7" fmla="*/ 245646 w 245645"/>
                <a:gd name="connsiteY7" fmla="*/ 116974 h 128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5645" h="128086">
                  <a:moveTo>
                    <a:pt x="122823" y="0"/>
                  </a:moveTo>
                  <a:lnTo>
                    <a:pt x="122823" y="0"/>
                  </a:lnTo>
                  <a:lnTo>
                    <a:pt x="0" y="116974"/>
                  </a:lnTo>
                  <a:lnTo>
                    <a:pt x="13160" y="128087"/>
                  </a:lnTo>
                  <a:lnTo>
                    <a:pt x="122823" y="23980"/>
                  </a:lnTo>
                  <a:lnTo>
                    <a:pt x="122823" y="23980"/>
                  </a:lnTo>
                  <a:lnTo>
                    <a:pt x="232486" y="128087"/>
                  </a:lnTo>
                  <a:lnTo>
                    <a:pt x="245646" y="116974"/>
                  </a:lnTo>
                  <a:close/>
                </a:path>
              </a:pathLst>
            </a:custGeom>
            <a:solidFill>
              <a:srgbClr val="007AFF"/>
            </a:solidFill>
            <a:ln w="28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FFD2581-72A8-4C49-A0C7-F8F57202219A}"/>
                </a:ext>
              </a:extLst>
            </p:cNvPr>
            <p:cNvSpPr/>
            <p:nvPr/>
          </p:nvSpPr>
          <p:spPr>
            <a:xfrm>
              <a:off x="6954755" y="6578091"/>
              <a:ext cx="175461" cy="170197"/>
            </a:xfrm>
            <a:custGeom>
              <a:avLst/>
              <a:gdLst>
                <a:gd name="connsiteX0" fmla="*/ 0 w 175461"/>
                <a:gd name="connsiteY0" fmla="*/ 83344 h 170197"/>
                <a:gd name="connsiteX1" fmla="*/ 0 w 175461"/>
                <a:gd name="connsiteY1" fmla="*/ 170197 h 170197"/>
                <a:gd name="connsiteX2" fmla="*/ 70185 w 175461"/>
                <a:gd name="connsiteY2" fmla="*/ 170197 h 170197"/>
                <a:gd name="connsiteX3" fmla="*/ 70185 w 175461"/>
                <a:gd name="connsiteY3" fmla="*/ 97089 h 170197"/>
                <a:gd name="connsiteX4" fmla="*/ 105277 w 175461"/>
                <a:gd name="connsiteY4" fmla="*/ 97089 h 170197"/>
                <a:gd name="connsiteX5" fmla="*/ 105277 w 175461"/>
                <a:gd name="connsiteY5" fmla="*/ 170197 h 170197"/>
                <a:gd name="connsiteX6" fmla="*/ 175461 w 175461"/>
                <a:gd name="connsiteY6" fmla="*/ 170197 h 170197"/>
                <a:gd name="connsiteX7" fmla="*/ 175461 w 175461"/>
                <a:gd name="connsiteY7" fmla="*/ 83344 h 170197"/>
                <a:gd name="connsiteX8" fmla="*/ 87731 w 175461"/>
                <a:gd name="connsiteY8" fmla="*/ 0 h 170197"/>
                <a:gd name="connsiteX9" fmla="*/ 0 w 175461"/>
                <a:gd name="connsiteY9" fmla="*/ 83344 h 170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461" h="170197">
                  <a:moveTo>
                    <a:pt x="0" y="83344"/>
                  </a:moveTo>
                  <a:lnTo>
                    <a:pt x="0" y="170197"/>
                  </a:lnTo>
                  <a:lnTo>
                    <a:pt x="70185" y="170197"/>
                  </a:lnTo>
                  <a:lnTo>
                    <a:pt x="70185" y="97089"/>
                  </a:lnTo>
                  <a:lnTo>
                    <a:pt x="105277" y="97089"/>
                  </a:lnTo>
                  <a:lnTo>
                    <a:pt x="105277" y="170197"/>
                  </a:lnTo>
                  <a:lnTo>
                    <a:pt x="175461" y="170197"/>
                  </a:lnTo>
                  <a:lnTo>
                    <a:pt x="175461" y="83344"/>
                  </a:lnTo>
                  <a:lnTo>
                    <a:pt x="87731" y="0"/>
                  </a:lnTo>
                  <a:lnTo>
                    <a:pt x="0" y="83344"/>
                  </a:lnTo>
                  <a:close/>
                </a:path>
              </a:pathLst>
            </a:custGeom>
            <a:solidFill>
              <a:srgbClr val="FFB602"/>
            </a:solidFill>
            <a:ln w="28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39270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079523" y="6366610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3239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17EE9D9-49A7-AE42-84D1-352EBEE407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55684" y="1149178"/>
            <a:ext cx="6795912" cy="2643890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lnSpc>
                <a:spcPts val="4800"/>
              </a:lnSpc>
              <a:defRPr sz="4200" b="1" i="0" cap="none" spc="0" baseline="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55682" y="3793068"/>
            <a:ext cx="6795913" cy="168486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ts val="3600"/>
              </a:lnSpc>
              <a:buNone/>
              <a:defRPr sz="1800" b="0" cap="none" spc="0" baseline="0">
                <a:solidFill>
                  <a:srgbClr val="85743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759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ray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6F7A4AC-88DB-41C5-AE00-5E2A8C4D6675}"/>
              </a:ext>
            </a:extLst>
          </p:cNvPr>
          <p:cNvSpPr/>
          <p:nvPr userDrawn="1"/>
        </p:nvSpPr>
        <p:spPr>
          <a:xfrm>
            <a:off x="0" y="0"/>
            <a:ext cx="12192000" cy="885826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80B6FE-061E-424F-ADED-325E8D09EF12}"/>
              </a:ext>
            </a:extLst>
          </p:cNvPr>
          <p:cNvSpPr/>
          <p:nvPr userDrawn="1"/>
        </p:nvSpPr>
        <p:spPr>
          <a:xfrm>
            <a:off x="-9" y="6638927"/>
            <a:ext cx="12192000" cy="219075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9126" y="1647825"/>
            <a:ext cx="11010167" cy="2447926"/>
          </a:xfrm>
        </p:spPr>
        <p:txBody>
          <a:bodyPr anchor="t">
            <a:noAutofit/>
          </a:bodyPr>
          <a:lstStyle>
            <a:lvl1pPr algn="ctr">
              <a:defRPr sz="5400" b="1" spc="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056" name="Picture 8" descr="Nebo Leverages Geo-targeting for Georgia Tech">
            <a:extLst>
              <a:ext uri="{FF2B5EF4-FFF2-40B4-BE49-F238E27FC236}">
                <a16:creationId xmlns:a16="http://schemas.microsoft.com/office/drawing/2014/main" id="{99116C07-C5EC-40A2-90D8-C7EE4A73F6E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5551" y="78234"/>
            <a:ext cx="1713767" cy="729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35925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980B6FE-061E-424F-ADED-325E8D09EF12}"/>
              </a:ext>
            </a:extLst>
          </p:cNvPr>
          <p:cNvSpPr/>
          <p:nvPr userDrawn="1"/>
        </p:nvSpPr>
        <p:spPr>
          <a:xfrm>
            <a:off x="-9" y="6638927"/>
            <a:ext cx="12192000" cy="219075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9EA9B7-6196-45B5-909A-E38654385A00}"/>
              </a:ext>
            </a:extLst>
          </p:cNvPr>
          <p:cNvSpPr/>
          <p:nvPr userDrawn="1"/>
        </p:nvSpPr>
        <p:spPr>
          <a:xfrm>
            <a:off x="0" y="0"/>
            <a:ext cx="12192000" cy="885826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9126" y="1647825"/>
            <a:ext cx="11010167" cy="2447926"/>
          </a:xfrm>
        </p:spPr>
        <p:txBody>
          <a:bodyPr anchor="t">
            <a:noAutofit/>
          </a:bodyPr>
          <a:lstStyle>
            <a:lvl1pPr algn="ctr">
              <a:defRPr sz="5400" b="1" spc="0">
                <a:solidFill>
                  <a:schemeClr val="bg1"/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056" name="Picture 8" descr="Nebo Leverages Geo-targeting for Georgia Tech">
            <a:extLst>
              <a:ext uri="{FF2B5EF4-FFF2-40B4-BE49-F238E27FC236}">
                <a16:creationId xmlns:a16="http://schemas.microsoft.com/office/drawing/2014/main" id="{99116C07-C5EC-40A2-90D8-C7EE4A73F6E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5551" y="78234"/>
            <a:ext cx="1713767" cy="729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33516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492739"/>
            <a:ext cx="9144000" cy="176322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EE0B29-1DCB-4D69-A6F7-C287AD1AA2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7454" y="432661"/>
            <a:ext cx="6137077" cy="722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358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49501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tx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17581" y="6489389"/>
            <a:ext cx="711737" cy="30000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756A96-ABC2-47C1-9989-9660D00AE332}"/>
              </a:ext>
            </a:extLst>
          </p:cNvPr>
          <p:cNvSpPr/>
          <p:nvPr userDrawn="1"/>
        </p:nvSpPr>
        <p:spPr>
          <a:xfrm flipV="1">
            <a:off x="0" y="6437928"/>
            <a:ext cx="12192000" cy="45719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DF593F-2F59-4FB9-B28E-7E3028D30F55}"/>
              </a:ext>
            </a:extLst>
          </p:cNvPr>
          <p:cNvSpPr/>
          <p:nvPr userDrawn="1"/>
        </p:nvSpPr>
        <p:spPr>
          <a:xfrm>
            <a:off x="0" y="0"/>
            <a:ext cx="12192000" cy="885826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945" y="258469"/>
            <a:ext cx="11322539" cy="6244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2" name="Picture 8" descr="Nebo Leverages Geo-targeting for Georgia Tech">
            <a:extLst>
              <a:ext uri="{FF2B5EF4-FFF2-40B4-BE49-F238E27FC236}">
                <a16:creationId xmlns:a16="http://schemas.microsoft.com/office/drawing/2014/main" id="{AE511F9F-17DC-43F4-B6F0-B8D643FCD38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5551" y="78234"/>
            <a:ext cx="1713767" cy="729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8F84CF5-63C1-475F-B006-D6DCB1C29CF7}"/>
              </a:ext>
            </a:extLst>
          </p:cNvPr>
          <p:cNvSpPr txBox="1">
            <a:spLocks/>
          </p:cNvSpPr>
          <p:nvPr/>
        </p:nvSpPr>
        <p:spPr>
          <a:xfrm>
            <a:off x="1473230" y="6491970"/>
            <a:ext cx="4626781" cy="2974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defTabSz="914400">
              <a:spcBef>
                <a:spcPct val="0"/>
              </a:spcBef>
              <a:defRPr sz="1400" b="1" i="0" spc="0">
                <a:solidFill>
                  <a:schemeClr val="bg2">
                    <a:lumMod val="50000"/>
                  </a:schemeClr>
                </a:solidFill>
                <a:latin typeface="Corbel" panose="020B0503020204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 sz="1400" dirty="0">
                <a:latin typeface="Aptos" panose="020B0004020202020204" pitchFamily="34" charset="0"/>
              </a:rPr>
              <a:t>Callie Hao | Sharc-lab @ Georgia Institute of Technology</a:t>
            </a:r>
            <a:endParaRPr lang="en-US" sz="1400" dirty="0">
              <a:latin typeface="Aptos" panose="020B0004020202020204" pitchFamily="34" charset="0"/>
            </a:endParaRPr>
          </a:p>
        </p:txBody>
      </p:sp>
      <p:pic>
        <p:nvPicPr>
          <p:cNvPr id="14" name="Picture 13" descr="Logo&#10;&#10;Description automatically generated">
            <a:extLst>
              <a:ext uri="{FF2B5EF4-FFF2-40B4-BE49-F238E27FC236}">
                <a16:creationId xmlns:a16="http://schemas.microsoft.com/office/drawing/2014/main" id="{4962942D-35AC-4097-AC85-DA745636937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039" y="6533945"/>
            <a:ext cx="263811" cy="21347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7831D84-8318-4BE3-8B04-5B15FD0019F3}"/>
              </a:ext>
            </a:extLst>
          </p:cNvPr>
          <p:cNvSpPr txBox="1"/>
          <p:nvPr userDrawn="1"/>
        </p:nvSpPr>
        <p:spPr>
          <a:xfrm>
            <a:off x="7129713" y="6491970"/>
            <a:ext cx="2862514" cy="30777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lvl="0" defTabSz="914400">
              <a:spcBef>
                <a:spcPct val="0"/>
              </a:spcBef>
              <a:defRPr sz="1400" b="1" i="0" spc="0">
                <a:solidFill>
                  <a:schemeClr val="bg2">
                    <a:lumMod val="50000"/>
                  </a:schemeClr>
                </a:solidFill>
                <a:latin typeface="Corbel" panose="020B0503020204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 dirty="0">
                <a:latin typeface="Aptos" panose="020B0004020202020204" pitchFamily="34" charset="0"/>
              </a:rPr>
              <a:t>https://sharclab.ece.gatech.edu/ </a:t>
            </a:r>
            <a:endParaRPr lang="en-US" dirty="0">
              <a:latin typeface="Aptos" panose="020B0004020202020204" pitchFamily="34" charset="0"/>
            </a:endParaRPr>
          </a:p>
        </p:txBody>
      </p:sp>
      <p:grpSp>
        <p:nvGrpSpPr>
          <p:cNvPr id="9" name="Graphic 4" descr="Home with solid fill">
            <a:extLst>
              <a:ext uri="{FF2B5EF4-FFF2-40B4-BE49-F238E27FC236}">
                <a16:creationId xmlns:a16="http://schemas.microsoft.com/office/drawing/2014/main" id="{41266146-5008-4BAD-BC20-9A9239612ACF}"/>
              </a:ext>
            </a:extLst>
          </p:cNvPr>
          <p:cNvGrpSpPr/>
          <p:nvPr/>
        </p:nvGrpSpPr>
        <p:grpSpPr>
          <a:xfrm>
            <a:off x="6902117" y="6502643"/>
            <a:ext cx="280738" cy="280738"/>
            <a:chOff x="6902117" y="6502643"/>
            <a:chExt cx="280738" cy="280738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E244A24-ECF9-48BB-BBE0-8C4C14F27B46}"/>
                </a:ext>
              </a:extLst>
            </p:cNvPr>
            <p:cNvSpPr/>
            <p:nvPr/>
          </p:nvSpPr>
          <p:spPr>
            <a:xfrm>
              <a:off x="6919663" y="6537735"/>
              <a:ext cx="245645" cy="128086"/>
            </a:xfrm>
            <a:custGeom>
              <a:avLst/>
              <a:gdLst>
                <a:gd name="connsiteX0" fmla="*/ 122823 w 245645"/>
                <a:gd name="connsiteY0" fmla="*/ 0 h 128086"/>
                <a:gd name="connsiteX1" fmla="*/ 122823 w 245645"/>
                <a:gd name="connsiteY1" fmla="*/ 0 h 128086"/>
                <a:gd name="connsiteX2" fmla="*/ 0 w 245645"/>
                <a:gd name="connsiteY2" fmla="*/ 116974 h 128086"/>
                <a:gd name="connsiteX3" fmla="*/ 13160 w 245645"/>
                <a:gd name="connsiteY3" fmla="*/ 128087 h 128086"/>
                <a:gd name="connsiteX4" fmla="*/ 122823 w 245645"/>
                <a:gd name="connsiteY4" fmla="*/ 23980 h 128086"/>
                <a:gd name="connsiteX5" fmla="*/ 122823 w 245645"/>
                <a:gd name="connsiteY5" fmla="*/ 23980 h 128086"/>
                <a:gd name="connsiteX6" fmla="*/ 232486 w 245645"/>
                <a:gd name="connsiteY6" fmla="*/ 128087 h 128086"/>
                <a:gd name="connsiteX7" fmla="*/ 245646 w 245645"/>
                <a:gd name="connsiteY7" fmla="*/ 116974 h 128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5645" h="128086">
                  <a:moveTo>
                    <a:pt x="122823" y="0"/>
                  </a:moveTo>
                  <a:lnTo>
                    <a:pt x="122823" y="0"/>
                  </a:lnTo>
                  <a:lnTo>
                    <a:pt x="0" y="116974"/>
                  </a:lnTo>
                  <a:lnTo>
                    <a:pt x="13160" y="128087"/>
                  </a:lnTo>
                  <a:lnTo>
                    <a:pt x="122823" y="23980"/>
                  </a:lnTo>
                  <a:lnTo>
                    <a:pt x="122823" y="23980"/>
                  </a:lnTo>
                  <a:lnTo>
                    <a:pt x="232486" y="128087"/>
                  </a:lnTo>
                  <a:lnTo>
                    <a:pt x="245646" y="116974"/>
                  </a:lnTo>
                  <a:close/>
                </a:path>
              </a:pathLst>
            </a:custGeom>
            <a:solidFill>
              <a:srgbClr val="007AFF"/>
            </a:solidFill>
            <a:ln w="28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FFD2581-72A8-4C49-A0C7-F8F57202219A}"/>
                </a:ext>
              </a:extLst>
            </p:cNvPr>
            <p:cNvSpPr/>
            <p:nvPr/>
          </p:nvSpPr>
          <p:spPr>
            <a:xfrm>
              <a:off x="6954755" y="6578091"/>
              <a:ext cx="175461" cy="170197"/>
            </a:xfrm>
            <a:custGeom>
              <a:avLst/>
              <a:gdLst>
                <a:gd name="connsiteX0" fmla="*/ 0 w 175461"/>
                <a:gd name="connsiteY0" fmla="*/ 83344 h 170197"/>
                <a:gd name="connsiteX1" fmla="*/ 0 w 175461"/>
                <a:gd name="connsiteY1" fmla="*/ 170197 h 170197"/>
                <a:gd name="connsiteX2" fmla="*/ 70185 w 175461"/>
                <a:gd name="connsiteY2" fmla="*/ 170197 h 170197"/>
                <a:gd name="connsiteX3" fmla="*/ 70185 w 175461"/>
                <a:gd name="connsiteY3" fmla="*/ 97089 h 170197"/>
                <a:gd name="connsiteX4" fmla="*/ 105277 w 175461"/>
                <a:gd name="connsiteY4" fmla="*/ 97089 h 170197"/>
                <a:gd name="connsiteX5" fmla="*/ 105277 w 175461"/>
                <a:gd name="connsiteY5" fmla="*/ 170197 h 170197"/>
                <a:gd name="connsiteX6" fmla="*/ 175461 w 175461"/>
                <a:gd name="connsiteY6" fmla="*/ 170197 h 170197"/>
                <a:gd name="connsiteX7" fmla="*/ 175461 w 175461"/>
                <a:gd name="connsiteY7" fmla="*/ 83344 h 170197"/>
                <a:gd name="connsiteX8" fmla="*/ 87731 w 175461"/>
                <a:gd name="connsiteY8" fmla="*/ 0 h 170197"/>
                <a:gd name="connsiteX9" fmla="*/ 0 w 175461"/>
                <a:gd name="connsiteY9" fmla="*/ 83344 h 170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461" h="170197">
                  <a:moveTo>
                    <a:pt x="0" y="83344"/>
                  </a:moveTo>
                  <a:lnTo>
                    <a:pt x="0" y="170197"/>
                  </a:lnTo>
                  <a:lnTo>
                    <a:pt x="70185" y="170197"/>
                  </a:lnTo>
                  <a:lnTo>
                    <a:pt x="70185" y="97089"/>
                  </a:lnTo>
                  <a:lnTo>
                    <a:pt x="105277" y="97089"/>
                  </a:lnTo>
                  <a:lnTo>
                    <a:pt x="105277" y="170197"/>
                  </a:lnTo>
                  <a:lnTo>
                    <a:pt x="175461" y="170197"/>
                  </a:lnTo>
                  <a:lnTo>
                    <a:pt x="175461" y="83344"/>
                  </a:lnTo>
                  <a:lnTo>
                    <a:pt x="87731" y="0"/>
                  </a:lnTo>
                  <a:lnTo>
                    <a:pt x="0" y="83344"/>
                  </a:lnTo>
                  <a:close/>
                </a:path>
              </a:pathLst>
            </a:custGeom>
            <a:solidFill>
              <a:srgbClr val="FFB602"/>
            </a:solidFill>
            <a:ln w="28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23232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079523" y="6366610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863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0185" y="273540"/>
            <a:ext cx="11322539" cy="7977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0185" y="1344856"/>
            <a:ext cx="11322539" cy="48321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EA0695-C886-B827-A297-A7C923937A3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56975" y="6642100"/>
            <a:ext cx="7969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Company Use</a:t>
            </a:r>
          </a:p>
        </p:txBody>
      </p:sp>
    </p:spTree>
    <p:extLst>
      <p:ext uri="{BB962C8B-B14F-4D97-AF65-F5344CB8AC3E}">
        <p14:creationId xmlns:p14="http://schemas.microsoft.com/office/powerpoint/2010/main" val="3184660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81" r:id="rId2"/>
    <p:sldLayoutId id="2147483682" r:id="rId3"/>
    <p:sldLayoutId id="2147483684" r:id="rId4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2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400041" indent="-400041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1" kern="1200">
          <a:solidFill>
            <a:schemeClr val="bg2"/>
          </a:solidFill>
          <a:latin typeface="Aptos" panose="020B0004020202020204" pitchFamily="34" charset="0"/>
          <a:ea typeface="+mn-ea"/>
          <a:cs typeface="+mn-cs"/>
        </a:defRPr>
      </a:lvl1pPr>
      <a:lvl2pPr marL="857229" indent="-400041" algn="l" defTabSz="914377" rtl="0" eaLnBrk="1" latinLnBrk="0" hangingPunct="1">
        <a:lnSpc>
          <a:spcPct val="90000"/>
        </a:lnSpc>
        <a:spcBef>
          <a:spcPts val="500"/>
        </a:spcBef>
        <a:buSzPct val="80000"/>
        <a:buFont typeface="Courier New" panose="02070309020205020404" pitchFamily="49" charset="0"/>
        <a:buChar char="o"/>
        <a:defRPr sz="3200" kern="1200">
          <a:solidFill>
            <a:schemeClr val="bg2"/>
          </a:solidFill>
          <a:latin typeface="Aptos" panose="020B0004020202020204" pitchFamily="34" charset="0"/>
          <a:ea typeface="+mn-ea"/>
          <a:cs typeface="+mn-cs"/>
        </a:defRPr>
      </a:lvl2pPr>
      <a:lvl3pPr marL="1142971" indent="-285744" algn="l" defTabSz="914377" rtl="0" eaLnBrk="1" latinLnBrk="0" hangingPunct="1">
        <a:lnSpc>
          <a:spcPct val="90000"/>
        </a:lnSpc>
        <a:spcBef>
          <a:spcPts val="500"/>
        </a:spcBef>
        <a:buFont typeface="Corbel" panose="020B0503020204020204" pitchFamily="34" charset="0"/>
        <a:buChar char="‐"/>
        <a:defRPr sz="2800" kern="1200">
          <a:solidFill>
            <a:schemeClr val="bg2"/>
          </a:solidFill>
          <a:latin typeface="Aptos" panose="020B0004020202020204" pitchFamily="34" charset="0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12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D9D933-6B92-37CB-9E07-21332391ABC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56975" y="6642100"/>
            <a:ext cx="7969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Company Use</a:t>
            </a:r>
          </a:p>
        </p:txBody>
      </p:sp>
    </p:spTree>
    <p:extLst>
      <p:ext uri="{BB962C8B-B14F-4D97-AF65-F5344CB8AC3E}">
        <p14:creationId xmlns:p14="http://schemas.microsoft.com/office/powerpoint/2010/main" val="2074990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</p:sldLayoutIdLst>
  <p:txStyles>
    <p:titleStyle>
      <a:lvl1pPr algn="l" defTabSz="342900" rtl="0" eaLnBrk="1" latinLnBrk="0" hangingPunct="1">
        <a:spcBef>
          <a:spcPct val="0"/>
        </a:spcBef>
        <a:buNone/>
        <a:defRPr sz="3600" b="1" kern="1200">
          <a:solidFill>
            <a:srgbClr val="857437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0185" y="273540"/>
            <a:ext cx="11322539" cy="7977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0185" y="1344856"/>
            <a:ext cx="11322539" cy="48321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901228-96D8-1D27-D607-F6382017066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56975" y="6642100"/>
            <a:ext cx="7969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Company Use</a:t>
            </a:r>
          </a:p>
        </p:txBody>
      </p:sp>
    </p:spTree>
    <p:extLst>
      <p:ext uri="{BB962C8B-B14F-4D97-AF65-F5344CB8AC3E}">
        <p14:creationId xmlns:p14="http://schemas.microsoft.com/office/powerpoint/2010/main" val="2552797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2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400041" indent="-400041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1" kern="1200">
          <a:solidFill>
            <a:schemeClr val="bg2"/>
          </a:solidFill>
          <a:latin typeface="Aptos" panose="020B0004020202020204" pitchFamily="34" charset="0"/>
          <a:ea typeface="+mn-ea"/>
          <a:cs typeface="+mn-cs"/>
        </a:defRPr>
      </a:lvl1pPr>
      <a:lvl2pPr marL="857229" indent="-400041" algn="l" defTabSz="914377" rtl="0" eaLnBrk="1" latinLnBrk="0" hangingPunct="1">
        <a:lnSpc>
          <a:spcPct val="90000"/>
        </a:lnSpc>
        <a:spcBef>
          <a:spcPts val="500"/>
        </a:spcBef>
        <a:buSzPct val="80000"/>
        <a:buFont typeface="Courier New" panose="02070309020205020404" pitchFamily="49" charset="0"/>
        <a:buChar char="o"/>
        <a:defRPr sz="3200" kern="1200">
          <a:solidFill>
            <a:schemeClr val="bg2"/>
          </a:solidFill>
          <a:latin typeface="Aptos" panose="020B0004020202020204" pitchFamily="34" charset="0"/>
          <a:ea typeface="+mn-ea"/>
          <a:cs typeface="+mn-cs"/>
        </a:defRPr>
      </a:lvl2pPr>
      <a:lvl3pPr marL="1142971" indent="-285744" algn="l" defTabSz="914377" rtl="0" eaLnBrk="1" latinLnBrk="0" hangingPunct="1">
        <a:lnSpc>
          <a:spcPct val="90000"/>
        </a:lnSpc>
        <a:spcBef>
          <a:spcPts val="500"/>
        </a:spcBef>
        <a:buFont typeface="Corbel" panose="020B0503020204020204" pitchFamily="34" charset="0"/>
        <a:buChar char="‐"/>
        <a:defRPr sz="2800" kern="1200">
          <a:solidFill>
            <a:schemeClr val="bg2"/>
          </a:solidFill>
          <a:latin typeface="Aptos" panose="020B0004020202020204" pitchFamily="34" charset="0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12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sharclab.ece.gatech.edu/" TargetMode="Externa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3">
            <a:extLst>
              <a:ext uri="{FF2B5EF4-FFF2-40B4-BE49-F238E27FC236}">
                <a16:creationId xmlns:a16="http://schemas.microsoft.com/office/drawing/2014/main" id="{1C0E152D-35C2-4F32-A32D-97EC02695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5776" y="893968"/>
            <a:ext cx="9227819" cy="26223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dirty="0">
                <a:solidFill>
                  <a:schemeClr val="tx1"/>
                </a:solidFill>
              </a:rPr>
              <a:t>Data Type and Quantization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6EDFFF0-6A6F-4CC4-8579-B1384C3526CF}"/>
              </a:ext>
            </a:extLst>
          </p:cNvPr>
          <p:cNvSpPr txBox="1">
            <a:spLocks/>
          </p:cNvSpPr>
          <p:nvPr/>
        </p:nvSpPr>
        <p:spPr>
          <a:xfrm>
            <a:off x="974757" y="4034418"/>
            <a:ext cx="10506075" cy="21678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 spc="0">
                <a:solidFill>
                  <a:schemeClr val="bg1"/>
                </a:solidFill>
                <a:latin typeface="Corbel" panose="020B0503020204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600" dirty="0">
                <a:solidFill>
                  <a:schemeClr val="tx1"/>
                </a:solidFill>
                <a:latin typeface="Aptos" panose="020B0004020202020204" pitchFamily="34" charset="0"/>
              </a:rPr>
              <a:t>Cong (Callie) Hao</a:t>
            </a:r>
          </a:p>
          <a:p>
            <a:pPr>
              <a:lnSpc>
                <a:spcPct val="100000"/>
              </a:lnSpc>
            </a:pPr>
            <a:r>
              <a:rPr lang="en-US" sz="2000" b="0" i="1" dirty="0">
                <a:solidFill>
                  <a:schemeClr val="tx1"/>
                </a:solidFill>
                <a:latin typeface="Aptos" panose="020B0004020202020204" pitchFamily="34" charset="0"/>
              </a:rPr>
              <a:t>callie.hao@ece.gatech.edu</a:t>
            </a:r>
          </a:p>
          <a:p>
            <a:pPr>
              <a:lnSpc>
                <a:spcPct val="100000"/>
              </a:lnSpc>
            </a:pPr>
            <a:endParaRPr lang="en-US" sz="2000" b="0" i="1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000" b="0" i="1" dirty="0">
                <a:solidFill>
                  <a:schemeClr val="tx1"/>
                </a:solidFill>
                <a:latin typeface="Aptos" panose="020B0004020202020204" pitchFamily="34" charset="0"/>
              </a:rPr>
              <a:t>Assistant Professor</a:t>
            </a:r>
          </a:p>
          <a:p>
            <a:pPr>
              <a:lnSpc>
                <a:spcPct val="100000"/>
              </a:lnSpc>
            </a:pPr>
            <a:r>
              <a:rPr lang="en-US" sz="2000" b="0" i="1" dirty="0">
                <a:solidFill>
                  <a:schemeClr val="tx1"/>
                </a:solidFill>
                <a:latin typeface="Aptos" panose="020B0004020202020204" pitchFamily="34" charset="0"/>
              </a:rPr>
              <a:t>ECE, Georgia Institute of Technology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30C7B1-AED8-4D62-8EAD-3DA9B749CA7E}"/>
              </a:ext>
            </a:extLst>
          </p:cNvPr>
          <p:cNvSpPr txBox="1"/>
          <p:nvPr/>
        </p:nvSpPr>
        <p:spPr>
          <a:xfrm>
            <a:off x="1731995" y="6026767"/>
            <a:ext cx="8991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/>
            <a:r>
              <a:rPr lang="en-US" sz="2000" i="1" dirty="0">
                <a:latin typeface="Aptos" panose="020B0004020202020204" pitchFamily="34" charset="0"/>
              </a:rPr>
              <a:t>Sharc-lab @ Georgia Tech </a:t>
            </a:r>
            <a:r>
              <a:rPr lang="en-US" sz="2000" i="1" dirty="0">
                <a:latin typeface="Aptos" panose="020B0004020202020204" pitchFamily="34" charset="0"/>
                <a:sym typeface="Wingdings" panose="05000000000000000000" pitchFamily="2" charset="2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https://sharclab.ece.gatech.edu/</a:t>
            </a:r>
            <a:endParaRPr lang="en-US" sz="2000" i="1" dirty="0">
              <a:latin typeface="Aptos" panose="020B0004020202020204" pitchFamily="34" charset="0"/>
              <a:sym typeface="Wingdings" panose="05000000000000000000" pitchFamily="2" charset="2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9BAFE04B-D743-4EE0-A84E-D7456AFC39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8350" y="5333151"/>
            <a:ext cx="1430519" cy="1158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1497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8FBE59-FA82-4F34-971D-B008874B7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0026403" cy="506015"/>
          </a:xfrm>
        </p:spPr>
        <p:txBody>
          <a:bodyPr/>
          <a:lstStyle/>
          <a:p>
            <a:r>
              <a:rPr lang="en-US" dirty="0"/>
              <a:t>Where does performance gain come from?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2CFFCE-4E89-4606-A456-FC69E2472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C2DDF1F-35A6-4929-ACCD-ACF1080AA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Hardware Design </a:t>
            </a:r>
            <a:r>
              <a:rPr lang="en-US" altLang="zh-CN" dirty="0"/>
              <a:t>with HLS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2385DC-8486-BB19-20BB-6849E71DAF5B}"/>
              </a:ext>
            </a:extLst>
          </p:cNvPr>
          <p:cNvSpPr txBox="1"/>
          <p:nvPr/>
        </p:nvSpPr>
        <p:spPr>
          <a:xfrm>
            <a:off x="1785158" y="2050372"/>
            <a:ext cx="2168992" cy="461665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Specialization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93CC87-6E10-822B-0F5C-692C7FF60C11}"/>
              </a:ext>
            </a:extLst>
          </p:cNvPr>
          <p:cNvSpPr txBox="1"/>
          <p:nvPr/>
        </p:nvSpPr>
        <p:spPr>
          <a:xfrm>
            <a:off x="7795767" y="2050372"/>
            <a:ext cx="2187074" cy="4616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Parallelization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01F04E-AC18-B9ED-69A0-62B7E9E9B59E}"/>
              </a:ext>
            </a:extLst>
          </p:cNvPr>
          <p:cNvSpPr txBox="1"/>
          <p:nvPr/>
        </p:nvSpPr>
        <p:spPr>
          <a:xfrm>
            <a:off x="765516" y="3004478"/>
            <a:ext cx="5330484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Data-type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Arbitrary fixed-point precision, customized floating-point precision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Memory and data movement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Customized data storage in banks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Customized data loading and feeding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Computation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How do you schedule the computations?</a:t>
            </a:r>
          </a:p>
          <a:p>
            <a:pPr marL="1257300" marR="0" lvl="2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Order, granularity, etc.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35858A-30BF-F09F-1380-1BD405336A7D}"/>
              </a:ext>
            </a:extLst>
          </p:cNvPr>
          <p:cNvSpPr txBox="1"/>
          <p:nvPr/>
        </p:nvSpPr>
        <p:spPr>
          <a:xfrm>
            <a:off x="6346022" y="3004478"/>
            <a:ext cx="5483296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Operation level parallelism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Multiple operations or instructions executed simultaneously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Mostly about loop manipulation and data partitioning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Task level parallelism (TLP)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Dataflow and streaming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Overlapped compute and data movement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pic>
        <p:nvPicPr>
          <p:cNvPr id="17" name="Graphic 16" descr="Badge Follow with solid fill">
            <a:extLst>
              <a:ext uri="{FF2B5EF4-FFF2-40B4-BE49-F238E27FC236}">
                <a16:creationId xmlns:a16="http://schemas.microsoft.com/office/drawing/2014/main" id="{FAEB518F-14AF-4A3C-196A-AD425BDB8A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4216" y="1824004"/>
            <a:ext cx="914400" cy="9144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C2BC5E8-246E-8F06-B956-C39CED766CE2}"/>
              </a:ext>
            </a:extLst>
          </p:cNvPr>
          <p:cNvSpPr/>
          <p:nvPr/>
        </p:nvSpPr>
        <p:spPr>
          <a:xfrm>
            <a:off x="6346021" y="3004477"/>
            <a:ext cx="5276859" cy="1629143"/>
          </a:xfrm>
          <a:custGeom>
            <a:avLst/>
            <a:gdLst>
              <a:gd name="csX0" fmla="*/ 0 w 5276859"/>
              <a:gd name="csY0" fmla="*/ 0 h 1629143"/>
              <a:gd name="csX1" fmla="*/ 639086 w 5276859"/>
              <a:gd name="csY1" fmla="*/ 0 h 1629143"/>
              <a:gd name="csX2" fmla="*/ 1278173 w 5276859"/>
              <a:gd name="csY2" fmla="*/ 0 h 1629143"/>
              <a:gd name="csX3" fmla="*/ 1706184 w 5276859"/>
              <a:gd name="csY3" fmla="*/ 0 h 1629143"/>
              <a:gd name="csX4" fmla="*/ 2345271 w 5276859"/>
              <a:gd name="csY4" fmla="*/ 0 h 1629143"/>
              <a:gd name="csX5" fmla="*/ 2984357 w 5276859"/>
              <a:gd name="csY5" fmla="*/ 0 h 1629143"/>
              <a:gd name="csX6" fmla="*/ 3623443 w 5276859"/>
              <a:gd name="csY6" fmla="*/ 0 h 1629143"/>
              <a:gd name="csX7" fmla="*/ 4104224 w 5276859"/>
              <a:gd name="csY7" fmla="*/ 0 h 1629143"/>
              <a:gd name="csX8" fmla="*/ 4743310 w 5276859"/>
              <a:gd name="csY8" fmla="*/ 0 h 1629143"/>
              <a:gd name="csX9" fmla="*/ 5276859 w 5276859"/>
              <a:gd name="csY9" fmla="*/ 0 h 1629143"/>
              <a:gd name="csX10" fmla="*/ 5276859 w 5276859"/>
              <a:gd name="csY10" fmla="*/ 526756 h 1629143"/>
              <a:gd name="csX11" fmla="*/ 5276859 w 5276859"/>
              <a:gd name="csY11" fmla="*/ 1053512 h 1629143"/>
              <a:gd name="csX12" fmla="*/ 5276859 w 5276859"/>
              <a:gd name="csY12" fmla="*/ 1629143 h 1629143"/>
              <a:gd name="csX13" fmla="*/ 4796079 w 5276859"/>
              <a:gd name="csY13" fmla="*/ 1629143 h 1629143"/>
              <a:gd name="csX14" fmla="*/ 4104224 w 5276859"/>
              <a:gd name="csY14" fmla="*/ 1629143 h 1629143"/>
              <a:gd name="csX15" fmla="*/ 3412369 w 5276859"/>
              <a:gd name="csY15" fmla="*/ 1629143 h 1629143"/>
              <a:gd name="csX16" fmla="*/ 2984357 w 5276859"/>
              <a:gd name="csY16" fmla="*/ 1629143 h 1629143"/>
              <a:gd name="csX17" fmla="*/ 2503576 w 5276859"/>
              <a:gd name="csY17" fmla="*/ 1629143 h 1629143"/>
              <a:gd name="csX18" fmla="*/ 1864490 w 5276859"/>
              <a:gd name="csY18" fmla="*/ 1629143 h 1629143"/>
              <a:gd name="csX19" fmla="*/ 1225404 w 5276859"/>
              <a:gd name="csY19" fmla="*/ 1629143 h 1629143"/>
              <a:gd name="csX20" fmla="*/ 797392 w 5276859"/>
              <a:gd name="csY20" fmla="*/ 1629143 h 1629143"/>
              <a:gd name="csX21" fmla="*/ 0 w 5276859"/>
              <a:gd name="csY21" fmla="*/ 1629143 h 1629143"/>
              <a:gd name="csX22" fmla="*/ 0 w 5276859"/>
              <a:gd name="csY22" fmla="*/ 1053512 h 1629143"/>
              <a:gd name="csX23" fmla="*/ 0 w 5276859"/>
              <a:gd name="csY23" fmla="*/ 494173 h 1629143"/>
              <a:gd name="csX24" fmla="*/ 0 w 5276859"/>
              <a:gd name="csY24" fmla="*/ 0 h 16291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5276859" h="1629143" extrusionOk="0">
                <a:moveTo>
                  <a:pt x="0" y="0"/>
                </a:moveTo>
                <a:cubicBezTo>
                  <a:pt x="285188" y="-36529"/>
                  <a:pt x="441596" y="4313"/>
                  <a:pt x="639086" y="0"/>
                </a:cubicBezTo>
                <a:cubicBezTo>
                  <a:pt x="836576" y="-4313"/>
                  <a:pt x="1072583" y="11942"/>
                  <a:pt x="1278173" y="0"/>
                </a:cubicBezTo>
                <a:cubicBezTo>
                  <a:pt x="1483763" y="-11942"/>
                  <a:pt x="1593048" y="11789"/>
                  <a:pt x="1706184" y="0"/>
                </a:cubicBezTo>
                <a:cubicBezTo>
                  <a:pt x="1819320" y="-11789"/>
                  <a:pt x="2081206" y="74295"/>
                  <a:pt x="2345271" y="0"/>
                </a:cubicBezTo>
                <a:cubicBezTo>
                  <a:pt x="2609336" y="-74295"/>
                  <a:pt x="2793826" y="73496"/>
                  <a:pt x="2984357" y="0"/>
                </a:cubicBezTo>
                <a:cubicBezTo>
                  <a:pt x="3174888" y="-73496"/>
                  <a:pt x="3453975" y="27118"/>
                  <a:pt x="3623443" y="0"/>
                </a:cubicBezTo>
                <a:cubicBezTo>
                  <a:pt x="3792911" y="-27118"/>
                  <a:pt x="3975503" y="43984"/>
                  <a:pt x="4104224" y="0"/>
                </a:cubicBezTo>
                <a:cubicBezTo>
                  <a:pt x="4232945" y="-43984"/>
                  <a:pt x="4454580" y="14478"/>
                  <a:pt x="4743310" y="0"/>
                </a:cubicBezTo>
                <a:cubicBezTo>
                  <a:pt x="5032040" y="-14478"/>
                  <a:pt x="5109873" y="4696"/>
                  <a:pt x="5276859" y="0"/>
                </a:cubicBezTo>
                <a:cubicBezTo>
                  <a:pt x="5299136" y="244299"/>
                  <a:pt x="5218879" y="286944"/>
                  <a:pt x="5276859" y="526756"/>
                </a:cubicBezTo>
                <a:cubicBezTo>
                  <a:pt x="5334839" y="766568"/>
                  <a:pt x="5216173" y="866987"/>
                  <a:pt x="5276859" y="1053512"/>
                </a:cubicBezTo>
                <a:cubicBezTo>
                  <a:pt x="5337545" y="1240037"/>
                  <a:pt x="5232051" y="1507858"/>
                  <a:pt x="5276859" y="1629143"/>
                </a:cubicBezTo>
                <a:cubicBezTo>
                  <a:pt x="5068321" y="1657161"/>
                  <a:pt x="4995408" y="1602431"/>
                  <a:pt x="4796079" y="1629143"/>
                </a:cubicBezTo>
                <a:cubicBezTo>
                  <a:pt x="4596750" y="1655855"/>
                  <a:pt x="4342977" y="1594913"/>
                  <a:pt x="4104224" y="1629143"/>
                </a:cubicBezTo>
                <a:cubicBezTo>
                  <a:pt x="3865472" y="1663373"/>
                  <a:pt x="3718089" y="1590492"/>
                  <a:pt x="3412369" y="1629143"/>
                </a:cubicBezTo>
                <a:cubicBezTo>
                  <a:pt x="3106649" y="1667794"/>
                  <a:pt x="3123704" y="1606829"/>
                  <a:pt x="2984357" y="1629143"/>
                </a:cubicBezTo>
                <a:cubicBezTo>
                  <a:pt x="2845010" y="1651457"/>
                  <a:pt x="2610525" y="1579953"/>
                  <a:pt x="2503576" y="1629143"/>
                </a:cubicBezTo>
                <a:cubicBezTo>
                  <a:pt x="2396627" y="1678333"/>
                  <a:pt x="2002227" y="1577933"/>
                  <a:pt x="1864490" y="1629143"/>
                </a:cubicBezTo>
                <a:cubicBezTo>
                  <a:pt x="1726753" y="1680353"/>
                  <a:pt x="1372014" y="1594676"/>
                  <a:pt x="1225404" y="1629143"/>
                </a:cubicBezTo>
                <a:cubicBezTo>
                  <a:pt x="1078794" y="1663610"/>
                  <a:pt x="965609" y="1600143"/>
                  <a:pt x="797392" y="1629143"/>
                </a:cubicBezTo>
                <a:cubicBezTo>
                  <a:pt x="629175" y="1658143"/>
                  <a:pt x="235737" y="1614270"/>
                  <a:pt x="0" y="1629143"/>
                </a:cubicBezTo>
                <a:cubicBezTo>
                  <a:pt x="-24966" y="1413229"/>
                  <a:pt x="54536" y="1181419"/>
                  <a:pt x="0" y="1053512"/>
                </a:cubicBezTo>
                <a:cubicBezTo>
                  <a:pt x="-54536" y="925605"/>
                  <a:pt x="67052" y="724538"/>
                  <a:pt x="0" y="494173"/>
                </a:cubicBezTo>
                <a:cubicBezTo>
                  <a:pt x="-67052" y="263808"/>
                  <a:pt x="2425" y="237588"/>
                  <a:pt x="0" y="0"/>
                </a:cubicBezTo>
                <a:close/>
              </a:path>
            </a:pathLst>
          </a:custGeom>
          <a:noFill/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92104945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Graphic 7" descr="Badge Tick1 with solid fill">
            <a:extLst>
              <a:ext uri="{FF2B5EF4-FFF2-40B4-BE49-F238E27FC236}">
                <a16:creationId xmlns:a16="http://schemas.microsoft.com/office/drawing/2014/main" id="{3E9CB576-DF46-F582-86F5-7FEC5BC588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93728" y="2999848"/>
            <a:ext cx="429152" cy="42915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177008A-7AF0-174F-65C9-5F6364F8AE75}"/>
              </a:ext>
            </a:extLst>
          </p:cNvPr>
          <p:cNvSpPr/>
          <p:nvPr/>
        </p:nvSpPr>
        <p:spPr>
          <a:xfrm>
            <a:off x="765515" y="4014669"/>
            <a:ext cx="5276859" cy="1000935"/>
          </a:xfrm>
          <a:custGeom>
            <a:avLst/>
            <a:gdLst>
              <a:gd name="csX0" fmla="*/ 0 w 5276859"/>
              <a:gd name="csY0" fmla="*/ 0 h 1000935"/>
              <a:gd name="csX1" fmla="*/ 639086 w 5276859"/>
              <a:gd name="csY1" fmla="*/ 0 h 1000935"/>
              <a:gd name="csX2" fmla="*/ 1278173 w 5276859"/>
              <a:gd name="csY2" fmla="*/ 0 h 1000935"/>
              <a:gd name="csX3" fmla="*/ 1706184 w 5276859"/>
              <a:gd name="csY3" fmla="*/ 0 h 1000935"/>
              <a:gd name="csX4" fmla="*/ 2345271 w 5276859"/>
              <a:gd name="csY4" fmla="*/ 0 h 1000935"/>
              <a:gd name="csX5" fmla="*/ 2984357 w 5276859"/>
              <a:gd name="csY5" fmla="*/ 0 h 1000935"/>
              <a:gd name="csX6" fmla="*/ 3623443 w 5276859"/>
              <a:gd name="csY6" fmla="*/ 0 h 1000935"/>
              <a:gd name="csX7" fmla="*/ 4104224 w 5276859"/>
              <a:gd name="csY7" fmla="*/ 0 h 1000935"/>
              <a:gd name="csX8" fmla="*/ 4743310 w 5276859"/>
              <a:gd name="csY8" fmla="*/ 0 h 1000935"/>
              <a:gd name="csX9" fmla="*/ 5276859 w 5276859"/>
              <a:gd name="csY9" fmla="*/ 0 h 1000935"/>
              <a:gd name="csX10" fmla="*/ 5276859 w 5276859"/>
              <a:gd name="csY10" fmla="*/ 490458 h 1000935"/>
              <a:gd name="csX11" fmla="*/ 5276859 w 5276859"/>
              <a:gd name="csY11" fmla="*/ 1000935 h 1000935"/>
              <a:gd name="csX12" fmla="*/ 4637773 w 5276859"/>
              <a:gd name="csY12" fmla="*/ 1000935 h 1000935"/>
              <a:gd name="csX13" fmla="*/ 4209761 w 5276859"/>
              <a:gd name="csY13" fmla="*/ 1000935 h 1000935"/>
              <a:gd name="csX14" fmla="*/ 3517906 w 5276859"/>
              <a:gd name="csY14" fmla="*/ 1000935 h 1000935"/>
              <a:gd name="csX15" fmla="*/ 2826051 w 5276859"/>
              <a:gd name="csY15" fmla="*/ 1000935 h 1000935"/>
              <a:gd name="csX16" fmla="*/ 2398039 w 5276859"/>
              <a:gd name="csY16" fmla="*/ 1000935 h 1000935"/>
              <a:gd name="csX17" fmla="*/ 1917259 w 5276859"/>
              <a:gd name="csY17" fmla="*/ 1000935 h 1000935"/>
              <a:gd name="csX18" fmla="*/ 1278173 w 5276859"/>
              <a:gd name="csY18" fmla="*/ 1000935 h 1000935"/>
              <a:gd name="csX19" fmla="*/ 639086 w 5276859"/>
              <a:gd name="csY19" fmla="*/ 1000935 h 1000935"/>
              <a:gd name="csX20" fmla="*/ 0 w 5276859"/>
              <a:gd name="csY20" fmla="*/ 1000935 h 1000935"/>
              <a:gd name="csX21" fmla="*/ 0 w 5276859"/>
              <a:gd name="csY21" fmla="*/ 480449 h 1000935"/>
              <a:gd name="csX22" fmla="*/ 0 w 5276859"/>
              <a:gd name="csY22" fmla="*/ 0 h 10009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5276859" h="1000935" extrusionOk="0">
                <a:moveTo>
                  <a:pt x="0" y="0"/>
                </a:moveTo>
                <a:cubicBezTo>
                  <a:pt x="285188" y="-36529"/>
                  <a:pt x="441596" y="4313"/>
                  <a:pt x="639086" y="0"/>
                </a:cubicBezTo>
                <a:cubicBezTo>
                  <a:pt x="836576" y="-4313"/>
                  <a:pt x="1072583" y="11942"/>
                  <a:pt x="1278173" y="0"/>
                </a:cubicBezTo>
                <a:cubicBezTo>
                  <a:pt x="1483763" y="-11942"/>
                  <a:pt x="1593048" y="11789"/>
                  <a:pt x="1706184" y="0"/>
                </a:cubicBezTo>
                <a:cubicBezTo>
                  <a:pt x="1819320" y="-11789"/>
                  <a:pt x="2081206" y="74295"/>
                  <a:pt x="2345271" y="0"/>
                </a:cubicBezTo>
                <a:cubicBezTo>
                  <a:pt x="2609336" y="-74295"/>
                  <a:pt x="2793826" y="73496"/>
                  <a:pt x="2984357" y="0"/>
                </a:cubicBezTo>
                <a:cubicBezTo>
                  <a:pt x="3174888" y="-73496"/>
                  <a:pt x="3453975" y="27118"/>
                  <a:pt x="3623443" y="0"/>
                </a:cubicBezTo>
                <a:cubicBezTo>
                  <a:pt x="3792911" y="-27118"/>
                  <a:pt x="3975503" y="43984"/>
                  <a:pt x="4104224" y="0"/>
                </a:cubicBezTo>
                <a:cubicBezTo>
                  <a:pt x="4232945" y="-43984"/>
                  <a:pt x="4454580" y="14478"/>
                  <a:pt x="4743310" y="0"/>
                </a:cubicBezTo>
                <a:cubicBezTo>
                  <a:pt x="5032040" y="-14478"/>
                  <a:pt x="5109873" y="4696"/>
                  <a:pt x="5276859" y="0"/>
                </a:cubicBezTo>
                <a:cubicBezTo>
                  <a:pt x="5280724" y="178334"/>
                  <a:pt x="5235933" y="392235"/>
                  <a:pt x="5276859" y="490458"/>
                </a:cubicBezTo>
                <a:cubicBezTo>
                  <a:pt x="5317785" y="588681"/>
                  <a:pt x="5242923" y="845866"/>
                  <a:pt x="5276859" y="1000935"/>
                </a:cubicBezTo>
                <a:cubicBezTo>
                  <a:pt x="5082621" y="1017557"/>
                  <a:pt x="4849082" y="941593"/>
                  <a:pt x="4637773" y="1000935"/>
                </a:cubicBezTo>
                <a:cubicBezTo>
                  <a:pt x="4426464" y="1060277"/>
                  <a:pt x="4375401" y="973197"/>
                  <a:pt x="4209761" y="1000935"/>
                </a:cubicBezTo>
                <a:cubicBezTo>
                  <a:pt x="4044121" y="1028673"/>
                  <a:pt x="3756659" y="966705"/>
                  <a:pt x="3517906" y="1000935"/>
                </a:cubicBezTo>
                <a:cubicBezTo>
                  <a:pt x="3279154" y="1035165"/>
                  <a:pt x="3131771" y="962284"/>
                  <a:pt x="2826051" y="1000935"/>
                </a:cubicBezTo>
                <a:cubicBezTo>
                  <a:pt x="2520331" y="1039586"/>
                  <a:pt x="2537386" y="978621"/>
                  <a:pt x="2398039" y="1000935"/>
                </a:cubicBezTo>
                <a:cubicBezTo>
                  <a:pt x="2258692" y="1023249"/>
                  <a:pt x="2016233" y="951460"/>
                  <a:pt x="1917259" y="1000935"/>
                </a:cubicBezTo>
                <a:cubicBezTo>
                  <a:pt x="1818285" y="1050410"/>
                  <a:pt x="1415910" y="949725"/>
                  <a:pt x="1278173" y="1000935"/>
                </a:cubicBezTo>
                <a:cubicBezTo>
                  <a:pt x="1140436" y="1052145"/>
                  <a:pt x="790402" y="971457"/>
                  <a:pt x="639086" y="1000935"/>
                </a:cubicBezTo>
                <a:cubicBezTo>
                  <a:pt x="487770" y="1030413"/>
                  <a:pt x="210082" y="937832"/>
                  <a:pt x="0" y="1000935"/>
                </a:cubicBezTo>
                <a:cubicBezTo>
                  <a:pt x="-7639" y="851566"/>
                  <a:pt x="34434" y="598650"/>
                  <a:pt x="0" y="480449"/>
                </a:cubicBezTo>
                <a:cubicBezTo>
                  <a:pt x="-34434" y="362248"/>
                  <a:pt x="38566" y="101151"/>
                  <a:pt x="0" y="0"/>
                </a:cubicBezTo>
                <a:close/>
              </a:path>
            </a:pathLst>
          </a:custGeom>
          <a:noFill/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92104945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Graphic 8" descr="Badge Tick1 with solid fill">
            <a:extLst>
              <a:ext uri="{FF2B5EF4-FFF2-40B4-BE49-F238E27FC236}">
                <a16:creationId xmlns:a16="http://schemas.microsoft.com/office/drawing/2014/main" id="{160A83A0-697A-2CD9-5D22-7026DE3CD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13222" y="4010040"/>
            <a:ext cx="429152" cy="42915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FB0A168-E82A-5BC1-E986-DB5264A12087}"/>
              </a:ext>
            </a:extLst>
          </p:cNvPr>
          <p:cNvSpPr/>
          <p:nvPr/>
        </p:nvSpPr>
        <p:spPr>
          <a:xfrm>
            <a:off x="765515" y="3004477"/>
            <a:ext cx="5028066" cy="1005565"/>
          </a:xfrm>
          <a:custGeom>
            <a:avLst/>
            <a:gdLst>
              <a:gd name="csX0" fmla="*/ 0 w 5028066"/>
              <a:gd name="csY0" fmla="*/ 0 h 1005565"/>
              <a:gd name="csX1" fmla="*/ 608955 w 5028066"/>
              <a:gd name="csY1" fmla="*/ 0 h 1005565"/>
              <a:gd name="csX2" fmla="*/ 1217909 w 5028066"/>
              <a:gd name="csY2" fmla="*/ 0 h 1005565"/>
              <a:gd name="csX3" fmla="*/ 1625741 w 5028066"/>
              <a:gd name="csY3" fmla="*/ 0 h 1005565"/>
              <a:gd name="csX4" fmla="*/ 2234696 w 5028066"/>
              <a:gd name="csY4" fmla="*/ 0 h 1005565"/>
              <a:gd name="csX5" fmla="*/ 2843651 w 5028066"/>
              <a:gd name="csY5" fmla="*/ 0 h 1005565"/>
              <a:gd name="csX6" fmla="*/ 3452605 w 5028066"/>
              <a:gd name="csY6" fmla="*/ 0 h 1005565"/>
              <a:gd name="csX7" fmla="*/ 3910718 w 5028066"/>
              <a:gd name="csY7" fmla="*/ 0 h 1005565"/>
              <a:gd name="csX8" fmla="*/ 4519673 w 5028066"/>
              <a:gd name="csY8" fmla="*/ 0 h 1005565"/>
              <a:gd name="csX9" fmla="*/ 5028066 w 5028066"/>
              <a:gd name="csY9" fmla="*/ 0 h 1005565"/>
              <a:gd name="csX10" fmla="*/ 5028066 w 5028066"/>
              <a:gd name="csY10" fmla="*/ 492727 h 1005565"/>
              <a:gd name="csX11" fmla="*/ 5028066 w 5028066"/>
              <a:gd name="csY11" fmla="*/ 1005565 h 1005565"/>
              <a:gd name="csX12" fmla="*/ 4419111 w 5028066"/>
              <a:gd name="csY12" fmla="*/ 1005565 h 1005565"/>
              <a:gd name="csX13" fmla="*/ 4011279 w 5028066"/>
              <a:gd name="csY13" fmla="*/ 1005565 h 1005565"/>
              <a:gd name="csX14" fmla="*/ 3352044 w 5028066"/>
              <a:gd name="csY14" fmla="*/ 1005565 h 1005565"/>
              <a:gd name="csX15" fmla="*/ 2692809 w 5028066"/>
              <a:gd name="csY15" fmla="*/ 1005565 h 1005565"/>
              <a:gd name="csX16" fmla="*/ 2284977 w 5028066"/>
              <a:gd name="csY16" fmla="*/ 1005565 h 1005565"/>
              <a:gd name="csX17" fmla="*/ 1826864 w 5028066"/>
              <a:gd name="csY17" fmla="*/ 1005565 h 1005565"/>
              <a:gd name="csX18" fmla="*/ 1217909 w 5028066"/>
              <a:gd name="csY18" fmla="*/ 1005565 h 1005565"/>
              <a:gd name="csX19" fmla="*/ 608955 w 5028066"/>
              <a:gd name="csY19" fmla="*/ 1005565 h 1005565"/>
              <a:gd name="csX20" fmla="*/ 0 w 5028066"/>
              <a:gd name="csY20" fmla="*/ 1005565 h 1005565"/>
              <a:gd name="csX21" fmla="*/ 0 w 5028066"/>
              <a:gd name="csY21" fmla="*/ 482671 h 1005565"/>
              <a:gd name="csX22" fmla="*/ 0 w 5028066"/>
              <a:gd name="csY22" fmla="*/ 0 h 10055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5028066" h="1005565" extrusionOk="0">
                <a:moveTo>
                  <a:pt x="0" y="0"/>
                </a:moveTo>
                <a:cubicBezTo>
                  <a:pt x="294155" y="-17429"/>
                  <a:pt x="384258" y="43086"/>
                  <a:pt x="608955" y="0"/>
                </a:cubicBezTo>
                <a:cubicBezTo>
                  <a:pt x="833652" y="-43086"/>
                  <a:pt x="1092588" y="13189"/>
                  <a:pt x="1217909" y="0"/>
                </a:cubicBezTo>
                <a:cubicBezTo>
                  <a:pt x="1343230" y="-13189"/>
                  <a:pt x="1489855" y="41842"/>
                  <a:pt x="1625741" y="0"/>
                </a:cubicBezTo>
                <a:cubicBezTo>
                  <a:pt x="1761627" y="-41842"/>
                  <a:pt x="1975338" y="71546"/>
                  <a:pt x="2234696" y="0"/>
                </a:cubicBezTo>
                <a:cubicBezTo>
                  <a:pt x="2494055" y="-71546"/>
                  <a:pt x="2663877" y="64968"/>
                  <a:pt x="2843651" y="0"/>
                </a:cubicBezTo>
                <a:cubicBezTo>
                  <a:pt x="3023425" y="-64968"/>
                  <a:pt x="3260398" y="66516"/>
                  <a:pt x="3452605" y="0"/>
                </a:cubicBezTo>
                <a:cubicBezTo>
                  <a:pt x="3644812" y="-66516"/>
                  <a:pt x="3770543" y="22345"/>
                  <a:pt x="3910718" y="0"/>
                </a:cubicBezTo>
                <a:cubicBezTo>
                  <a:pt x="4050893" y="-22345"/>
                  <a:pt x="4265417" y="44513"/>
                  <a:pt x="4519673" y="0"/>
                </a:cubicBezTo>
                <a:cubicBezTo>
                  <a:pt x="4773930" y="-44513"/>
                  <a:pt x="4876196" y="54373"/>
                  <a:pt x="5028066" y="0"/>
                </a:cubicBezTo>
                <a:cubicBezTo>
                  <a:pt x="5068056" y="148189"/>
                  <a:pt x="5015433" y="254330"/>
                  <a:pt x="5028066" y="492727"/>
                </a:cubicBezTo>
                <a:cubicBezTo>
                  <a:pt x="5040699" y="731124"/>
                  <a:pt x="5012559" y="819877"/>
                  <a:pt x="5028066" y="1005565"/>
                </a:cubicBezTo>
                <a:cubicBezTo>
                  <a:pt x="4902536" y="1024399"/>
                  <a:pt x="4617676" y="984483"/>
                  <a:pt x="4419111" y="1005565"/>
                </a:cubicBezTo>
                <a:cubicBezTo>
                  <a:pt x="4220546" y="1026647"/>
                  <a:pt x="4195085" y="988017"/>
                  <a:pt x="4011279" y="1005565"/>
                </a:cubicBezTo>
                <a:cubicBezTo>
                  <a:pt x="3827473" y="1023113"/>
                  <a:pt x="3484317" y="996039"/>
                  <a:pt x="3352044" y="1005565"/>
                </a:cubicBezTo>
                <a:cubicBezTo>
                  <a:pt x="3219771" y="1015091"/>
                  <a:pt x="2927431" y="961071"/>
                  <a:pt x="2692809" y="1005565"/>
                </a:cubicBezTo>
                <a:cubicBezTo>
                  <a:pt x="2458187" y="1050059"/>
                  <a:pt x="2411854" y="963899"/>
                  <a:pt x="2284977" y="1005565"/>
                </a:cubicBezTo>
                <a:cubicBezTo>
                  <a:pt x="2158100" y="1047231"/>
                  <a:pt x="2025375" y="985596"/>
                  <a:pt x="1826864" y="1005565"/>
                </a:cubicBezTo>
                <a:cubicBezTo>
                  <a:pt x="1628353" y="1025534"/>
                  <a:pt x="1501663" y="959270"/>
                  <a:pt x="1217909" y="1005565"/>
                </a:cubicBezTo>
                <a:cubicBezTo>
                  <a:pt x="934156" y="1051860"/>
                  <a:pt x="911367" y="945908"/>
                  <a:pt x="608955" y="1005565"/>
                </a:cubicBezTo>
                <a:cubicBezTo>
                  <a:pt x="306543" y="1065222"/>
                  <a:pt x="124613" y="965017"/>
                  <a:pt x="0" y="1005565"/>
                </a:cubicBezTo>
                <a:cubicBezTo>
                  <a:pt x="-43875" y="832019"/>
                  <a:pt x="52136" y="638841"/>
                  <a:pt x="0" y="482671"/>
                </a:cubicBezTo>
                <a:cubicBezTo>
                  <a:pt x="-52136" y="326501"/>
                  <a:pt x="36843" y="236905"/>
                  <a:pt x="0" y="0"/>
                </a:cubicBezTo>
                <a:close/>
              </a:path>
            </a:pathLst>
          </a:custGeom>
          <a:noFill/>
          <a:ln w="57150">
            <a:solidFill>
              <a:schemeClr val="accent6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192104945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8422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093A71-1586-641E-0D28-6DC10B9E76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Type = Architecture Decision</a:t>
            </a:r>
          </a:p>
          <a:p>
            <a:endParaRPr lang="en-US" dirty="0"/>
          </a:p>
          <a:p>
            <a:r>
              <a:rPr lang="en-US" dirty="0"/>
              <a:t>Data type determines:</a:t>
            </a:r>
          </a:p>
          <a:p>
            <a:pPr lvl="1"/>
            <a:r>
              <a:rPr lang="en-US" dirty="0"/>
              <a:t>DSP usage</a:t>
            </a:r>
          </a:p>
          <a:p>
            <a:pPr lvl="1"/>
            <a:r>
              <a:rPr lang="en-US" dirty="0"/>
              <a:t>BRAM / URAM capacity</a:t>
            </a:r>
          </a:p>
          <a:p>
            <a:pPr lvl="1"/>
            <a:r>
              <a:rPr lang="en-US" dirty="0"/>
              <a:t>Memory bandwidth</a:t>
            </a:r>
          </a:p>
          <a:p>
            <a:pPr lvl="1"/>
            <a:r>
              <a:rPr lang="en-US" dirty="0"/>
              <a:t>Pipeline depth &amp; II</a:t>
            </a:r>
          </a:p>
          <a:p>
            <a:pPr lvl="1"/>
            <a:endParaRPr lang="en-US" dirty="0"/>
          </a:p>
          <a:p>
            <a:r>
              <a:rPr lang="en-US" dirty="0"/>
              <a:t>On FPGA:</a:t>
            </a:r>
          </a:p>
          <a:p>
            <a:pPr lvl="1"/>
            <a:r>
              <a:rPr lang="en-US" dirty="0"/>
              <a:t>Saving </a:t>
            </a:r>
            <a:r>
              <a:rPr lang="en-US" b="1" dirty="0"/>
              <a:t>1 bit</a:t>
            </a:r>
            <a:r>
              <a:rPr lang="en-US" dirty="0"/>
              <a:t> can save </a:t>
            </a:r>
            <a:r>
              <a:rPr lang="en-US" b="1" dirty="0"/>
              <a:t>DSPs, buffers, </a:t>
            </a:r>
            <a:r>
              <a:rPr lang="en-US" dirty="0"/>
              <a:t>and </a:t>
            </a:r>
            <a:r>
              <a:rPr lang="en-US" b="1" dirty="0"/>
              <a:t>routing</a:t>
            </a:r>
          </a:p>
          <a:p>
            <a:pPr lvl="1"/>
            <a:endParaRPr lang="en-US" dirty="0"/>
          </a:p>
          <a:p>
            <a:r>
              <a:rPr lang="en-US" dirty="0"/>
              <a:t>Many 10×–100× speedups come from:</a:t>
            </a:r>
          </a:p>
          <a:p>
            <a:pPr lvl="1"/>
            <a:r>
              <a:rPr lang="en-US" b="1" dirty="0"/>
              <a:t>Data-type specialization</a:t>
            </a:r>
            <a:r>
              <a:rPr lang="en-US" dirty="0"/>
              <a:t>, not algorithm changes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69948C-A218-CDDB-2932-6D30EF86A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1B587E-F715-8565-4A7E-EABDA167E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Datatype Matters</a:t>
            </a:r>
          </a:p>
        </p:txBody>
      </p:sp>
    </p:spTree>
    <p:extLst>
      <p:ext uri="{BB962C8B-B14F-4D97-AF65-F5344CB8AC3E}">
        <p14:creationId xmlns:p14="http://schemas.microsoft.com/office/powerpoint/2010/main" val="3393493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C843E4-E4F5-4C3F-86F2-AA806F203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dirty="0"/>
              <a:t>Floating-point and fixed-point representations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Data quantization in Machine Learning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819D5A-1868-4E0F-BF6E-7129C5464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B486C48-B3C5-418A-B823-206BFA71A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1502349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A61920-55FD-4FCA-B73F-551CF7931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EE8270F-2726-4466-9AD2-30D81B1B5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Binary Number Representation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6C86EBB2-5EE1-44A3-9B07-5ACE78597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6710" y="1339368"/>
            <a:ext cx="4032151" cy="10943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chemeClr val="accent1"/>
                </a:solidFill>
              </a:rPr>
              <a:t>Unsigned number</a:t>
            </a:r>
          </a:p>
          <a:p>
            <a:r>
              <a:rPr lang="en-US" sz="2800" dirty="0"/>
              <a:t>MSB has weight </a:t>
            </a:r>
            <a:r>
              <a:rPr lang="en-US" sz="2800" dirty="0">
                <a:solidFill>
                  <a:schemeClr val="accent1"/>
                </a:solidFill>
              </a:rPr>
              <a:t>2</a:t>
            </a:r>
            <a:r>
              <a:rPr lang="en-US" sz="2800" baseline="30000" dirty="0">
                <a:solidFill>
                  <a:schemeClr val="accent1"/>
                </a:solidFill>
              </a:rPr>
              <a:t>n-1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15B0A0-14F6-4F92-B298-58D30E22A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667" y="2431369"/>
            <a:ext cx="9818957" cy="3776150"/>
          </a:xfrm>
          <a:prstGeom prst="rect">
            <a:avLst/>
          </a:prstGeom>
        </p:spPr>
      </p:pic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FCFCC57E-6E2D-447A-9CA5-FBC29D91C478}"/>
              </a:ext>
            </a:extLst>
          </p:cNvPr>
          <p:cNvSpPr txBox="1">
            <a:spLocks/>
          </p:cNvSpPr>
          <p:nvPr/>
        </p:nvSpPr>
        <p:spPr>
          <a:xfrm>
            <a:off x="7085430" y="1337025"/>
            <a:ext cx="4032151" cy="10943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00041" indent="-400041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857229" indent="-400041" algn="l" defTabSz="914377" rtl="0" eaLnBrk="1" latinLnBrk="0" hangingPunct="1">
              <a:lnSpc>
                <a:spcPct val="100000"/>
              </a:lnSpc>
              <a:spcBef>
                <a:spcPts val="0"/>
              </a:spcBef>
              <a:buSzPct val="80000"/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2971" indent="-28574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Corbel" panose="020B0503020204020204" pitchFamily="34" charset="0"/>
              <a:buChar char="‐"/>
              <a:defRPr sz="18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3200" dirty="0">
                <a:solidFill>
                  <a:schemeClr val="accent4">
                    <a:lumMod val="75000"/>
                  </a:schemeClr>
                </a:solidFill>
                <a:latin typeface="Aptos" panose="020B0004020202020204" pitchFamily="34" charset="0"/>
              </a:rPr>
              <a:t>S</a:t>
            </a:r>
            <a:r>
              <a:rPr lang="en-US" sz="3200" dirty="0">
                <a:solidFill>
                  <a:schemeClr val="accent4">
                    <a:lumMod val="75000"/>
                  </a:schemeClr>
                </a:solidFill>
                <a:latin typeface="Aptos" panose="020B0004020202020204" pitchFamily="34" charset="0"/>
              </a:rPr>
              <a:t>igned number</a:t>
            </a:r>
          </a:p>
          <a:p>
            <a:r>
              <a:rPr lang="en-US" sz="2800" dirty="0">
                <a:latin typeface="Aptos" panose="020B0004020202020204" pitchFamily="34" charset="0"/>
              </a:rPr>
              <a:t>MSB has weight </a:t>
            </a:r>
            <a:r>
              <a:rPr lang="en-US" sz="2800" dirty="0">
                <a:solidFill>
                  <a:schemeClr val="accent4">
                    <a:lumMod val="75000"/>
                  </a:schemeClr>
                </a:solidFill>
                <a:latin typeface="Aptos" panose="020B0004020202020204" pitchFamily="34" charset="0"/>
              </a:rPr>
              <a:t>-2</a:t>
            </a:r>
            <a:r>
              <a:rPr lang="en-US" sz="2800" baseline="30000" dirty="0">
                <a:solidFill>
                  <a:schemeClr val="accent4">
                    <a:lumMod val="75000"/>
                  </a:schemeClr>
                </a:solidFill>
                <a:latin typeface="Aptos" panose="020B0004020202020204" pitchFamily="34" charset="0"/>
              </a:rPr>
              <a:t>n-1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D5B9D7-15E2-4A82-A698-D00056C34E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7159" y="3547174"/>
            <a:ext cx="2507418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en-US" sz="2800" b="1" u="sng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decimal point 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46C9080-7BD2-4BAE-9258-4CD81C08F033}"/>
              </a:ext>
            </a:extLst>
          </p:cNvPr>
          <p:cNvSpPr/>
          <p:nvPr/>
        </p:nvSpPr>
        <p:spPr>
          <a:xfrm>
            <a:off x="7035564" y="3589185"/>
            <a:ext cx="274320" cy="27432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879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A61920-55FD-4FCA-B73F-551CF7931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EE8270F-2726-4466-9AD2-30D81B1B5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IEEE 754 Floating Point Standard</a:t>
            </a:r>
          </a:p>
        </p:txBody>
      </p:sp>
      <p:pic>
        <p:nvPicPr>
          <p:cNvPr id="2050" name="Picture 2" descr="Floating Point Representation - CS 357">
            <a:extLst>
              <a:ext uri="{FF2B5EF4-FFF2-40B4-BE49-F238E27FC236}">
                <a16:creationId xmlns:a16="http://schemas.microsoft.com/office/drawing/2014/main" id="{E759F760-D292-45B3-BB9C-68865A1650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86559"/>
            <a:ext cx="12192000" cy="2468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BD09D84-334C-4082-929F-CB5E00511CFF}"/>
              </a:ext>
            </a:extLst>
          </p:cNvPr>
          <p:cNvSpPr txBox="1"/>
          <p:nvPr/>
        </p:nvSpPr>
        <p:spPr>
          <a:xfrm>
            <a:off x="5521569" y="1489014"/>
            <a:ext cx="2908168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800" b="1" u="sng" dirty="0">
                <a:solidFill>
                  <a:schemeClr val="accent1"/>
                </a:solidFill>
                <a:latin typeface="Aptos" panose="020B0004020202020204" pitchFamily="34" charset="0"/>
              </a:rPr>
              <a:t>M</a:t>
            </a:r>
            <a:r>
              <a:rPr lang="en-US" sz="2800" b="1" dirty="0">
                <a:latin typeface="Aptos" panose="020B0004020202020204" pitchFamily="34" charset="0"/>
              </a:rPr>
              <a:t>antissa (23-bit)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763136-907A-4728-AC61-AE922ED14B28}"/>
              </a:ext>
            </a:extLst>
          </p:cNvPr>
          <p:cNvSpPr txBox="1"/>
          <p:nvPr/>
        </p:nvSpPr>
        <p:spPr>
          <a:xfrm>
            <a:off x="841718" y="1489014"/>
            <a:ext cx="2762295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800" b="1" u="sng" dirty="0">
                <a:solidFill>
                  <a:schemeClr val="accent1"/>
                </a:solidFill>
                <a:latin typeface="Aptos" panose="020B0004020202020204" pitchFamily="34" charset="0"/>
              </a:rPr>
              <a:t>E</a:t>
            </a:r>
            <a:r>
              <a:rPr lang="en-US" sz="2800" b="1" dirty="0">
                <a:latin typeface="Aptos" panose="020B0004020202020204" pitchFamily="34" charset="0"/>
              </a:rPr>
              <a:t>xponent (8-bit)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310CF6B-7E0D-42B7-A951-BEDADCFF2CFE}"/>
                  </a:ext>
                </a:extLst>
              </p:cNvPr>
              <p:cNvSpPr txBox="1"/>
              <p:nvPr/>
            </p:nvSpPr>
            <p:spPr>
              <a:xfrm>
                <a:off x="2295985" y="3842494"/>
                <a:ext cx="6727034" cy="5665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3600" b="1" dirty="0">
                    <a:latin typeface="Aptos" panose="020B0004020202020204" pitchFamily="34" charset="0"/>
                  </a:rPr>
                  <a:t>Value </a:t>
                </a:r>
                <a14:m>
                  <m:oMath xmlns:m="http://schemas.openxmlformats.org/officeDocument/2006/math">
                    <m:r>
                      <a:rPr lang="en-US" sz="3600" b="1" i="1" dirty="0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sz="36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36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6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en-US" sz="3600" b="1" i="1" smtClean="0">
                            <a:latin typeface="Cambria Math" panose="02040503050406030204" pitchFamily="18" charset="0"/>
                          </a:rPr>
                          <m:t>𝒔</m:t>
                        </m:r>
                      </m:sup>
                    </m:sSup>
                    <m:r>
                      <a:rPr lang="en-US" sz="3600" b="1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36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sz="36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  <m:r>
                          <a:rPr lang="en-US" sz="36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600" b="1" i="1" smtClean="0">
                            <a:latin typeface="Cambria Math" panose="02040503050406030204" pitchFamily="18" charset="0"/>
                          </a:rPr>
                          <m:t>𝟏𝟐𝟕</m:t>
                        </m:r>
                      </m:sup>
                    </m:sSup>
                    <m:r>
                      <a:rPr lang="en-US" sz="3600" b="1" i="1" smtClean="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sz="36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3600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3600" b="1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</m:d>
                  </m:oMath>
                </a14:m>
                <a:endParaRPr lang="en-US" sz="3600" b="1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310CF6B-7E0D-42B7-A951-BEDADCFF2C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5985" y="3842494"/>
                <a:ext cx="6727034" cy="566565"/>
              </a:xfrm>
              <a:prstGeom prst="rect">
                <a:avLst/>
              </a:prstGeom>
              <a:blipFill>
                <a:blip r:embed="rId3"/>
                <a:stretch>
                  <a:fillRect l="-4170" t="-21505" b="-49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8AB0A7D-5AF7-4096-A140-5296454BDF99}"/>
                  </a:ext>
                </a:extLst>
              </p:cNvPr>
              <p:cNvSpPr txBox="1"/>
              <p:nvPr/>
            </p:nvSpPr>
            <p:spPr>
              <a:xfrm>
                <a:off x="3390920" y="4482364"/>
                <a:ext cx="6583533" cy="16745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US" sz="36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𝟏𝟐𝟒</m:t>
                          </m:r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𝟏𝟐𝟕</m:t>
                          </m:r>
                        </m:sup>
                      </m:sSup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3600" b="1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sz="3600" b="1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600" b="1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  <m:r>
                                    <a:rPr lang="en-US" sz="3600" b="1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US" sz="3600" b="1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𝟎𝟏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sz="3600" b="1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a:rPr lang="en-US" sz="3600" b="1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36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36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3600" b="1" i="1" dirty="0" smtClean="0">
                          <a:latin typeface="Cambria Math" panose="02040503050406030204" pitchFamily="18" charset="0"/>
                        </a:rPr>
                        <m:t>𝟐𝟓</m:t>
                      </m:r>
                      <m:r>
                        <a:rPr lang="en-US" sz="3600" b="1" i="1" dirty="0" smtClean="0">
                          <a:latin typeface="Cambria Math" panose="02040503050406030204" pitchFamily="18" charset="0"/>
                        </a:rPr>
                        <m:t>× </m:t>
                      </m:r>
                      <m:r>
                        <a:rPr lang="en-US" sz="36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36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3600" b="1" i="1" dirty="0" smtClean="0">
                          <a:latin typeface="Cambria Math" panose="02040503050406030204" pitchFamily="18" charset="0"/>
                        </a:rPr>
                        <m:t>𝟏𝟐𝟓</m:t>
                      </m:r>
                      <m:r>
                        <a:rPr lang="en-US" sz="3600" b="1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sz="3600" b="1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36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36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3600" b="1" i="1" dirty="0" smtClean="0">
                          <a:latin typeface="Cambria Math" panose="02040503050406030204" pitchFamily="18" charset="0"/>
                        </a:rPr>
                        <m:t>𝟏𝟓𝟔𝟐𝟓</m:t>
                      </m:r>
                    </m:oMath>
                  </m:oMathPara>
                </a14:m>
                <a:endParaRPr lang="en-US" sz="3600" b="1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8AB0A7D-5AF7-4096-A140-5296454BD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0920" y="4482364"/>
                <a:ext cx="6583533" cy="16745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CF7E5121-6153-40ED-99AC-2DB61EB34D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0920" y="2905780"/>
            <a:ext cx="2507418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en-US" sz="2800" b="1" u="sng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decimal point 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5D8B0EC-5474-497E-AA03-F95CE8CA4915}"/>
              </a:ext>
            </a:extLst>
          </p:cNvPr>
          <p:cNvSpPr/>
          <p:nvPr/>
        </p:nvSpPr>
        <p:spPr>
          <a:xfrm>
            <a:off x="3059325" y="2947791"/>
            <a:ext cx="274320" cy="27432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968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66B6576-F88E-8E1D-3EC0-F195FE4C2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3200" dirty="0">
                <a:ea typeface="宋体" charset="0"/>
                <a:cs typeface="宋体" charset="0"/>
              </a:rPr>
              <a:t>C/C++ only provides a limited set of native integer types</a:t>
            </a:r>
          </a:p>
          <a:p>
            <a:pPr lvl="1"/>
            <a:r>
              <a:rPr lang="en-US" altLang="zh-CN" sz="2800" b="1" dirty="0">
                <a:ea typeface="宋体" charset="0"/>
                <a:cs typeface="宋体" charset="0"/>
              </a:rPr>
              <a:t>Integers: </a:t>
            </a:r>
            <a:r>
              <a:rPr lang="en-US" altLang="zh-CN" sz="2800" dirty="0">
                <a:ea typeface="宋体" charset="0"/>
                <a:cs typeface="宋体" charset="0"/>
              </a:rPr>
              <a:t>char (8b), short (16b), int (32b), long (?), long </a:t>
            </a:r>
            <a:r>
              <a:rPr lang="en-US" altLang="zh-CN" sz="2800" dirty="0" err="1">
                <a:ea typeface="宋体" charset="0"/>
                <a:cs typeface="宋体" charset="0"/>
              </a:rPr>
              <a:t>long</a:t>
            </a:r>
            <a:r>
              <a:rPr lang="en-US" altLang="zh-CN" sz="2800" dirty="0">
                <a:ea typeface="宋体" charset="0"/>
                <a:cs typeface="宋体" charset="0"/>
              </a:rPr>
              <a:t> (64b)</a:t>
            </a:r>
          </a:p>
          <a:p>
            <a:pPr lvl="1"/>
            <a:r>
              <a:rPr lang="en-US" altLang="zh-CN" sz="2800" b="1" dirty="0">
                <a:ea typeface="宋体" charset="0"/>
                <a:cs typeface="宋体" charset="0"/>
              </a:rPr>
              <a:t>Floating: </a:t>
            </a:r>
            <a:r>
              <a:rPr lang="en-US" altLang="zh-CN" sz="2800" dirty="0">
                <a:ea typeface="宋体" charset="0"/>
                <a:cs typeface="宋体" charset="0"/>
              </a:rPr>
              <a:t>single (32b), double (64b), half (16b)</a:t>
            </a:r>
          </a:p>
          <a:p>
            <a:pPr lvl="2"/>
            <a:r>
              <a:rPr lang="en-US" altLang="zh-CN" sz="2600" dirty="0">
                <a:ea typeface="宋体" charset="0"/>
                <a:cs typeface="宋体" charset="0"/>
              </a:rPr>
              <a:t>Single (FP32): </a:t>
            </a:r>
            <a:r>
              <a:rPr lang="en-US" altLang="zh-CN" sz="2400" dirty="0">
                <a:ea typeface="宋体" charset="0"/>
                <a:cs typeface="宋体" charset="0"/>
              </a:rPr>
              <a:t>E8M23</a:t>
            </a:r>
          </a:p>
          <a:p>
            <a:pPr lvl="2"/>
            <a:r>
              <a:rPr lang="en-US" altLang="zh-CN" sz="2400" dirty="0">
                <a:ea typeface="宋体" charset="0"/>
                <a:cs typeface="宋体" charset="0"/>
              </a:rPr>
              <a:t>Double (FP64): E10M53</a:t>
            </a:r>
          </a:p>
          <a:p>
            <a:pPr lvl="2"/>
            <a:r>
              <a:rPr lang="en-US" altLang="zh-CN" sz="2400" dirty="0">
                <a:ea typeface="宋体" charset="0"/>
                <a:cs typeface="宋体" charset="0"/>
              </a:rPr>
              <a:t>Half (FP16): E5M10</a:t>
            </a:r>
          </a:p>
          <a:p>
            <a:pPr lvl="2"/>
            <a:r>
              <a:rPr lang="en-US" altLang="zh-CN" sz="2400" dirty="0">
                <a:ea typeface="宋体" charset="0"/>
                <a:cs typeface="宋体" charset="0"/>
              </a:rPr>
              <a:t>(recent) BF16: E8M7</a:t>
            </a:r>
          </a:p>
          <a:p>
            <a:pPr lvl="2"/>
            <a:endParaRPr lang="en-US" altLang="zh-CN" sz="2400" dirty="0">
              <a:ea typeface="宋体" charset="0"/>
              <a:cs typeface="宋体" charset="0"/>
            </a:endParaRPr>
          </a:p>
          <a:p>
            <a:r>
              <a:rPr lang="en-US" altLang="zh-CN" sz="3000" dirty="0">
                <a:ea typeface="宋体" charset="0"/>
                <a:cs typeface="宋体" charset="0"/>
              </a:rPr>
              <a:t>Floating point operations are expensive: alignment and scaling</a:t>
            </a:r>
          </a:p>
          <a:p>
            <a:endParaRPr lang="en-US" altLang="zh-CN" sz="3000" dirty="0">
              <a:ea typeface="宋体" charset="0"/>
              <a:cs typeface="宋体" charset="0"/>
            </a:endParaRPr>
          </a:p>
          <a:p>
            <a:r>
              <a:rPr lang="en-US" altLang="zh-CN" sz="3000" dirty="0">
                <a:ea typeface="宋体" charset="0"/>
                <a:cs typeface="宋体" charset="0"/>
              </a:rPr>
              <a:t>What if you need only 2 bits, or you want 40 bits?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F9A2B3-5759-F298-0237-AE0A32E0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8FE954-C4FA-936C-6B10-BDD76C39A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Using Existing Data Types in Hardware</a:t>
            </a:r>
          </a:p>
        </p:txBody>
      </p:sp>
    </p:spTree>
    <p:extLst>
      <p:ext uri="{BB962C8B-B14F-4D97-AF65-F5344CB8AC3E}">
        <p14:creationId xmlns:p14="http://schemas.microsoft.com/office/powerpoint/2010/main" val="94360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905105E-E180-9FA1-113A-35E7961A04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Arbitrary precision integers: </a:t>
            </a:r>
          </a:p>
          <a:p>
            <a:pPr lvl="1"/>
            <a:r>
              <a:rPr lang="en-US" sz="2400" b="1" dirty="0"/>
              <a:t>Signed: </a:t>
            </a:r>
            <a:r>
              <a:rPr lang="en-US" sz="2400" b="1" dirty="0" err="1">
                <a:solidFill>
                  <a:schemeClr val="accent1"/>
                </a:solidFill>
              </a:rPr>
              <a:t>ap_int</a:t>
            </a:r>
            <a:r>
              <a:rPr lang="en-US" sz="2400" b="1" dirty="0">
                <a:solidFill>
                  <a:schemeClr val="accent1"/>
                </a:solidFill>
              </a:rPr>
              <a:t>&lt;W&gt;</a:t>
            </a:r>
          </a:p>
          <a:p>
            <a:pPr lvl="1"/>
            <a:r>
              <a:rPr lang="en-US" sz="2400" b="1" dirty="0"/>
              <a:t>Unsigned: </a:t>
            </a:r>
            <a:r>
              <a:rPr lang="en-US" sz="2400" b="1" dirty="0" err="1">
                <a:solidFill>
                  <a:schemeClr val="accent1"/>
                </a:solidFill>
              </a:rPr>
              <a:t>ap_uint</a:t>
            </a:r>
            <a:r>
              <a:rPr lang="en-US" sz="2400" b="1" dirty="0">
                <a:solidFill>
                  <a:schemeClr val="accent1"/>
                </a:solidFill>
              </a:rPr>
              <a:t>&lt;W&gt;</a:t>
            </a:r>
          </a:p>
          <a:p>
            <a:pPr lvl="1"/>
            <a:r>
              <a:rPr lang="en-US" sz="2400" dirty="0"/>
              <a:t>W is the user-specified </a:t>
            </a:r>
            <a:r>
              <a:rPr lang="en-US" sz="2400" dirty="0" err="1"/>
              <a:t>bitwidth</a:t>
            </a:r>
            <a:endParaRPr lang="en-US" sz="2400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Arbitrary precision fixed-point representation: for decimal numbers</a:t>
            </a:r>
          </a:p>
          <a:p>
            <a:pPr lvl="1"/>
            <a:r>
              <a:rPr lang="en-US" sz="2400" dirty="0"/>
              <a:t>Templatized class </a:t>
            </a:r>
            <a:r>
              <a:rPr lang="en-US" sz="2400" b="1" dirty="0" err="1">
                <a:solidFill>
                  <a:schemeClr val="accent1"/>
                </a:solidFill>
              </a:rPr>
              <a:t>ap_fixed</a:t>
            </a:r>
            <a:r>
              <a:rPr lang="en-US" sz="2400" b="1" dirty="0">
                <a:solidFill>
                  <a:schemeClr val="accent1"/>
                </a:solidFill>
              </a:rPr>
              <a:t>&lt;W, I, Q, O&gt; </a:t>
            </a:r>
          </a:p>
          <a:p>
            <a:pPr lvl="1"/>
            <a:r>
              <a:rPr lang="en-US" sz="2400" dirty="0"/>
              <a:t>W: total binary bits</a:t>
            </a:r>
          </a:p>
          <a:p>
            <a:pPr lvl="1"/>
            <a:r>
              <a:rPr lang="en-US" sz="2400" dirty="0"/>
              <a:t>I: number of integer bits (including sign bit)</a:t>
            </a:r>
          </a:p>
          <a:p>
            <a:pPr lvl="1"/>
            <a:r>
              <a:rPr lang="en-US" sz="2400" dirty="0"/>
              <a:t>Q: quantization mode</a:t>
            </a:r>
          </a:p>
          <a:p>
            <a:pPr lvl="1"/>
            <a:r>
              <a:rPr lang="en-US" sz="2400" dirty="0"/>
              <a:t>O: overflow mode</a:t>
            </a:r>
          </a:p>
          <a:p>
            <a:pPr lvl="1"/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F5B600-BC91-D4F0-B0CB-6052F9732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8F90923-9937-4BE7-2385-CEEC50B0D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Arbitrary Data Precision using FPGA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E62B1F-1DDA-4EB8-3FCD-96056003181F}"/>
              </a:ext>
            </a:extLst>
          </p:cNvPr>
          <p:cNvSpPr txBox="1"/>
          <p:nvPr/>
        </p:nvSpPr>
        <p:spPr>
          <a:xfrm>
            <a:off x="5925336" y="1226826"/>
            <a:ext cx="5026033" cy="170026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indent="174625">
              <a:defRPr sz="1600">
                <a:solidFill>
                  <a:schemeClr val="tx1"/>
                </a:solidFill>
                <a:latin typeface="Consolas" panose="020B0609020204030204" pitchFamily="49" charset="0"/>
                <a:cs typeface="Palatino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1800" dirty="0"/>
              <a:t>#include “</a:t>
            </a:r>
            <a:r>
              <a:rPr lang="en-US" sz="1800" dirty="0" err="1"/>
              <a:t>ap_int.h</a:t>
            </a:r>
            <a:r>
              <a:rPr lang="en-US" sz="1800" dirty="0"/>
              <a:t>”</a:t>
            </a:r>
          </a:p>
          <a:p>
            <a:r>
              <a:rPr lang="en-US" sz="1800" dirty="0"/>
              <a:t>…</a:t>
            </a:r>
          </a:p>
          <a:p>
            <a:r>
              <a:rPr lang="en-US" sz="1800" dirty="0" err="1"/>
              <a:t>ap_int</a:t>
            </a:r>
            <a:r>
              <a:rPr lang="en-US" sz="1800" dirty="0"/>
              <a:t>&lt;</a:t>
            </a:r>
            <a:r>
              <a:rPr lang="en-US" sz="1800" b="1" dirty="0">
                <a:solidFill>
                  <a:schemeClr val="accent1"/>
                </a:solidFill>
              </a:rPr>
              <a:t>9</a:t>
            </a:r>
            <a:r>
              <a:rPr lang="en-US" sz="1800" dirty="0"/>
              <a:t>&gt;     x;  // 9-bit</a:t>
            </a:r>
          </a:p>
          <a:p>
            <a:r>
              <a:rPr lang="en-US" sz="1800" dirty="0" err="1"/>
              <a:t>ap_uint</a:t>
            </a:r>
            <a:r>
              <a:rPr lang="en-US" sz="1800" dirty="0"/>
              <a:t>&lt;</a:t>
            </a:r>
            <a:r>
              <a:rPr lang="en-US" sz="1800" b="1" dirty="0">
                <a:solidFill>
                  <a:schemeClr val="accent1"/>
                </a:solidFill>
              </a:rPr>
              <a:t>17</a:t>
            </a:r>
            <a:r>
              <a:rPr lang="en-US" sz="1800" dirty="0"/>
              <a:t>&gt;   y;  // 17-bit unsigned</a:t>
            </a:r>
          </a:p>
          <a:p>
            <a:r>
              <a:rPr lang="en-US" sz="1800" dirty="0" err="1"/>
              <a:t>ap_uint</a:t>
            </a:r>
            <a:r>
              <a:rPr lang="en-US" sz="1800" dirty="0"/>
              <a:t>&lt;</a:t>
            </a:r>
            <a:r>
              <a:rPr lang="en-US" sz="1800" b="1" dirty="0">
                <a:solidFill>
                  <a:schemeClr val="accent1"/>
                </a:solidFill>
              </a:rPr>
              <a:t>512</a:t>
            </a:r>
            <a:r>
              <a:rPr lang="en-US" sz="1800" dirty="0"/>
              <a:t>&gt;  z;  // 512-bit unsigned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6F5DFC-2602-4786-BE5A-1D2E1F9B3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0393" y="3907748"/>
            <a:ext cx="4903265" cy="2250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630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A61920-55FD-4FCA-B73F-551CF7931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EE8270F-2726-4466-9AD2-30D81B1B5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Fixed-Point Modeling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C9D354D0-A4AA-46FD-9E69-101FD0CEF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1444021"/>
          </a:xfrm>
        </p:spPr>
        <p:txBody>
          <a:bodyPr>
            <a:normAutofit/>
          </a:bodyPr>
          <a:lstStyle/>
          <a:p>
            <a:r>
              <a:rPr lang="en-US" sz="3600" dirty="0" err="1"/>
              <a:t>ap_ufixed</a:t>
            </a:r>
            <a:r>
              <a:rPr lang="en-US" sz="3600" dirty="0"/>
              <a:t>&lt;</a:t>
            </a:r>
            <a:r>
              <a:rPr lang="en-US" sz="3600" dirty="0">
                <a:solidFill>
                  <a:schemeClr val="accent4">
                    <a:lumMod val="75000"/>
                  </a:schemeClr>
                </a:solidFill>
              </a:rPr>
              <a:t>11</a:t>
            </a:r>
            <a:r>
              <a:rPr lang="en-US" sz="3600" dirty="0"/>
              <a:t>, </a:t>
            </a:r>
            <a:r>
              <a:rPr lang="en-US" sz="3600" dirty="0">
                <a:solidFill>
                  <a:schemeClr val="accent1"/>
                </a:solidFill>
              </a:rPr>
              <a:t>8</a:t>
            </a:r>
            <a:r>
              <a:rPr lang="en-US" sz="3600" dirty="0"/>
              <a:t>, </a:t>
            </a:r>
            <a:r>
              <a:rPr lang="en-US" sz="3600" dirty="0">
                <a:solidFill>
                  <a:schemeClr val="accent6">
                    <a:lumMod val="75000"/>
                  </a:schemeClr>
                </a:solidFill>
              </a:rPr>
              <a:t>AP_TRN</a:t>
            </a:r>
            <a:r>
              <a:rPr lang="en-US" sz="3600" dirty="0"/>
              <a:t>, </a:t>
            </a:r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AP_WRAP</a:t>
            </a:r>
            <a:r>
              <a:rPr lang="en-US" sz="3600" dirty="0"/>
              <a:t>&gt;   x;</a:t>
            </a:r>
            <a:endParaRPr lang="en-US" sz="3200" dirty="0"/>
          </a:p>
        </p:txBody>
      </p:sp>
      <p:graphicFrame>
        <p:nvGraphicFramePr>
          <p:cNvPr id="6" name="Table 10">
            <a:extLst>
              <a:ext uri="{FF2B5EF4-FFF2-40B4-BE49-F238E27FC236}">
                <a16:creationId xmlns:a16="http://schemas.microsoft.com/office/drawing/2014/main" id="{E8809489-9E23-4196-AA2F-E561A6037B73}"/>
              </a:ext>
            </a:extLst>
          </p:cNvPr>
          <p:cNvGraphicFramePr>
            <a:graphicFrameLocks noGrp="1"/>
          </p:cNvGraphicFramePr>
          <p:nvPr/>
        </p:nvGraphicFramePr>
        <p:xfrm>
          <a:off x="1251826" y="2441645"/>
          <a:ext cx="9026776" cy="701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28347">
                  <a:extLst>
                    <a:ext uri="{9D8B030D-6E8A-4147-A177-3AD203B41FA5}">
                      <a16:colId xmlns:a16="http://schemas.microsoft.com/office/drawing/2014/main" val="3985743533"/>
                    </a:ext>
                  </a:extLst>
                </a:gridCol>
                <a:gridCol w="1128347">
                  <a:extLst>
                    <a:ext uri="{9D8B030D-6E8A-4147-A177-3AD203B41FA5}">
                      <a16:colId xmlns:a16="http://schemas.microsoft.com/office/drawing/2014/main" val="4018550502"/>
                    </a:ext>
                  </a:extLst>
                </a:gridCol>
                <a:gridCol w="1128347">
                  <a:extLst>
                    <a:ext uri="{9D8B030D-6E8A-4147-A177-3AD203B41FA5}">
                      <a16:colId xmlns:a16="http://schemas.microsoft.com/office/drawing/2014/main" val="3977174992"/>
                    </a:ext>
                  </a:extLst>
                </a:gridCol>
                <a:gridCol w="1128347">
                  <a:extLst>
                    <a:ext uri="{9D8B030D-6E8A-4147-A177-3AD203B41FA5}">
                      <a16:colId xmlns:a16="http://schemas.microsoft.com/office/drawing/2014/main" val="57339063"/>
                    </a:ext>
                  </a:extLst>
                </a:gridCol>
                <a:gridCol w="1128347">
                  <a:extLst>
                    <a:ext uri="{9D8B030D-6E8A-4147-A177-3AD203B41FA5}">
                      <a16:colId xmlns:a16="http://schemas.microsoft.com/office/drawing/2014/main" val="3961687218"/>
                    </a:ext>
                  </a:extLst>
                </a:gridCol>
                <a:gridCol w="1128347">
                  <a:extLst>
                    <a:ext uri="{9D8B030D-6E8A-4147-A177-3AD203B41FA5}">
                      <a16:colId xmlns:a16="http://schemas.microsoft.com/office/drawing/2014/main" val="185628602"/>
                    </a:ext>
                  </a:extLst>
                </a:gridCol>
                <a:gridCol w="1128347">
                  <a:extLst>
                    <a:ext uri="{9D8B030D-6E8A-4147-A177-3AD203B41FA5}">
                      <a16:colId xmlns:a16="http://schemas.microsoft.com/office/drawing/2014/main" val="4048504046"/>
                    </a:ext>
                  </a:extLst>
                </a:gridCol>
                <a:gridCol w="1128347">
                  <a:extLst>
                    <a:ext uri="{9D8B030D-6E8A-4147-A177-3AD203B41FA5}">
                      <a16:colId xmlns:a16="http://schemas.microsoft.com/office/drawing/2014/main" val="32381786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latin typeface="Aptos" panose="020B0004020202020204" pitchFamily="34" charset="0"/>
                        </a:rPr>
                        <a:t>b7</a:t>
                      </a:r>
                      <a:endParaRPr lang="en-US" sz="4000" b="1" baseline="30000" dirty="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latin typeface="Aptos" panose="020B0004020202020204" pitchFamily="34" charset="0"/>
                        </a:rPr>
                        <a:t>b6</a:t>
                      </a:r>
                      <a:endParaRPr lang="en-US" sz="4000" b="1" baseline="30000" dirty="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baseline="0" dirty="0">
                          <a:latin typeface="Aptos" panose="020B0004020202020204" pitchFamily="34" charset="0"/>
                        </a:rPr>
                        <a:t>b5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latin typeface="Aptos" panose="020B0004020202020204" pitchFamily="34" charset="0"/>
                        </a:rPr>
                        <a:t>…</a:t>
                      </a:r>
                      <a:endParaRPr lang="en-US" sz="4000" b="1" baseline="30000" dirty="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latin typeface="Aptos" panose="020B0004020202020204" pitchFamily="34" charset="0"/>
                        </a:rPr>
                        <a:t>b1</a:t>
                      </a:r>
                      <a:endParaRPr lang="en-US" sz="4000" b="1" baseline="30000" dirty="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latin typeface="Aptos" panose="020B0004020202020204" pitchFamily="34" charset="0"/>
                        </a:rPr>
                        <a:t>b0</a:t>
                      </a:r>
                      <a:endParaRPr lang="en-US" sz="4000" b="1" baseline="30000" dirty="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latin typeface="Aptos" panose="020B0004020202020204" pitchFamily="34" charset="0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latin typeface="Aptos" panose="020B0004020202020204" pitchFamily="34" charset="0"/>
                        </a:rPr>
                        <a:t>b-3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550524"/>
                  </a:ext>
                </a:extLst>
              </a:tr>
            </a:tbl>
          </a:graphicData>
        </a:graphic>
      </p:graphicFrame>
      <p:sp>
        <p:nvSpPr>
          <p:cNvPr id="7" name="Oval 6">
            <a:extLst>
              <a:ext uri="{FF2B5EF4-FFF2-40B4-BE49-F238E27FC236}">
                <a16:creationId xmlns:a16="http://schemas.microsoft.com/office/drawing/2014/main" id="{5FF3D3EF-0E3B-4DD9-B5D9-1EED95C021C7}"/>
              </a:ext>
            </a:extLst>
          </p:cNvPr>
          <p:cNvSpPr/>
          <p:nvPr/>
        </p:nvSpPr>
        <p:spPr>
          <a:xfrm>
            <a:off x="7892582" y="3014779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53EAC3-8D72-4176-85A4-ACC5BED27733}"/>
              </a:ext>
            </a:extLst>
          </p:cNvPr>
          <p:cNvSpPr txBox="1"/>
          <p:nvPr/>
        </p:nvSpPr>
        <p:spPr>
          <a:xfrm>
            <a:off x="746092" y="3885666"/>
            <a:ext cx="11233952" cy="22493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00041" indent="-400041" defTabSz="914377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3600" b="1">
                <a:latin typeface="Corbel" panose="020B0503020204020204" pitchFamily="34" charset="0"/>
              </a:defRPr>
            </a:lvl1pPr>
            <a:lvl2pPr marL="857229" indent="-400041" defTabSz="914377">
              <a:lnSpc>
                <a:spcPct val="100000"/>
              </a:lnSpc>
              <a:spcBef>
                <a:spcPts val="0"/>
              </a:spcBef>
              <a:buSzPct val="80000"/>
              <a:buFont typeface="Courier New" panose="02070309020205020404" pitchFamily="49" charset="0"/>
              <a:buChar char="o"/>
              <a:defRPr sz="2000">
                <a:latin typeface="Corbel" panose="020B0503020204020204" pitchFamily="34" charset="0"/>
              </a:defRPr>
            </a:lvl2pPr>
            <a:lvl3pPr marL="1142971" indent="-285744" defTabSz="914377">
              <a:lnSpc>
                <a:spcPct val="100000"/>
              </a:lnSpc>
              <a:spcBef>
                <a:spcPts val="0"/>
              </a:spcBef>
              <a:buFont typeface="Corbel" panose="020B0503020204020204" pitchFamily="34" charset="0"/>
              <a:buChar char="‐"/>
              <a:defRPr>
                <a:latin typeface="Corbel" panose="020B0503020204020204" pitchFamily="34" charset="0"/>
              </a:defRPr>
            </a:lvl3pPr>
            <a:lvl4pPr marL="1600160" indent="-228594" defTabSz="914377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latin typeface="Corbel" panose="020B0503020204020204" pitchFamily="34" charset="0"/>
              </a:defRPr>
            </a:lvl4pPr>
            <a:lvl5pPr marL="2057349" indent="-228594" defTabSz="914377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latin typeface="Corbel" panose="020B0503020204020204" pitchFamily="34" charset="0"/>
              </a:defRPr>
            </a:lvl5pPr>
            <a:lvl6pPr marL="2514537" indent="-228594" defTabSz="914377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726" indent="-228594" defTabSz="914377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8914" indent="-228594" defTabSz="914377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103" indent="-228594" defTabSz="914377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chemeClr val="accent4">
                    <a:lumMod val="75000"/>
                  </a:schemeClr>
                </a:solidFill>
                <a:latin typeface="Aptos" panose="020B0004020202020204" pitchFamily="34" charset="0"/>
              </a:rPr>
              <a:t>11</a:t>
            </a:r>
            <a:r>
              <a:rPr lang="en-US" sz="3200" b="0" dirty="0">
                <a:latin typeface="Aptos" panose="020B0004020202020204" pitchFamily="34" charset="0"/>
              </a:rPr>
              <a:t> is the total number of bits in the type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chemeClr val="accent1"/>
                </a:solidFill>
                <a:latin typeface="Aptos" panose="020B0004020202020204" pitchFamily="34" charset="0"/>
              </a:rPr>
              <a:t>8</a:t>
            </a:r>
            <a:r>
              <a:rPr lang="en-US" sz="3200" b="0" dirty="0">
                <a:latin typeface="Aptos" panose="020B0004020202020204" pitchFamily="34" charset="0"/>
              </a:rPr>
              <a:t> bits is the integer </a:t>
            </a:r>
            <a:r>
              <a:rPr lang="en-US" sz="3200" b="0" dirty="0" err="1">
                <a:latin typeface="Aptos" panose="020B0004020202020204" pitchFamily="34" charset="0"/>
              </a:rPr>
              <a:t>bitwidth</a:t>
            </a:r>
            <a:endParaRPr lang="en-US" sz="3200" b="0" dirty="0">
              <a:latin typeface="Aptos" panose="020B0004020202020204" pitchFamily="34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AP_TRN </a:t>
            </a:r>
            <a:r>
              <a:rPr lang="en-US" sz="3200" b="0" dirty="0">
                <a:latin typeface="Aptos" panose="020B0004020202020204" pitchFamily="34" charset="0"/>
              </a:rPr>
              <a:t>defines 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truncation</a:t>
            </a:r>
            <a:r>
              <a:rPr lang="en-US" sz="3200" b="0" dirty="0">
                <a:latin typeface="Aptos" panose="020B0004020202020204" pitchFamily="34" charset="0"/>
              </a:rPr>
              <a:t> behavior for 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quantization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AP_WRAP </a:t>
            </a:r>
            <a:r>
              <a:rPr lang="en-US" sz="3200" b="0" dirty="0">
                <a:latin typeface="Aptos" panose="020B0004020202020204" pitchFamily="34" charset="0"/>
              </a:rPr>
              <a:t>defines </a:t>
            </a:r>
            <a:r>
              <a:rPr lang="en-US" sz="32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wrapping</a:t>
            </a:r>
            <a:r>
              <a:rPr lang="en-US" sz="3200" b="0" dirty="0">
                <a:latin typeface="Aptos" panose="020B0004020202020204" pitchFamily="34" charset="0"/>
              </a:rPr>
              <a:t> behavior for </a:t>
            </a:r>
            <a:r>
              <a:rPr lang="en-US" sz="32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overflow</a:t>
            </a:r>
          </a:p>
        </p:txBody>
      </p:sp>
    </p:spTree>
    <p:extLst>
      <p:ext uri="{BB962C8B-B14F-4D97-AF65-F5344CB8AC3E}">
        <p14:creationId xmlns:p14="http://schemas.microsoft.com/office/powerpoint/2010/main" val="3725641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A61920-55FD-4FCA-B73F-551CF7931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EE8270F-2726-4466-9AD2-30D81B1B5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Fixed-Point Representation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C9D354D0-A4AA-46FD-9E69-101FD0CEF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1444021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accent1"/>
                </a:solidFill>
              </a:rPr>
              <a:t>Fix</a:t>
            </a:r>
            <a:r>
              <a:rPr lang="en-US" sz="3200" dirty="0"/>
              <a:t> the decimal point </a:t>
            </a:r>
            <a:r>
              <a:rPr lang="zh-CN" altLang="en-US" sz="3200" dirty="0"/>
              <a:t>→</a:t>
            </a:r>
            <a:r>
              <a:rPr lang="en-US" sz="3200" dirty="0"/>
              <a:t> </a:t>
            </a:r>
            <a:r>
              <a:rPr lang="en-US" altLang="zh-CN" sz="3200" dirty="0">
                <a:solidFill>
                  <a:schemeClr val="accent1"/>
                </a:solidFill>
              </a:rPr>
              <a:t>F</a:t>
            </a:r>
            <a:r>
              <a:rPr lang="en-US" sz="3200" dirty="0">
                <a:solidFill>
                  <a:schemeClr val="accent1"/>
                </a:solidFill>
              </a:rPr>
              <a:t>ixed-point</a:t>
            </a:r>
            <a:r>
              <a:rPr lang="en-US" sz="3200" dirty="0"/>
              <a:t> numbers</a:t>
            </a: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58E68F1E-5D16-442E-B99B-43734ECFB6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9351081"/>
              </p:ext>
            </p:extLst>
          </p:nvPr>
        </p:nvGraphicFramePr>
        <p:xfrm>
          <a:off x="679934" y="2313739"/>
          <a:ext cx="10832132" cy="1402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93372">
                  <a:extLst>
                    <a:ext uri="{9D8B030D-6E8A-4147-A177-3AD203B41FA5}">
                      <a16:colId xmlns:a16="http://schemas.microsoft.com/office/drawing/2014/main" val="3985743533"/>
                    </a:ext>
                  </a:extLst>
                </a:gridCol>
                <a:gridCol w="1393372">
                  <a:extLst>
                    <a:ext uri="{9D8B030D-6E8A-4147-A177-3AD203B41FA5}">
                      <a16:colId xmlns:a16="http://schemas.microsoft.com/office/drawing/2014/main" val="4018550502"/>
                    </a:ext>
                  </a:extLst>
                </a:gridCol>
                <a:gridCol w="1393372">
                  <a:extLst>
                    <a:ext uri="{9D8B030D-6E8A-4147-A177-3AD203B41FA5}">
                      <a16:colId xmlns:a16="http://schemas.microsoft.com/office/drawing/2014/main" val="3977174992"/>
                    </a:ext>
                  </a:extLst>
                </a:gridCol>
                <a:gridCol w="1393372">
                  <a:extLst>
                    <a:ext uri="{9D8B030D-6E8A-4147-A177-3AD203B41FA5}">
                      <a16:colId xmlns:a16="http://schemas.microsoft.com/office/drawing/2014/main" val="57339063"/>
                    </a:ext>
                  </a:extLst>
                </a:gridCol>
                <a:gridCol w="1393372">
                  <a:extLst>
                    <a:ext uri="{9D8B030D-6E8A-4147-A177-3AD203B41FA5}">
                      <a16:colId xmlns:a16="http://schemas.microsoft.com/office/drawing/2014/main" val="3961687218"/>
                    </a:ext>
                  </a:extLst>
                </a:gridCol>
                <a:gridCol w="1393372">
                  <a:extLst>
                    <a:ext uri="{9D8B030D-6E8A-4147-A177-3AD203B41FA5}">
                      <a16:colId xmlns:a16="http://schemas.microsoft.com/office/drawing/2014/main" val="185628602"/>
                    </a:ext>
                  </a:extLst>
                </a:gridCol>
                <a:gridCol w="2471900">
                  <a:extLst>
                    <a:ext uri="{9D8B030D-6E8A-4147-A177-3AD203B41FA5}">
                      <a16:colId xmlns:a16="http://schemas.microsoft.com/office/drawing/2014/main" val="32381786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2</a:t>
                      </a:r>
                      <a:r>
                        <a:rPr lang="en-US" sz="4000" b="1" baseline="30000" dirty="0">
                          <a:latin typeface="Aptos" panose="020B00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2</a:t>
                      </a:r>
                      <a:r>
                        <a:rPr lang="en-US" sz="4000" b="1" baseline="30000" dirty="0"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2</a:t>
                      </a:r>
                      <a:r>
                        <a:rPr lang="en-US" sz="4000" b="1" baseline="30000" dirty="0"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2</a:t>
                      </a:r>
                      <a:r>
                        <a:rPr lang="en-US" sz="4000" b="1" baseline="30000" dirty="0"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2</a:t>
                      </a:r>
                      <a:r>
                        <a:rPr lang="en-US" sz="4000" b="1" baseline="30000" dirty="0">
                          <a:latin typeface="Aptos" panose="020B0004020202020204" pitchFamily="34" charset="0"/>
                        </a:rPr>
                        <a:t>-1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2</a:t>
                      </a:r>
                      <a:r>
                        <a:rPr lang="en-US" sz="4000" b="1" baseline="30000" dirty="0">
                          <a:latin typeface="Aptos" panose="020B0004020202020204" pitchFamily="34" charset="0"/>
                        </a:rPr>
                        <a:t>-2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unsigned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3550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11.25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28680606"/>
                  </a:ext>
                </a:extLst>
              </a:tr>
            </a:tbl>
          </a:graphicData>
        </a:graphic>
      </p:graphicFrame>
      <p:graphicFrame>
        <p:nvGraphicFramePr>
          <p:cNvPr id="13" name="Table 10">
            <a:extLst>
              <a:ext uri="{FF2B5EF4-FFF2-40B4-BE49-F238E27FC236}">
                <a16:creationId xmlns:a16="http://schemas.microsoft.com/office/drawing/2014/main" id="{25301392-8EAA-48C8-95F3-4E16F14567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9290896"/>
              </p:ext>
            </p:extLst>
          </p:nvPr>
        </p:nvGraphicFramePr>
        <p:xfrm>
          <a:off x="670043" y="4393092"/>
          <a:ext cx="10832132" cy="1402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93372">
                  <a:extLst>
                    <a:ext uri="{9D8B030D-6E8A-4147-A177-3AD203B41FA5}">
                      <a16:colId xmlns:a16="http://schemas.microsoft.com/office/drawing/2014/main" val="3985743533"/>
                    </a:ext>
                  </a:extLst>
                </a:gridCol>
                <a:gridCol w="1393372">
                  <a:extLst>
                    <a:ext uri="{9D8B030D-6E8A-4147-A177-3AD203B41FA5}">
                      <a16:colId xmlns:a16="http://schemas.microsoft.com/office/drawing/2014/main" val="4018550502"/>
                    </a:ext>
                  </a:extLst>
                </a:gridCol>
                <a:gridCol w="1393372">
                  <a:extLst>
                    <a:ext uri="{9D8B030D-6E8A-4147-A177-3AD203B41FA5}">
                      <a16:colId xmlns:a16="http://schemas.microsoft.com/office/drawing/2014/main" val="3977174992"/>
                    </a:ext>
                  </a:extLst>
                </a:gridCol>
                <a:gridCol w="1393372">
                  <a:extLst>
                    <a:ext uri="{9D8B030D-6E8A-4147-A177-3AD203B41FA5}">
                      <a16:colId xmlns:a16="http://schemas.microsoft.com/office/drawing/2014/main" val="57339063"/>
                    </a:ext>
                  </a:extLst>
                </a:gridCol>
                <a:gridCol w="1393372">
                  <a:extLst>
                    <a:ext uri="{9D8B030D-6E8A-4147-A177-3AD203B41FA5}">
                      <a16:colId xmlns:a16="http://schemas.microsoft.com/office/drawing/2014/main" val="3961687218"/>
                    </a:ext>
                  </a:extLst>
                </a:gridCol>
                <a:gridCol w="1393372">
                  <a:extLst>
                    <a:ext uri="{9D8B030D-6E8A-4147-A177-3AD203B41FA5}">
                      <a16:colId xmlns:a16="http://schemas.microsoft.com/office/drawing/2014/main" val="185628602"/>
                    </a:ext>
                  </a:extLst>
                </a:gridCol>
                <a:gridCol w="2471900">
                  <a:extLst>
                    <a:ext uri="{9D8B030D-6E8A-4147-A177-3AD203B41FA5}">
                      <a16:colId xmlns:a16="http://schemas.microsoft.com/office/drawing/2014/main" val="32381786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2</a:t>
                      </a:r>
                      <a:r>
                        <a:rPr lang="en-US" sz="4000" b="1" baseline="30000" dirty="0">
                          <a:latin typeface="Aptos" panose="020B00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2</a:t>
                      </a:r>
                      <a:r>
                        <a:rPr lang="en-US" sz="4000" b="1" baseline="30000" dirty="0"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2</a:t>
                      </a:r>
                      <a:r>
                        <a:rPr lang="en-US" sz="4000" b="1" baseline="30000" dirty="0"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2</a:t>
                      </a:r>
                      <a:r>
                        <a:rPr lang="en-US" sz="4000" b="1" baseline="30000" dirty="0"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2</a:t>
                      </a:r>
                      <a:r>
                        <a:rPr lang="en-US" sz="4000" b="1" baseline="30000" dirty="0">
                          <a:latin typeface="Aptos" panose="020B0004020202020204" pitchFamily="34" charset="0"/>
                        </a:rPr>
                        <a:t>-1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2</a:t>
                      </a:r>
                      <a:r>
                        <a:rPr lang="en-US" sz="4000" b="1" baseline="30000" dirty="0">
                          <a:latin typeface="Aptos" panose="020B0004020202020204" pitchFamily="34" charset="0"/>
                        </a:rPr>
                        <a:t>-2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2’C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3550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?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28680606"/>
                  </a:ext>
                </a:extLst>
              </a:tr>
            </a:tbl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56893A3-DFA5-43B9-B51B-446B2BC7EF16}"/>
              </a:ext>
            </a:extLst>
          </p:cNvPr>
          <p:cNvCxnSpPr/>
          <p:nvPr/>
        </p:nvCxnSpPr>
        <p:spPr>
          <a:xfrm>
            <a:off x="272563" y="3075067"/>
            <a:ext cx="1135338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9AAAC01-8AA2-4F27-A38A-254A3D48CBED}"/>
              </a:ext>
            </a:extLst>
          </p:cNvPr>
          <p:cNvCxnSpPr/>
          <p:nvPr/>
        </p:nvCxnSpPr>
        <p:spPr>
          <a:xfrm>
            <a:off x="342901" y="5186893"/>
            <a:ext cx="1135338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EE0CBA41-3108-4EF8-8588-DE245BD883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591" y="3590001"/>
            <a:ext cx="25074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800" b="1" u="sng" dirty="0">
                <a:solidFill>
                  <a:schemeClr val="accent1"/>
                </a:solidFill>
                <a:latin typeface="Aptos" panose="020B0004020202020204" pitchFamily="34" charset="0"/>
              </a:rPr>
              <a:t>decimal point 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F82DF98-8012-45EE-987A-C79B95CF15D9}"/>
              </a:ext>
            </a:extLst>
          </p:cNvPr>
          <p:cNvSpPr/>
          <p:nvPr/>
        </p:nvSpPr>
        <p:spPr>
          <a:xfrm>
            <a:off x="5712090" y="3377883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C209D1E-189C-4CA7-85F9-D0AC3073D518}"/>
              </a:ext>
            </a:extLst>
          </p:cNvPr>
          <p:cNvSpPr/>
          <p:nvPr/>
        </p:nvSpPr>
        <p:spPr>
          <a:xfrm>
            <a:off x="5712090" y="5562494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7912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A61920-55FD-4FCA-B73F-551CF7931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EE8270F-2726-4466-9AD2-30D81B1B5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Fixed-Point Representation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C9D354D0-A4AA-46FD-9E69-101FD0CEF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1444021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accent1"/>
                </a:solidFill>
              </a:rPr>
              <a:t>Fix</a:t>
            </a:r>
            <a:r>
              <a:rPr lang="en-US" sz="3200" dirty="0"/>
              <a:t> the decimal point </a:t>
            </a:r>
            <a:r>
              <a:rPr lang="zh-CN" altLang="en-US" sz="3200" dirty="0"/>
              <a:t>→</a:t>
            </a:r>
            <a:r>
              <a:rPr lang="en-US" sz="3200" dirty="0"/>
              <a:t> </a:t>
            </a:r>
            <a:r>
              <a:rPr lang="en-US" altLang="zh-CN" sz="3200" dirty="0">
                <a:solidFill>
                  <a:schemeClr val="accent1"/>
                </a:solidFill>
              </a:rPr>
              <a:t>F</a:t>
            </a:r>
            <a:r>
              <a:rPr lang="en-US" sz="3200" dirty="0">
                <a:solidFill>
                  <a:schemeClr val="accent1"/>
                </a:solidFill>
              </a:rPr>
              <a:t>ixed-point</a:t>
            </a:r>
            <a:r>
              <a:rPr lang="en-US" sz="3200" dirty="0"/>
              <a:t> numbers</a:t>
            </a: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58E68F1E-5D16-442E-B99B-43734ECFB66F}"/>
              </a:ext>
            </a:extLst>
          </p:cNvPr>
          <p:cNvGraphicFramePr>
            <a:graphicFrameLocks noGrp="1"/>
          </p:cNvGraphicFramePr>
          <p:nvPr/>
        </p:nvGraphicFramePr>
        <p:xfrm>
          <a:off x="679934" y="2313739"/>
          <a:ext cx="10832132" cy="1402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93372">
                  <a:extLst>
                    <a:ext uri="{9D8B030D-6E8A-4147-A177-3AD203B41FA5}">
                      <a16:colId xmlns:a16="http://schemas.microsoft.com/office/drawing/2014/main" val="3985743533"/>
                    </a:ext>
                  </a:extLst>
                </a:gridCol>
                <a:gridCol w="1393372">
                  <a:extLst>
                    <a:ext uri="{9D8B030D-6E8A-4147-A177-3AD203B41FA5}">
                      <a16:colId xmlns:a16="http://schemas.microsoft.com/office/drawing/2014/main" val="4018550502"/>
                    </a:ext>
                  </a:extLst>
                </a:gridCol>
                <a:gridCol w="1393372">
                  <a:extLst>
                    <a:ext uri="{9D8B030D-6E8A-4147-A177-3AD203B41FA5}">
                      <a16:colId xmlns:a16="http://schemas.microsoft.com/office/drawing/2014/main" val="3977174992"/>
                    </a:ext>
                  </a:extLst>
                </a:gridCol>
                <a:gridCol w="1393372">
                  <a:extLst>
                    <a:ext uri="{9D8B030D-6E8A-4147-A177-3AD203B41FA5}">
                      <a16:colId xmlns:a16="http://schemas.microsoft.com/office/drawing/2014/main" val="57339063"/>
                    </a:ext>
                  </a:extLst>
                </a:gridCol>
                <a:gridCol w="1393372">
                  <a:extLst>
                    <a:ext uri="{9D8B030D-6E8A-4147-A177-3AD203B41FA5}">
                      <a16:colId xmlns:a16="http://schemas.microsoft.com/office/drawing/2014/main" val="3961687218"/>
                    </a:ext>
                  </a:extLst>
                </a:gridCol>
                <a:gridCol w="1393372">
                  <a:extLst>
                    <a:ext uri="{9D8B030D-6E8A-4147-A177-3AD203B41FA5}">
                      <a16:colId xmlns:a16="http://schemas.microsoft.com/office/drawing/2014/main" val="185628602"/>
                    </a:ext>
                  </a:extLst>
                </a:gridCol>
                <a:gridCol w="2471900">
                  <a:extLst>
                    <a:ext uri="{9D8B030D-6E8A-4147-A177-3AD203B41FA5}">
                      <a16:colId xmlns:a16="http://schemas.microsoft.com/office/drawing/2014/main" val="32381786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2</a:t>
                      </a:r>
                      <a:r>
                        <a:rPr lang="en-US" sz="4000" b="1" baseline="30000" dirty="0">
                          <a:latin typeface="Aptos" panose="020B00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2</a:t>
                      </a:r>
                      <a:r>
                        <a:rPr lang="en-US" sz="4000" b="1" baseline="30000" dirty="0"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2</a:t>
                      </a:r>
                      <a:r>
                        <a:rPr lang="en-US" sz="4000" b="1" baseline="30000" dirty="0"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2</a:t>
                      </a:r>
                      <a:r>
                        <a:rPr lang="en-US" sz="4000" b="1" baseline="30000" dirty="0"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2</a:t>
                      </a:r>
                      <a:r>
                        <a:rPr lang="en-US" sz="4000" b="1" baseline="30000" dirty="0">
                          <a:latin typeface="Aptos" panose="020B0004020202020204" pitchFamily="34" charset="0"/>
                        </a:rPr>
                        <a:t>-1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2</a:t>
                      </a:r>
                      <a:r>
                        <a:rPr lang="en-US" sz="4000" b="1" baseline="30000" dirty="0">
                          <a:latin typeface="Aptos" panose="020B0004020202020204" pitchFamily="34" charset="0"/>
                        </a:rPr>
                        <a:t>-2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unsigned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3550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11.25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28680606"/>
                  </a:ext>
                </a:extLst>
              </a:tr>
            </a:tbl>
          </a:graphicData>
        </a:graphic>
      </p:graphicFrame>
      <p:graphicFrame>
        <p:nvGraphicFramePr>
          <p:cNvPr id="13" name="Table 10">
            <a:extLst>
              <a:ext uri="{FF2B5EF4-FFF2-40B4-BE49-F238E27FC236}">
                <a16:creationId xmlns:a16="http://schemas.microsoft.com/office/drawing/2014/main" id="{25301392-8EAA-48C8-95F3-4E16F14567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2303443"/>
              </p:ext>
            </p:extLst>
          </p:nvPr>
        </p:nvGraphicFramePr>
        <p:xfrm>
          <a:off x="670043" y="4393092"/>
          <a:ext cx="10832132" cy="1402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93372">
                  <a:extLst>
                    <a:ext uri="{9D8B030D-6E8A-4147-A177-3AD203B41FA5}">
                      <a16:colId xmlns:a16="http://schemas.microsoft.com/office/drawing/2014/main" val="3985743533"/>
                    </a:ext>
                  </a:extLst>
                </a:gridCol>
                <a:gridCol w="1393372">
                  <a:extLst>
                    <a:ext uri="{9D8B030D-6E8A-4147-A177-3AD203B41FA5}">
                      <a16:colId xmlns:a16="http://schemas.microsoft.com/office/drawing/2014/main" val="4018550502"/>
                    </a:ext>
                  </a:extLst>
                </a:gridCol>
                <a:gridCol w="1393372">
                  <a:extLst>
                    <a:ext uri="{9D8B030D-6E8A-4147-A177-3AD203B41FA5}">
                      <a16:colId xmlns:a16="http://schemas.microsoft.com/office/drawing/2014/main" val="3977174992"/>
                    </a:ext>
                  </a:extLst>
                </a:gridCol>
                <a:gridCol w="1393372">
                  <a:extLst>
                    <a:ext uri="{9D8B030D-6E8A-4147-A177-3AD203B41FA5}">
                      <a16:colId xmlns:a16="http://schemas.microsoft.com/office/drawing/2014/main" val="57339063"/>
                    </a:ext>
                  </a:extLst>
                </a:gridCol>
                <a:gridCol w="1393372">
                  <a:extLst>
                    <a:ext uri="{9D8B030D-6E8A-4147-A177-3AD203B41FA5}">
                      <a16:colId xmlns:a16="http://schemas.microsoft.com/office/drawing/2014/main" val="3961687218"/>
                    </a:ext>
                  </a:extLst>
                </a:gridCol>
                <a:gridCol w="1393372">
                  <a:extLst>
                    <a:ext uri="{9D8B030D-6E8A-4147-A177-3AD203B41FA5}">
                      <a16:colId xmlns:a16="http://schemas.microsoft.com/office/drawing/2014/main" val="185628602"/>
                    </a:ext>
                  </a:extLst>
                </a:gridCol>
                <a:gridCol w="2471900">
                  <a:extLst>
                    <a:ext uri="{9D8B030D-6E8A-4147-A177-3AD203B41FA5}">
                      <a16:colId xmlns:a16="http://schemas.microsoft.com/office/drawing/2014/main" val="32381786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2</a:t>
                      </a:r>
                      <a:r>
                        <a:rPr lang="en-US" sz="4000" b="1" baseline="30000" dirty="0">
                          <a:latin typeface="Aptos" panose="020B0004020202020204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2</a:t>
                      </a:r>
                      <a:r>
                        <a:rPr lang="en-US" sz="4000" b="1" baseline="30000" dirty="0"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2</a:t>
                      </a:r>
                      <a:r>
                        <a:rPr lang="en-US" sz="4000" b="1" baseline="30000" dirty="0"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2</a:t>
                      </a:r>
                      <a:r>
                        <a:rPr lang="en-US" sz="4000" b="1" baseline="30000" dirty="0"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2</a:t>
                      </a:r>
                      <a:r>
                        <a:rPr lang="en-US" sz="4000" b="1" baseline="30000" dirty="0">
                          <a:latin typeface="Aptos" panose="020B0004020202020204" pitchFamily="34" charset="0"/>
                        </a:rPr>
                        <a:t>-1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2</a:t>
                      </a:r>
                      <a:r>
                        <a:rPr lang="en-US" sz="4000" b="1" baseline="30000" dirty="0">
                          <a:latin typeface="Aptos" panose="020B0004020202020204" pitchFamily="34" charset="0"/>
                        </a:rPr>
                        <a:t>-2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2’C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3550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latin typeface="Aptos" panose="020B0004020202020204" pitchFamily="34" charset="0"/>
                        </a:rPr>
                        <a:t>-4.75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28680606"/>
                  </a:ext>
                </a:extLst>
              </a:tr>
            </a:tbl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56893A3-DFA5-43B9-B51B-446B2BC7EF16}"/>
              </a:ext>
            </a:extLst>
          </p:cNvPr>
          <p:cNvCxnSpPr/>
          <p:nvPr/>
        </p:nvCxnSpPr>
        <p:spPr>
          <a:xfrm>
            <a:off x="272563" y="3075067"/>
            <a:ext cx="1135338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9AAAC01-8AA2-4F27-A38A-254A3D48CBED}"/>
              </a:ext>
            </a:extLst>
          </p:cNvPr>
          <p:cNvCxnSpPr/>
          <p:nvPr/>
        </p:nvCxnSpPr>
        <p:spPr>
          <a:xfrm>
            <a:off x="342901" y="5186893"/>
            <a:ext cx="1135338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EE0CBA41-3108-4EF8-8588-DE245BD883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591" y="3590001"/>
            <a:ext cx="25074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800" b="1" u="sng" dirty="0">
                <a:solidFill>
                  <a:schemeClr val="accent1"/>
                </a:solidFill>
                <a:latin typeface="Aptos" panose="020B0004020202020204" pitchFamily="34" charset="0"/>
              </a:rPr>
              <a:t>decimal point 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F82DF98-8012-45EE-987A-C79B95CF15D9}"/>
              </a:ext>
            </a:extLst>
          </p:cNvPr>
          <p:cNvSpPr/>
          <p:nvPr/>
        </p:nvSpPr>
        <p:spPr>
          <a:xfrm>
            <a:off x="5712090" y="3377883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C209D1E-189C-4CA7-85F9-D0AC3073D518}"/>
              </a:ext>
            </a:extLst>
          </p:cNvPr>
          <p:cNvSpPr/>
          <p:nvPr/>
        </p:nvSpPr>
        <p:spPr>
          <a:xfrm>
            <a:off x="5712090" y="5562494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5B9941-CE16-41D8-ACB4-B3D7B49EC1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51886" y="5719085"/>
            <a:ext cx="17347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800" b="1" dirty="0">
                <a:solidFill>
                  <a:schemeClr val="accent1"/>
                </a:solidFill>
                <a:latin typeface="Aptos" panose="020B0004020202020204" pitchFamily="34" charset="0"/>
              </a:rPr>
              <a:t>(-8 + 3.25)</a:t>
            </a:r>
          </a:p>
        </p:txBody>
      </p:sp>
    </p:spTree>
    <p:extLst>
      <p:ext uri="{BB962C8B-B14F-4D97-AF65-F5344CB8AC3E}">
        <p14:creationId xmlns:p14="http://schemas.microsoft.com/office/powerpoint/2010/main" val="2836119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BF61D63-4167-241E-5B86-1E5A284DCA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4117845"/>
              </p:ext>
            </p:extLst>
          </p:nvPr>
        </p:nvGraphicFramePr>
        <p:xfrm>
          <a:off x="4432618" y="2029305"/>
          <a:ext cx="7311707" cy="310896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853882">
                  <a:extLst>
                    <a:ext uri="{9D8B030D-6E8A-4147-A177-3AD203B41FA5}">
                      <a16:colId xmlns:a16="http://schemas.microsoft.com/office/drawing/2014/main" val="4010558379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4121521303"/>
                    </a:ext>
                  </a:extLst>
                </a:gridCol>
                <a:gridCol w="2105025">
                  <a:extLst>
                    <a:ext uri="{9D8B030D-6E8A-4147-A177-3AD203B41FA5}">
                      <a16:colId xmlns:a16="http://schemas.microsoft.com/office/drawing/2014/main" val="21001702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latin typeface="Aptos Display" panose="020B0004020202020204" pitchFamily="34" charset="0"/>
                        </a:rPr>
                        <a:t>Operation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latin typeface="Aptos Display" panose="020B0004020202020204" pitchFamily="34" charset="0"/>
                        </a:rPr>
                        <a:t>Floating-point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latin typeface="Aptos Display" panose="020B0004020202020204" pitchFamily="34" charset="0"/>
                        </a:rPr>
                        <a:t>Fixed-point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99047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Aptos Display" panose="020B0004020202020204" pitchFamily="34" charset="0"/>
                        </a:rPr>
                        <a:t>Add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Aptos Display" panose="020B0004020202020204" pitchFamily="34" charset="0"/>
                        </a:rPr>
                        <a:t>align + normalize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Aptos Display" panose="020B0004020202020204" pitchFamily="34" charset="0"/>
                        </a:rPr>
                        <a:t>integer add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04354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Aptos Display" panose="020B0004020202020204" pitchFamily="34" charset="0"/>
                        </a:rPr>
                        <a:t>Mul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Aptos Display" panose="020B0004020202020204" pitchFamily="34" charset="0"/>
                        </a:rPr>
                        <a:t>mantissa × mantissa; exponent + exponent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Aptos Display" panose="020B0004020202020204" pitchFamily="34" charset="0"/>
                        </a:rPr>
                        <a:t>integer mul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3318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Aptos Display" panose="020B0004020202020204" pitchFamily="34" charset="0"/>
                        </a:rPr>
                        <a:t>Latency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>
                          <a:latin typeface="Aptos Display" panose="020B0004020202020204" pitchFamily="34" charset="0"/>
                        </a:rPr>
                        <a:t>Multi-cycle</a:t>
                      </a:r>
                      <a:endParaRPr lang="zh-CN" altLang="en-US" sz="24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Aptos Display" panose="020B0004020202020204" pitchFamily="34" charset="0"/>
                        </a:rPr>
                        <a:t>1–2 cycle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96185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Aptos Display" panose="020B0004020202020204" pitchFamily="34" charset="0"/>
                        </a:rPr>
                        <a:t>DSP usage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>
                          <a:latin typeface="Aptos Display" panose="020B0004020202020204" pitchFamily="34" charset="0"/>
                        </a:rPr>
                        <a:t>Very high</a:t>
                      </a:r>
                      <a:endParaRPr lang="zh-CN" altLang="en-US" sz="24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>
                          <a:latin typeface="Aptos Display" panose="020B0004020202020204" pitchFamily="34" charset="0"/>
                        </a:rPr>
                        <a:t>Very friendly</a:t>
                      </a:r>
                      <a:endParaRPr lang="zh-CN" altLang="en-US" sz="24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1723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Aptos Display" panose="020B0004020202020204" pitchFamily="34" charset="0"/>
                        </a:rPr>
                        <a:t>Pipeline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>
                          <a:latin typeface="Aptos Display" panose="020B0004020202020204" pitchFamily="34" charset="0"/>
                        </a:rPr>
                        <a:t>Challenging</a:t>
                      </a:r>
                      <a:endParaRPr lang="zh-CN" altLang="en-US" sz="24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>
                          <a:latin typeface="Aptos Display" panose="020B0004020202020204" pitchFamily="34" charset="0"/>
                        </a:rPr>
                        <a:t>Very</a:t>
                      </a:r>
                      <a:r>
                        <a:rPr lang="zh-CN" altLang="en-US" sz="2400" dirty="0">
                          <a:latin typeface="Aptos Display" panose="020B0004020202020204" pitchFamily="34" charset="0"/>
                        </a:rPr>
                        <a:t> </a:t>
                      </a:r>
                      <a:r>
                        <a:rPr lang="en-US" altLang="zh-CN" sz="2400" dirty="0">
                          <a:latin typeface="Aptos Display" panose="020B0004020202020204" pitchFamily="34" charset="0"/>
                        </a:rPr>
                        <a:t>friendly</a:t>
                      </a:r>
                      <a:endParaRPr lang="zh-CN" altLang="en-US" sz="2400" dirty="0"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323058273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3B02CF-339B-0E09-256C-90719DF33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D8C4A61-0C61-3652-FF64-A91EE11A0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Floating-Point vs Fixed-Point on FPGA</a:t>
            </a: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6D824998-6D8E-AE80-92C1-ABB86B2D867D}"/>
              </a:ext>
            </a:extLst>
          </p:cNvPr>
          <p:cNvSpPr txBox="1">
            <a:spLocks/>
          </p:cNvSpPr>
          <p:nvPr/>
        </p:nvSpPr>
        <p:spPr>
          <a:xfrm>
            <a:off x="342901" y="1226826"/>
            <a:ext cx="3924299" cy="49501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00041" indent="-400041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857229" indent="-400041" algn="l" defTabSz="914377" rtl="0" eaLnBrk="1" latinLnBrk="0" hangingPunct="1">
              <a:lnSpc>
                <a:spcPct val="100000"/>
              </a:lnSpc>
              <a:spcBef>
                <a:spcPts val="0"/>
              </a:spcBef>
              <a:buSzPct val="80000"/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  <a:lvl3pPr marL="1142971" indent="-28574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Corbel" panose="020B0503020204020204" pitchFamily="34" charset="0"/>
              <a:buChar char="‐"/>
              <a:defRPr sz="18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Floating-point requires: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Exponent alignment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Mantissa normalization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Extra control logic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Floating-point on FPGA: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High DSP usage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Multi-cycle latency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Harder to pipeline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Fixed-point </a:t>
            </a:r>
            <a:r>
              <a:rPr lang="en-US" altLang="zh-CN" dirty="0"/>
              <a:t>on FPGA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Integer arithmetic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Simple pipelines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Predictable latency</a:t>
            </a:r>
          </a:p>
        </p:txBody>
      </p:sp>
    </p:spTree>
    <p:extLst>
      <p:ext uri="{BB962C8B-B14F-4D97-AF65-F5344CB8AC3E}">
        <p14:creationId xmlns:p14="http://schemas.microsoft.com/office/powerpoint/2010/main" val="17865624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A61920-55FD-4FCA-B73F-551CF7931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EE8270F-2726-4466-9AD2-30D81B1B5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Fixed-Point Overflow and Underflow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C9D354D0-A4AA-46FD-9E69-101FD0CEF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1444021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accent1"/>
                </a:solidFill>
              </a:rPr>
              <a:t>Overflow</a:t>
            </a:r>
            <a:r>
              <a:rPr lang="en-US" sz="3200" dirty="0"/>
              <a:t>: happens at MSB</a:t>
            </a:r>
          </a:p>
          <a:p>
            <a:pPr lvl="1"/>
            <a:r>
              <a:rPr lang="en-US" sz="2800" dirty="0"/>
              <a:t>When a number is larger than the largest that can be represented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91728E-C635-42AE-A1C2-7B16D6598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44" y="2232205"/>
            <a:ext cx="10676040" cy="262555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6B87DAC-502A-4B8B-B693-960762F9C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7205" y="4257490"/>
            <a:ext cx="20291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b="1" dirty="0">
                <a:solidFill>
                  <a:schemeClr val="accent1"/>
                </a:solidFill>
                <a:latin typeface="Aptos" panose="020B0004020202020204" pitchFamily="34" charset="0"/>
              </a:rPr>
              <a:t>Drop MSB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DCF1415-C015-4839-B250-9B5CC64F5FA5}"/>
              </a:ext>
            </a:extLst>
          </p:cNvPr>
          <p:cNvSpPr/>
          <p:nvPr/>
        </p:nvSpPr>
        <p:spPr>
          <a:xfrm>
            <a:off x="2640066" y="3795968"/>
            <a:ext cx="422031" cy="523220"/>
          </a:xfrm>
          <a:prstGeom prst="ellipse">
            <a:avLst/>
          </a:prstGeom>
          <a:noFill/>
          <a:ln w="3810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92A3102-B1BB-4CE9-ABFC-3384E133ADF7}"/>
              </a:ext>
            </a:extLst>
          </p:cNvPr>
          <p:cNvSpPr/>
          <p:nvPr/>
        </p:nvSpPr>
        <p:spPr>
          <a:xfrm>
            <a:off x="9985747" y="4257490"/>
            <a:ext cx="1131834" cy="523220"/>
          </a:xfrm>
          <a:prstGeom prst="ellipse">
            <a:avLst/>
          </a:prstGeom>
          <a:noFill/>
          <a:ln w="3810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1">
            <a:extLst>
              <a:ext uri="{FF2B5EF4-FFF2-40B4-BE49-F238E27FC236}">
                <a16:creationId xmlns:a16="http://schemas.microsoft.com/office/drawing/2014/main" id="{6C4F5C86-0871-4BC7-87C6-8453647C244A}"/>
              </a:ext>
            </a:extLst>
          </p:cNvPr>
          <p:cNvSpPr txBox="1">
            <a:spLocks/>
          </p:cNvSpPr>
          <p:nvPr/>
        </p:nvSpPr>
        <p:spPr>
          <a:xfrm>
            <a:off x="342900" y="5155510"/>
            <a:ext cx="11849100" cy="14440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00041" indent="-400041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857229" indent="-400041" algn="l" defTabSz="914377" rtl="0" eaLnBrk="1" latinLnBrk="0" hangingPunct="1">
              <a:lnSpc>
                <a:spcPct val="100000"/>
              </a:lnSpc>
              <a:spcBef>
                <a:spcPts val="0"/>
              </a:spcBef>
              <a:buSzPct val="80000"/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2971" indent="-28574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Corbel" panose="020B0503020204020204" pitchFamily="34" charset="0"/>
              <a:buChar char="‐"/>
              <a:defRPr sz="18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chemeClr val="accent1"/>
                </a:solidFill>
                <a:latin typeface="Aptos" panose="020B0004020202020204" pitchFamily="34" charset="0"/>
              </a:rPr>
              <a:t>Underflow</a:t>
            </a:r>
            <a:r>
              <a:rPr lang="en-US" sz="3200" dirty="0">
                <a:latin typeface="Aptos" panose="020B0004020202020204" pitchFamily="34" charset="0"/>
              </a:rPr>
              <a:t>: happens at LSB</a:t>
            </a:r>
          </a:p>
          <a:p>
            <a:pPr lvl="1"/>
            <a:r>
              <a:rPr lang="en-US" sz="2800" dirty="0">
                <a:latin typeface="Aptos" panose="020B0004020202020204" pitchFamily="34" charset="0"/>
              </a:rPr>
              <a:t> When a number is smaller than the smallest that can be represented</a:t>
            </a:r>
          </a:p>
        </p:txBody>
      </p:sp>
    </p:spTree>
    <p:extLst>
      <p:ext uri="{BB962C8B-B14F-4D97-AF65-F5344CB8AC3E}">
        <p14:creationId xmlns:p14="http://schemas.microsoft.com/office/powerpoint/2010/main" val="2877922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A61920-55FD-4FCA-B73F-551CF7931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EE8270F-2726-4466-9AD2-30D81B1B5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Handling Overflow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C9D354D0-A4AA-46FD-9E69-101FD0CEF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1884674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Wrapping</a:t>
            </a:r>
            <a:r>
              <a:rPr lang="en-US" dirty="0"/>
              <a:t> is one common (&amp; efficient) way of handling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overflow</a:t>
            </a:r>
            <a:r>
              <a:rPr lang="en-US" dirty="0"/>
              <a:t>: drop the </a:t>
            </a:r>
            <a:r>
              <a:rPr lang="en-US" dirty="0">
                <a:solidFill>
                  <a:schemeClr val="accent1"/>
                </a:solidFill>
              </a:rPr>
              <a:t>MSBs </a:t>
            </a:r>
            <a:r>
              <a:rPr lang="en-US" dirty="0"/>
              <a:t>of the original number</a:t>
            </a:r>
          </a:p>
          <a:p>
            <a:pPr lvl="1"/>
            <a:r>
              <a:rPr lang="en-US" sz="2400" dirty="0"/>
              <a:t>But… may result in a totally wrong number</a:t>
            </a:r>
          </a:p>
          <a:p>
            <a:r>
              <a:rPr lang="en-US" dirty="0">
                <a:solidFill>
                  <a:schemeClr val="accent1"/>
                </a:solidFill>
              </a:rPr>
              <a:t>Saturation: </a:t>
            </a:r>
            <a:r>
              <a:rPr lang="en-US" dirty="0"/>
              <a:t>Overflow "saturates" to the maximum or minimum representable value</a:t>
            </a:r>
          </a:p>
          <a:p>
            <a:pPr lvl="1"/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1C3F87-5C96-4E73-B262-809226BB3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841" y="3429000"/>
            <a:ext cx="10721608" cy="229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684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20FF77-DD86-41AD-A8C3-2FA3AC004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96C5624-D71A-44A8-B089-7A36789DD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Overflow Modes in HLS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BA4E3C-21B6-47FF-B16E-D86BE7692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179" y="1088936"/>
            <a:ext cx="7215190" cy="178292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24961C63-E124-4A31-8CD6-2F3A4FECDF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17292" y="1070514"/>
            <a:ext cx="2300289" cy="7222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*</a:t>
            </a:r>
            <a:r>
              <a:rPr lang="en-US" sz="1800" dirty="0">
                <a:solidFill>
                  <a:schemeClr val="accent1"/>
                </a:solidFill>
              </a:rPr>
              <a:t>AP_SAT </a:t>
            </a:r>
            <a:r>
              <a:rPr lang="en-US" sz="1800" dirty="0"/>
              <a:t>Requires extra complex logic</a:t>
            </a:r>
            <a:endParaRPr lang="en-US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C9A500-4594-9D06-4275-5E80AEB97045}"/>
              </a:ext>
            </a:extLst>
          </p:cNvPr>
          <p:cNvSpPr txBox="1"/>
          <p:nvPr/>
        </p:nvSpPr>
        <p:spPr>
          <a:xfrm>
            <a:off x="494822" y="2136055"/>
            <a:ext cx="10172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  <a:latin typeface="Aptos" panose="020B0004020202020204" pitchFamily="34" charset="0"/>
              </a:rPr>
              <a:t>default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0C906E-998F-F5F0-01CB-0BCE21202C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1371" y="4496785"/>
            <a:ext cx="8580610" cy="18049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23733F9-4CCD-5E05-0C62-88EE02D6F4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0179" y="3005025"/>
            <a:ext cx="8246746" cy="1450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1646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62A75-9B51-E8F0-C974-9696A47C2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483707-0F99-198E-25AB-742C3269E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AF75813-F739-E8CC-CF76-3E0EFEBDD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Handling Overflow Manually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3883B268-1A2D-F0F7-06B8-17370A538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4373874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AP_SAT </a:t>
            </a:r>
            <a:r>
              <a:rPr lang="en-US" sz="2400" dirty="0"/>
              <a:t>requires extra complex logic (uses a lot of resource)</a:t>
            </a:r>
          </a:p>
          <a:p>
            <a:endParaRPr lang="en-US" dirty="0"/>
          </a:p>
          <a:p>
            <a:r>
              <a:rPr lang="en-US" sz="2400" dirty="0"/>
              <a:t>Manually handle overflow examples:</a:t>
            </a:r>
          </a:p>
          <a:p>
            <a:pPr lvl="1"/>
            <a:r>
              <a:rPr lang="en-US" dirty="0"/>
              <a:t>Explicit clipping</a:t>
            </a:r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r>
              <a:rPr lang="en-US" dirty="0"/>
              <a:t>Use larger </a:t>
            </a:r>
            <a:r>
              <a:rPr lang="en-US" dirty="0" err="1"/>
              <a:t>bitwidth</a:t>
            </a:r>
            <a:r>
              <a:rPr lang="en-US" dirty="0"/>
              <a:t>, e.g., larger W</a:t>
            </a:r>
          </a:p>
          <a:p>
            <a:pPr lvl="1"/>
            <a:r>
              <a:rPr lang="en-US" dirty="0"/>
              <a:t>Rescaling beforehand – do a comprehensive data range analysis</a:t>
            </a:r>
          </a:p>
          <a:p>
            <a:pPr lvl="1"/>
            <a:r>
              <a:rPr lang="en-US" dirty="0"/>
              <a:t>Ignore it if only happen rarely – in error-resilient algorithms, e.g., machine learning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D6149A-3BBD-B0A8-1920-6FF010F9B8CD}"/>
              </a:ext>
            </a:extLst>
          </p:cNvPr>
          <p:cNvSpPr txBox="1"/>
          <p:nvPr/>
        </p:nvSpPr>
        <p:spPr>
          <a:xfrm>
            <a:off x="3227187" y="2405620"/>
            <a:ext cx="7181256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</a:rPr>
              <a:t>float a = 176.18793;</a:t>
            </a:r>
          </a:p>
          <a:p>
            <a:r>
              <a:rPr lang="en-US" sz="1600" dirty="0" err="1">
                <a:latin typeface="Consolas" panose="020B0609020204030204" pitchFamily="49" charset="0"/>
              </a:rPr>
              <a:t>ap_fixed</a:t>
            </a:r>
            <a:r>
              <a:rPr lang="en-US" sz="1600" dirty="0">
                <a:latin typeface="Consolas" panose="020B0609020204030204" pitchFamily="49" charset="0"/>
              </a:rPr>
              <a:t>&lt;W, I&gt; var = if (a &gt; xxx ) ? </a:t>
            </a:r>
            <a:r>
              <a:rPr lang="en-US" sz="1600" dirty="0" err="1">
                <a:latin typeface="Consolas" panose="020B0609020204030204" pitchFamily="49" charset="0"/>
              </a:rPr>
              <a:t>clip_value</a:t>
            </a:r>
            <a:r>
              <a:rPr lang="en-US" sz="1600" dirty="0">
                <a:latin typeface="Consolas" panose="020B0609020204030204" pitchFamily="49" charset="0"/>
              </a:rPr>
              <a:t> : zzz;</a:t>
            </a:r>
          </a:p>
        </p:txBody>
      </p:sp>
    </p:spTree>
    <p:extLst>
      <p:ext uri="{BB962C8B-B14F-4D97-AF65-F5344CB8AC3E}">
        <p14:creationId xmlns:p14="http://schemas.microsoft.com/office/powerpoint/2010/main" val="27354578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2E27F49-5410-4C19-A189-97A7E4988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Rounding</a:t>
            </a:r>
            <a:r>
              <a:rPr lang="en-US" dirty="0"/>
              <a:t>: when a number cannot be represented precisely in a given number of fractional bits (also called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quantization</a:t>
            </a:r>
            <a:r>
              <a:rPr lang="en-US" dirty="0"/>
              <a:t>)</a:t>
            </a:r>
          </a:p>
          <a:p>
            <a:r>
              <a:rPr lang="en-US" dirty="0">
                <a:solidFill>
                  <a:schemeClr val="accent1"/>
                </a:solidFill>
              </a:rPr>
              <a:t>Rounding down </a:t>
            </a:r>
            <a:r>
              <a:rPr lang="en-US" dirty="0"/>
              <a:t>(round to negative infinity): drop the extra fractional bits (</a:t>
            </a:r>
            <a:r>
              <a:rPr lang="en-US" dirty="0">
                <a:solidFill>
                  <a:schemeClr val="accent1"/>
                </a:solidFill>
              </a:rPr>
              <a:t>LSBs</a:t>
            </a:r>
            <a:r>
              <a:rPr lang="en-US" dirty="0"/>
              <a:t>)</a:t>
            </a:r>
          </a:p>
          <a:p>
            <a:pPr lvl="1"/>
            <a:r>
              <a:rPr lang="en-US" sz="2400" dirty="0"/>
              <a:t>Result in numbers that are more negative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884038-A827-4A30-88ED-2EBF5DA60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968123F-082B-4CA4-97C5-932144161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Handling Underflow – Rounding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7B1E854-C494-4636-8913-DA21ECB4AF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084"/>
          <a:stretch/>
        </p:blipFill>
        <p:spPr>
          <a:xfrm>
            <a:off x="2187502" y="2771321"/>
            <a:ext cx="7695435" cy="3496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4008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2E27F49-5410-4C19-A189-97A7E4988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Rounding to nearest even</a:t>
            </a:r>
            <a:r>
              <a:rPr lang="en-US" dirty="0"/>
              <a:t>: always picks the nearest representable number</a:t>
            </a:r>
          </a:p>
          <a:p>
            <a:pPr lvl="1"/>
            <a:r>
              <a:rPr lang="en-US" sz="2400" dirty="0"/>
              <a:t>Minimizes rounding errors</a:t>
            </a:r>
          </a:p>
          <a:p>
            <a:pPr lvl="1"/>
            <a:r>
              <a:rPr lang="en-US" sz="2400" dirty="0"/>
              <a:t>Error tends to </a:t>
            </a:r>
            <a:r>
              <a:rPr lang="en-US" sz="2400" b="1" dirty="0">
                <a:solidFill>
                  <a:schemeClr val="accent1"/>
                </a:solidFill>
              </a:rPr>
              <a:t>cancel out </a:t>
            </a:r>
            <a:r>
              <a:rPr lang="en-US" sz="2400" dirty="0"/>
              <a:t>when computing sums – </a:t>
            </a:r>
            <a:r>
              <a:rPr lang="en-US" sz="2400" b="1" dirty="0">
                <a:solidFill>
                  <a:schemeClr val="accent1"/>
                </a:solidFill>
              </a:rPr>
              <a:t>unbiased rounding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884038-A827-4A30-88ED-2EBF5DA60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968123F-082B-4CA4-97C5-932144161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Handling Underflow – Rounding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7B4901-7AD9-4699-8FA3-03E03664A9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336" y="2534779"/>
            <a:ext cx="8259328" cy="3848637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FBAB6EF-AF1C-43EB-A0D1-FE992EF74953}"/>
              </a:ext>
            </a:extLst>
          </p:cNvPr>
          <p:cNvCxnSpPr>
            <a:cxnSpLocks/>
          </p:cNvCxnSpPr>
          <p:nvPr/>
        </p:nvCxnSpPr>
        <p:spPr>
          <a:xfrm>
            <a:off x="1966336" y="3348111"/>
            <a:ext cx="787087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6180E34-C0A5-4CD1-8A30-497ACDEDEC11}"/>
              </a:ext>
            </a:extLst>
          </p:cNvPr>
          <p:cNvCxnSpPr>
            <a:cxnSpLocks/>
          </p:cNvCxnSpPr>
          <p:nvPr/>
        </p:nvCxnSpPr>
        <p:spPr>
          <a:xfrm>
            <a:off x="1966336" y="4063218"/>
            <a:ext cx="787087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0A26E75E-13C6-49BB-AE92-18F6DE059A2F}"/>
              </a:ext>
            </a:extLst>
          </p:cNvPr>
          <p:cNvSpPr txBox="1">
            <a:spLocks/>
          </p:cNvSpPr>
          <p:nvPr/>
        </p:nvSpPr>
        <p:spPr>
          <a:xfrm>
            <a:off x="9837209" y="3098610"/>
            <a:ext cx="1761603" cy="48161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400041" indent="-400041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857229" indent="-400041" algn="l" defTabSz="914377" rtl="0" eaLnBrk="1" latinLnBrk="0" hangingPunct="1">
              <a:lnSpc>
                <a:spcPct val="100000"/>
              </a:lnSpc>
              <a:spcBef>
                <a:spcPts val="0"/>
              </a:spcBef>
              <a:buSzPct val="80000"/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2971" indent="-28574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Corbel" panose="020B0503020204020204" pitchFamily="34" charset="0"/>
              <a:buChar char="‐"/>
              <a:defRPr sz="18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latin typeface="Aptos" panose="020B0004020202020204" pitchFamily="34" charset="0"/>
              </a:rPr>
              <a:t>Goes larger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11" name="Content Placeholder 1">
            <a:extLst>
              <a:ext uri="{FF2B5EF4-FFF2-40B4-BE49-F238E27FC236}">
                <a16:creationId xmlns:a16="http://schemas.microsoft.com/office/drawing/2014/main" id="{1C9EE0C5-6A5C-4428-8706-6AEDFE0AD5C8}"/>
              </a:ext>
            </a:extLst>
          </p:cNvPr>
          <p:cNvSpPr txBox="1">
            <a:spLocks/>
          </p:cNvSpPr>
          <p:nvPr/>
        </p:nvSpPr>
        <p:spPr>
          <a:xfrm>
            <a:off x="9873488" y="3822409"/>
            <a:ext cx="2034814" cy="4816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00041" indent="-400041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857229" indent="-400041" algn="l" defTabSz="914377" rtl="0" eaLnBrk="1" latinLnBrk="0" hangingPunct="1">
              <a:lnSpc>
                <a:spcPct val="100000"/>
              </a:lnSpc>
              <a:spcBef>
                <a:spcPts val="0"/>
              </a:spcBef>
              <a:buSzPct val="80000"/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2971" indent="-28574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Corbel" panose="020B0503020204020204" pitchFamily="34" charset="0"/>
              <a:buChar char="‐"/>
              <a:defRPr sz="18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latin typeface="Aptos" panose="020B0004020202020204" pitchFamily="34" charset="0"/>
              </a:rPr>
              <a:t>Goes smaller</a:t>
            </a:r>
            <a:endParaRPr lang="en-US" sz="24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45742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20FF77-DD86-41AD-A8C3-2FA3AC004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96C5624-D71A-44A8-B089-7A36789DD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Quantization Modes in HLS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8EF219-13CF-4ADB-819F-00DC898686E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425"/>
          <a:stretch/>
        </p:blipFill>
        <p:spPr>
          <a:xfrm>
            <a:off x="2309411" y="1110499"/>
            <a:ext cx="7129656" cy="223992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AE798D9-75A2-BCC9-107F-3A75A3A01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9100" y="3595597"/>
            <a:ext cx="8487960" cy="8097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892249-058D-9DBF-D6A1-E1650C9B51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9100" y="4405335"/>
            <a:ext cx="9116697" cy="9431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D25D669-594E-2F5B-6C59-C6ED4F0363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9100" y="5348442"/>
            <a:ext cx="8449854" cy="92405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BAA9222-1A9A-0A20-39A2-2E7108EFE1DD}"/>
              </a:ext>
            </a:extLst>
          </p:cNvPr>
          <p:cNvSpPr txBox="1"/>
          <p:nvPr/>
        </p:nvSpPr>
        <p:spPr>
          <a:xfrm>
            <a:off x="1332862" y="2652490"/>
            <a:ext cx="10172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  <a:latin typeface="Aptos" panose="020B0004020202020204" pitchFamily="34" charset="0"/>
              </a:rPr>
              <a:t>default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3730F7-445C-AF26-5694-45A31CD3B1E8}"/>
              </a:ext>
            </a:extLst>
          </p:cNvPr>
          <p:cNvSpPr txBox="1"/>
          <p:nvPr/>
        </p:nvSpPr>
        <p:spPr>
          <a:xfrm>
            <a:off x="8142088" y="2360529"/>
            <a:ext cx="12969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(to nearest)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93037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27CE024-3316-449C-BAC0-5A361E521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Pros</a:t>
            </a:r>
          </a:p>
          <a:p>
            <a:pPr lvl="1"/>
            <a:r>
              <a:rPr lang="en-US" sz="2800" dirty="0"/>
              <a:t>Low memory, low resource (DSP, peripheral logic), low latency</a:t>
            </a:r>
          </a:p>
          <a:p>
            <a:r>
              <a:rPr lang="en-US" altLang="zh-CN" sz="3200" dirty="0"/>
              <a:t>Cons</a:t>
            </a:r>
          </a:p>
          <a:p>
            <a:pPr lvl="1"/>
            <a:r>
              <a:rPr lang="en-US" sz="2800" dirty="0"/>
              <a:t>Uncertain accuracy</a:t>
            </a:r>
          </a:p>
          <a:p>
            <a:pPr lvl="1"/>
            <a:endParaRPr lang="en-US" sz="2800" dirty="0"/>
          </a:p>
          <a:p>
            <a:r>
              <a:rPr lang="en-US" sz="3200" dirty="0"/>
              <a:t>Vitis HLS can also synthesize floating point </a:t>
            </a:r>
          </a:p>
          <a:p>
            <a:pPr lvl="1"/>
            <a:r>
              <a:rPr lang="en-US" sz="2800" dirty="0"/>
              <a:t>Requires significant amount of computation </a:t>
            </a:r>
            <a:r>
              <a:rPr lang="zh-CN" altLang="en-US" sz="2800" dirty="0"/>
              <a:t>→ </a:t>
            </a:r>
            <a:r>
              <a:rPr lang="en-US" sz="2800" dirty="0"/>
              <a:t>a large amount of resource usage and many cycles of latency</a:t>
            </a:r>
          </a:p>
          <a:p>
            <a:pPr lvl="1"/>
            <a:r>
              <a:rPr lang="en-US" altLang="zh-CN" sz="2800" dirty="0"/>
              <a:t>F</a:t>
            </a:r>
            <a:r>
              <a:rPr lang="en-US" sz="2800" dirty="0"/>
              <a:t>loating point numbers should be avoided unless absolutely necessary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F71469-4DC4-444A-969F-BEA977AD1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AB7B7D1-C832-4481-9709-5DD960146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Pros and Cons of Fixed Point</a:t>
            </a:r>
          </a:p>
        </p:txBody>
      </p:sp>
    </p:spTree>
    <p:extLst>
      <p:ext uri="{BB962C8B-B14F-4D97-AF65-F5344CB8AC3E}">
        <p14:creationId xmlns:p14="http://schemas.microsoft.com/office/powerpoint/2010/main" val="27779193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DFECF0B-72C3-5B12-0ACE-4BFD1F726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5"/>
            <a:ext cx="11486417" cy="504538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Representation</a:t>
            </a:r>
            <a:r>
              <a:rPr lang="en-US" dirty="0"/>
              <a:t> is fine, but when comes to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computation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Intermediate results, especially </a:t>
            </a:r>
            <a:r>
              <a:rPr lang="en-US" b="1" dirty="0">
                <a:solidFill>
                  <a:schemeClr val="accent1"/>
                </a:solidFill>
              </a:rPr>
              <a:t>accumulations</a:t>
            </a:r>
            <a:r>
              <a:rPr lang="en-US" dirty="0"/>
              <a:t>, matter </a:t>
            </a:r>
            <a:r>
              <a:rPr lang="en-US" b="1" dirty="0">
                <a:solidFill>
                  <a:schemeClr val="accent1"/>
                </a:solidFill>
              </a:rPr>
              <a:t>a lot</a:t>
            </a:r>
          </a:p>
          <a:p>
            <a:pPr lvl="1"/>
            <a:r>
              <a:rPr lang="en-US" dirty="0"/>
              <a:t>Usually use a larger precision for accumulation</a:t>
            </a:r>
          </a:p>
          <a:p>
            <a:pPr lvl="1"/>
            <a:r>
              <a:rPr lang="en-US" dirty="0"/>
              <a:t>Maybe other cases</a:t>
            </a:r>
          </a:p>
          <a:p>
            <a:pPr lvl="1"/>
            <a:endParaRPr lang="en-US" dirty="0"/>
          </a:p>
          <a:p>
            <a:r>
              <a:rPr lang="en-US" dirty="0"/>
              <a:t>Accumulation error grows with:</a:t>
            </a:r>
          </a:p>
          <a:p>
            <a:pPr lvl="1"/>
            <a:r>
              <a:rPr lang="en-US" dirty="0"/>
              <a:t>Loop trip count</a:t>
            </a:r>
          </a:p>
          <a:p>
            <a:pPr lvl="1"/>
            <a:r>
              <a:rPr lang="en-US" dirty="0"/>
              <a:t>Reduction (accumulation) depth</a:t>
            </a:r>
          </a:p>
          <a:p>
            <a:pPr lvl="1"/>
            <a:r>
              <a:rPr lang="en-US" b="1" dirty="0"/>
              <a:t>Sum overflows</a:t>
            </a:r>
          </a:p>
          <a:p>
            <a:pPr lvl="1"/>
            <a:endParaRPr lang="en-US" dirty="0"/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8-bit × 8-bit → 16-bit product</a:t>
            </a:r>
          </a:p>
          <a:p>
            <a:pPr lvl="1"/>
            <a:r>
              <a:rPr lang="en-US" dirty="0"/>
              <a:t>Accumulating 256 terms → needs +8 bits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FDD9E1-2C44-8BF7-53CA-C952DBD4D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0DD88B5-E187-C239-928D-D42A63DAE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Pitfalls of using Fixed-Point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34B0C4-8FBA-EE5D-893B-962D9DFD0489}"/>
              </a:ext>
            </a:extLst>
          </p:cNvPr>
          <p:cNvSpPr txBox="1"/>
          <p:nvPr/>
        </p:nvSpPr>
        <p:spPr>
          <a:xfrm>
            <a:off x="6086109" y="3020457"/>
            <a:ext cx="5648325" cy="26765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for (int i = 0; i &lt; N; i++) { </a:t>
            </a:r>
          </a:p>
          <a:p>
            <a:r>
              <a:rPr lang="en-US" dirty="0">
                <a:latin typeface="Consolas" panose="020B0609020204030204" pitchFamily="49" charset="0"/>
              </a:rPr>
              <a:t>    for (int j = 0; j &lt; N; </a:t>
            </a:r>
            <a:r>
              <a:rPr lang="en-US" dirty="0" err="1">
                <a:latin typeface="Consolas" panose="020B0609020204030204" pitchFamily="49" charset="0"/>
              </a:rPr>
              <a:t>j++</a:t>
            </a:r>
            <a:r>
              <a:rPr lang="en-US" dirty="0">
                <a:latin typeface="Consolas" panose="020B0609020204030204" pitchFamily="49" charset="0"/>
              </a:rPr>
              <a:t>) { </a:t>
            </a:r>
          </a:p>
          <a:p>
            <a:r>
              <a:rPr lang="en-US" dirty="0">
                <a:latin typeface="Consolas" panose="020B0609020204030204" pitchFamily="49" charset="0"/>
              </a:rPr>
              <a:t>        </a:t>
            </a:r>
            <a:r>
              <a:rPr lang="en-US" b="1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ap_fixed_higher_precision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sum = 0; </a:t>
            </a:r>
          </a:p>
          <a:p>
            <a:r>
              <a:rPr lang="en-US" dirty="0">
                <a:latin typeface="Consolas" panose="020B0609020204030204" pitchFamily="49" charset="0"/>
              </a:rPr>
              <a:t>        for (int k = 0; k &lt; N; k++) { </a:t>
            </a:r>
          </a:p>
          <a:p>
            <a:r>
              <a:rPr lang="en-US" dirty="0">
                <a:latin typeface="Consolas" panose="020B0609020204030204" pitchFamily="49" charset="0"/>
              </a:rPr>
              <a:t>           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sum += A[i][k] * B[k][j]; </a:t>
            </a:r>
          </a:p>
          <a:p>
            <a:r>
              <a:rPr lang="en-US" dirty="0">
                <a:latin typeface="Consolas" panose="020B0609020204030204" pitchFamily="49" charset="0"/>
              </a:rPr>
              <a:t>        }  </a:t>
            </a:r>
          </a:p>
          <a:p>
            <a:r>
              <a:rPr lang="en-US" dirty="0">
                <a:latin typeface="Consolas" panose="020B0609020204030204" pitchFamily="49" charset="0"/>
              </a:rPr>
              <a:t>    } </a:t>
            </a:r>
          </a:p>
          <a:p>
            <a:r>
              <a:rPr lang="en-US" dirty="0">
                <a:latin typeface="Consolas" panose="020B0609020204030204" pitchFamily="49" charset="0"/>
              </a:rPr>
              <a:t>    C[i][j] = sum;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615726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C843E4-E4F5-4C3F-86F2-AA806F203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dirty="0"/>
              <a:t>Floating-point and fixed-point representations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chemeClr val="accent1"/>
                </a:solidFill>
              </a:rPr>
              <a:t>Data quantization in Machine Learning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819D5A-1868-4E0F-BF6E-7129C5464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B486C48-B3C5-418A-B823-206BFA71A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23155527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49327FA-7018-47E0-BF11-FA3E6CBC1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Why do we care?</a:t>
            </a:r>
          </a:p>
          <a:p>
            <a:pPr lvl="1"/>
            <a:r>
              <a:rPr lang="en-US" sz="2800" dirty="0"/>
              <a:t>Faster, smaller, easier!</a:t>
            </a:r>
          </a:p>
          <a:p>
            <a:endParaRPr lang="en-US" sz="3200" dirty="0"/>
          </a:p>
          <a:p>
            <a:r>
              <a:rPr lang="en-US" sz="3200" i="0" dirty="0">
                <a:effectLst/>
              </a:rPr>
              <a:t>Why does it work?</a:t>
            </a:r>
          </a:p>
          <a:p>
            <a:endParaRPr lang="en-US" sz="3200" i="0" dirty="0">
              <a:effectLst/>
            </a:endParaRPr>
          </a:p>
          <a:p>
            <a:r>
              <a:rPr lang="en-US" sz="3200" i="0" dirty="0">
                <a:effectLst/>
              </a:rPr>
              <a:t>Quantization Methods</a:t>
            </a:r>
          </a:p>
          <a:p>
            <a:pPr lvl="1"/>
            <a:r>
              <a:rPr lang="en-US" sz="2800" dirty="0"/>
              <a:t>Fixed-point </a:t>
            </a:r>
          </a:p>
          <a:p>
            <a:pPr lvl="1"/>
            <a:r>
              <a:rPr lang="en-US" sz="2800" i="0" dirty="0">
                <a:effectLst/>
              </a:rPr>
              <a:t>Integer</a:t>
            </a:r>
          </a:p>
          <a:p>
            <a:endParaRPr 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3D675F-96A2-48ED-AB8B-D1015A811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285519E-FCDF-43EB-BA2C-EB2083EF8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Quantization for Machine Learning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2167C5-AA5C-4D07-B855-5F277BE069F7}"/>
              </a:ext>
            </a:extLst>
          </p:cNvPr>
          <p:cNvSpPr txBox="1"/>
          <p:nvPr/>
        </p:nvSpPr>
        <p:spPr>
          <a:xfrm>
            <a:off x="212774" y="6155862"/>
            <a:ext cx="61510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latin typeface="Aptos" panose="020B0004020202020204" pitchFamily="34" charset="0"/>
              </a:rPr>
              <a:t>Reference: https://sahnimanas.github.io/post/quantization-in-tflite/</a:t>
            </a:r>
          </a:p>
        </p:txBody>
      </p:sp>
    </p:spTree>
    <p:extLst>
      <p:ext uri="{BB962C8B-B14F-4D97-AF65-F5344CB8AC3E}">
        <p14:creationId xmlns:p14="http://schemas.microsoft.com/office/powerpoint/2010/main" val="40869263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701ABC0-3359-4D23-8939-A352768EDF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1678152"/>
          </a:xfrm>
        </p:spPr>
        <p:txBody>
          <a:bodyPr/>
          <a:lstStyle/>
          <a:p>
            <a:r>
              <a:rPr lang="en-US" dirty="0"/>
              <a:t>DNNs are known to be robust to noise and small perturbations once trained</a:t>
            </a:r>
          </a:p>
          <a:p>
            <a:pPr lvl="1"/>
            <a:r>
              <a:rPr lang="en-US" dirty="0"/>
              <a:t>80% chance to be a dog? 75% chance to be a dog? Still a dog!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FC7B20-9928-413F-AABF-DD3AAE615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73F39DE-2005-4DAF-BBE2-7BD21F97D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Does Quantization Work for ML?</a:t>
            </a:r>
          </a:p>
        </p:txBody>
      </p:sp>
      <p:pic>
        <p:nvPicPr>
          <p:cNvPr id="1026" name="Picture 2" descr="Nvidia DIGITS — An Easy Way to Get Started with Deep Learning – The New  Stack">
            <a:extLst>
              <a:ext uri="{FF2B5EF4-FFF2-40B4-BE49-F238E27FC236}">
                <a16:creationId xmlns:a16="http://schemas.microsoft.com/office/drawing/2014/main" id="{C73CBEDC-8D1F-49AA-B79C-AD3C03B85A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92"/>
          <a:stretch/>
        </p:blipFill>
        <p:spPr bwMode="auto">
          <a:xfrm>
            <a:off x="2724150" y="2366066"/>
            <a:ext cx="4780281" cy="3423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9DE2CD8-173E-472F-B8B4-37DA46054D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86" y="3199848"/>
            <a:ext cx="2022233" cy="18153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1A986C-9371-4E25-906B-FA6CE56D0687}"/>
              </a:ext>
            </a:extLst>
          </p:cNvPr>
          <p:cNvSpPr txBox="1"/>
          <p:nvPr/>
        </p:nvSpPr>
        <p:spPr>
          <a:xfrm>
            <a:off x="7236910" y="2692636"/>
            <a:ext cx="14359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 b="1">
                <a:latin typeface="Corbel" panose="020B0503020204020204" pitchFamily="34" charset="0"/>
              </a:defRPr>
            </a:lvl1pPr>
          </a:lstStyle>
          <a:p>
            <a:r>
              <a:rPr lang="en-US" dirty="0">
                <a:latin typeface="Aptos" panose="020B0004020202020204" pitchFamily="34" charset="0"/>
              </a:rPr>
              <a:t>Cat: 0.1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A35783-1E3D-4C51-B2C2-798D5AE3B484}"/>
              </a:ext>
            </a:extLst>
          </p:cNvPr>
          <p:cNvSpPr txBox="1"/>
          <p:nvPr/>
        </p:nvSpPr>
        <p:spPr>
          <a:xfrm>
            <a:off x="7236910" y="3388838"/>
            <a:ext cx="14959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Aptos" panose="020B0004020202020204" pitchFamily="34" charset="0"/>
              </a:rPr>
              <a:t>Dog: 0.7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6CFDD3-684A-40D3-8790-BD880765EC92}"/>
              </a:ext>
            </a:extLst>
          </p:cNvPr>
          <p:cNvSpPr txBox="1"/>
          <p:nvPr/>
        </p:nvSpPr>
        <p:spPr>
          <a:xfrm>
            <a:off x="7236910" y="4143238"/>
            <a:ext cx="15159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ptos" panose="020B0004020202020204" pitchFamily="34" charset="0"/>
              </a:rPr>
              <a:t>Bird: 0.1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D70A2D-B20E-478A-B7B0-8654007ADA63}"/>
              </a:ext>
            </a:extLst>
          </p:cNvPr>
          <p:cNvSpPr txBox="1"/>
          <p:nvPr/>
        </p:nvSpPr>
        <p:spPr>
          <a:xfrm>
            <a:off x="7236910" y="4919139"/>
            <a:ext cx="18589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ptos" panose="020B0004020202020204" pitchFamily="34" charset="0"/>
              </a:rPr>
              <a:t>Parrot: 0.1</a:t>
            </a:r>
          </a:p>
        </p:txBody>
      </p:sp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903A0139-91C1-4293-B436-718C17E066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08788" y="3298087"/>
            <a:ext cx="683221" cy="683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6746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701ABC0-3359-4D23-8939-A352768EDF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1678152"/>
          </a:xfrm>
        </p:spPr>
        <p:txBody>
          <a:bodyPr/>
          <a:lstStyle/>
          <a:p>
            <a:r>
              <a:rPr lang="en-US" dirty="0"/>
              <a:t>DNNs are known to be robust to noise and small perturbations once trained</a:t>
            </a:r>
          </a:p>
          <a:p>
            <a:pPr lvl="1"/>
            <a:r>
              <a:rPr lang="en-US" dirty="0"/>
              <a:t>80% chance to be a cat? 75% chance to be a cat? Still a cat!</a:t>
            </a:r>
          </a:p>
          <a:p>
            <a:r>
              <a:rPr lang="en-US" dirty="0"/>
              <a:t>Weights and activations often tend to lie in a small range</a:t>
            </a:r>
          </a:p>
          <a:p>
            <a:pPr lvl="1"/>
            <a:r>
              <a:rPr lang="en-US" dirty="0"/>
              <a:t>Can be estimated beforehand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FC7B20-9928-413F-AABF-DD3AAE615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73F39DE-2005-4DAF-BBE2-7BD21F97D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Does Quantization Work for ML?</a:t>
            </a:r>
          </a:p>
        </p:txBody>
      </p:sp>
      <p:pic>
        <p:nvPicPr>
          <p:cNvPr id="2050" name="Picture 2" descr="weights_quant">
            <a:extLst>
              <a:ext uri="{FF2B5EF4-FFF2-40B4-BE49-F238E27FC236}">
                <a16:creationId xmlns:a16="http://schemas.microsoft.com/office/drawing/2014/main" id="{AEB33EB1-DA0E-4B2B-9ADD-2143C29F44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040" y="2628539"/>
            <a:ext cx="8734792" cy="3686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29668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564ED86-6A3B-4CD1-8147-D9F668D67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3627108"/>
          </a:xfrm>
        </p:spPr>
        <p:txBody>
          <a:bodyPr>
            <a:normAutofit/>
          </a:bodyPr>
          <a:lstStyle/>
          <a:p>
            <a:r>
              <a:rPr lang="en-US" sz="2800" dirty="0"/>
              <a:t>Using </a:t>
            </a:r>
            <a:r>
              <a:rPr lang="en-US" sz="2800" dirty="0">
                <a:solidFill>
                  <a:schemeClr val="accent1"/>
                </a:solidFill>
              </a:rPr>
              <a:t>fixed-point</a:t>
            </a:r>
            <a:r>
              <a:rPr lang="en-US" sz="2800" dirty="0"/>
              <a:t> instead of floating point: most widely used in HLS</a:t>
            </a:r>
          </a:p>
          <a:p>
            <a:pPr lvl="1"/>
            <a:endParaRPr lang="en-US" sz="2800" dirty="0"/>
          </a:p>
          <a:p>
            <a:r>
              <a:rPr lang="en-US" sz="2800" dirty="0">
                <a:solidFill>
                  <a:schemeClr val="accent1"/>
                </a:solidFill>
              </a:rPr>
              <a:t>Drawback</a:t>
            </a:r>
            <a:r>
              <a:rPr lang="en-US" sz="2800" dirty="0"/>
              <a:t>: doesn’t work well for low bit-width, e.g., &lt; 8-bit</a:t>
            </a:r>
          </a:p>
          <a:p>
            <a:pPr lvl="1"/>
            <a:r>
              <a:rPr lang="en-US" sz="2400" dirty="0"/>
              <a:t>The range of the represented number is strictly limited by </a:t>
            </a:r>
            <a:r>
              <a:rPr lang="en-US" sz="2400" b="1" dirty="0">
                <a:solidFill>
                  <a:schemeClr val="accent1"/>
                </a:solidFill>
              </a:rPr>
              <a:t>W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chemeClr val="accent1"/>
                </a:solidFill>
              </a:rPr>
              <a:t>I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2554FF-7ABF-4988-B524-B5C16B148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F1DDF0F-D7ED-419C-AF26-3907608BC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Quantization Method 1 – Fixed Point</a:t>
            </a:r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544E862F-0579-41FB-B04D-844DC83F19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1173895"/>
              </p:ext>
            </p:extLst>
          </p:nvPr>
        </p:nvGraphicFramePr>
        <p:xfrm>
          <a:off x="7653576" y="3429000"/>
          <a:ext cx="3551616" cy="5307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7904">
                  <a:extLst>
                    <a:ext uri="{9D8B030D-6E8A-4147-A177-3AD203B41FA5}">
                      <a16:colId xmlns:a16="http://schemas.microsoft.com/office/drawing/2014/main" val="3985743533"/>
                    </a:ext>
                  </a:extLst>
                </a:gridCol>
                <a:gridCol w="887904">
                  <a:extLst>
                    <a:ext uri="{9D8B030D-6E8A-4147-A177-3AD203B41FA5}">
                      <a16:colId xmlns:a16="http://schemas.microsoft.com/office/drawing/2014/main" val="4018550502"/>
                    </a:ext>
                  </a:extLst>
                </a:gridCol>
                <a:gridCol w="887904">
                  <a:extLst>
                    <a:ext uri="{9D8B030D-6E8A-4147-A177-3AD203B41FA5}">
                      <a16:colId xmlns:a16="http://schemas.microsoft.com/office/drawing/2014/main" val="3977174992"/>
                    </a:ext>
                  </a:extLst>
                </a:gridCol>
                <a:gridCol w="887904">
                  <a:extLst>
                    <a:ext uri="{9D8B030D-6E8A-4147-A177-3AD203B41FA5}">
                      <a16:colId xmlns:a16="http://schemas.microsoft.com/office/drawing/2014/main" val="57339063"/>
                    </a:ext>
                  </a:extLst>
                </a:gridCol>
              </a:tblGrid>
              <a:tr h="530735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Aptos" panose="020B0004020202020204" pitchFamily="34" charset="0"/>
                        </a:rPr>
                        <a:t>sign</a:t>
                      </a:r>
                      <a:endParaRPr lang="en-US" sz="2400" b="1" baseline="30000" dirty="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Aptos" panose="020B0004020202020204" pitchFamily="34" charset="0"/>
                        </a:rPr>
                        <a:t>b2</a:t>
                      </a:r>
                      <a:endParaRPr lang="en-US" sz="2400" b="1" baseline="30000" dirty="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latin typeface="Aptos" panose="020B0004020202020204" pitchFamily="34" charset="0"/>
                        </a:rPr>
                        <a:t>b1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Aptos" panose="020B0004020202020204" pitchFamily="34" charset="0"/>
                        </a:rPr>
                        <a:t>b0</a:t>
                      </a:r>
                      <a:endParaRPr lang="en-US" sz="2400" b="1" baseline="30000" dirty="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550524"/>
                  </a:ext>
                </a:extLst>
              </a:tr>
            </a:tbl>
          </a:graphicData>
        </a:graphic>
      </p:graphicFrame>
      <p:sp>
        <p:nvSpPr>
          <p:cNvPr id="8" name="Oval 7">
            <a:extLst>
              <a:ext uri="{FF2B5EF4-FFF2-40B4-BE49-F238E27FC236}">
                <a16:creationId xmlns:a16="http://schemas.microsoft.com/office/drawing/2014/main" id="{0C7EA69C-2EBB-462C-BE45-D93A4A23DB27}"/>
              </a:ext>
            </a:extLst>
          </p:cNvPr>
          <p:cNvSpPr/>
          <p:nvPr/>
        </p:nvSpPr>
        <p:spPr>
          <a:xfrm>
            <a:off x="10179461" y="3798803"/>
            <a:ext cx="274320" cy="27432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0E0486-BBB6-4DAE-8D69-16C4B6E366BE}"/>
              </a:ext>
            </a:extLst>
          </p:cNvPr>
          <p:cNvSpPr txBox="1"/>
          <p:nvPr/>
        </p:nvSpPr>
        <p:spPr>
          <a:xfrm>
            <a:off x="8479695" y="4000143"/>
            <a:ext cx="12784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Aptos" panose="020B0004020202020204" pitchFamily="34" charset="0"/>
              </a:rPr>
              <a:t>[-4, 3.5]</a:t>
            </a:r>
            <a:endParaRPr lang="en-US" sz="2400" b="1" baseline="30000" dirty="0"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DF63FF-F29F-4BDC-B4FD-5659492A5A9F}"/>
              </a:ext>
            </a:extLst>
          </p:cNvPr>
          <p:cNvSpPr txBox="1"/>
          <p:nvPr/>
        </p:nvSpPr>
        <p:spPr>
          <a:xfrm>
            <a:off x="10033782" y="4000143"/>
            <a:ext cx="16812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Aptos" panose="020B0004020202020204" pitchFamily="34" charset="0"/>
              </a:rPr>
              <a:t>step: 0.5</a:t>
            </a:r>
            <a:endParaRPr lang="en-US" sz="2400" b="1" baseline="30000" dirty="0"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EC7A94-653D-421D-8053-A3EF5EDF4FB8}"/>
              </a:ext>
            </a:extLst>
          </p:cNvPr>
          <p:cNvSpPr txBox="1"/>
          <p:nvPr/>
        </p:nvSpPr>
        <p:spPr>
          <a:xfrm>
            <a:off x="270223" y="3299534"/>
            <a:ext cx="6759227" cy="257010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indent="174625">
              <a:defRPr sz="1600">
                <a:solidFill>
                  <a:schemeClr val="tx1"/>
                </a:solidFill>
                <a:latin typeface="Consolas" panose="020B0609020204030204" pitchFamily="49" charset="0"/>
                <a:cs typeface="Palatino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1800" dirty="0"/>
              <a:t>#include “</a:t>
            </a:r>
            <a:r>
              <a:rPr lang="en-US" sz="1800" dirty="0" err="1"/>
              <a:t>ap_fixed.h</a:t>
            </a:r>
            <a:r>
              <a:rPr lang="en-US" sz="1800" dirty="0"/>
              <a:t>”</a:t>
            </a:r>
          </a:p>
          <a:p>
            <a:endParaRPr lang="en-US" sz="1800" dirty="0"/>
          </a:p>
          <a:p>
            <a:r>
              <a:rPr lang="en-US" altLang="zh-CN" sz="1800" dirty="0"/>
              <a:t>Typedef </a:t>
            </a:r>
            <a:r>
              <a:rPr lang="en-US" sz="1800" dirty="0" err="1"/>
              <a:t>ap_fixed</a:t>
            </a:r>
            <a:r>
              <a:rPr lang="en-US" sz="1800" dirty="0"/>
              <a:t>&lt;</a:t>
            </a:r>
            <a:r>
              <a:rPr lang="en-US" sz="1800" b="1" dirty="0">
                <a:solidFill>
                  <a:schemeClr val="accent1"/>
                </a:solidFill>
              </a:rPr>
              <a:t>9, 3</a:t>
            </a:r>
            <a:r>
              <a:rPr lang="en-US" sz="1800" dirty="0"/>
              <a:t>&gt; </a:t>
            </a:r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</a:rPr>
              <a:t>my_fixed_type</a:t>
            </a:r>
            <a:r>
              <a:rPr lang="en-US" sz="1800" dirty="0"/>
              <a:t>;</a:t>
            </a:r>
          </a:p>
          <a:p>
            <a:endParaRPr lang="en-US" sz="1800" dirty="0"/>
          </a:p>
          <a:p>
            <a:r>
              <a:rPr lang="en-US" altLang="zh-CN" sz="1800" b="1" dirty="0" err="1">
                <a:solidFill>
                  <a:schemeClr val="accent6">
                    <a:lumMod val="75000"/>
                  </a:schemeClr>
                </a:solidFill>
              </a:rPr>
              <a:t>m</a:t>
            </a:r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</a:rPr>
              <a:t>y_fixed_type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800" dirty="0"/>
              <a:t>weights[dim1][dim2];</a:t>
            </a:r>
          </a:p>
          <a:p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</a:rPr>
              <a:t>my_fixed_type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800" dirty="0"/>
              <a:t>bias[dim1];</a:t>
            </a:r>
          </a:p>
          <a:p>
            <a:r>
              <a:rPr lang="en-US" sz="1800" dirty="0"/>
              <a:t>…</a:t>
            </a:r>
          </a:p>
          <a:p>
            <a:r>
              <a:rPr lang="en-US" sz="1800" dirty="0"/>
              <a:t>weights[0][0] = (</a:t>
            </a:r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</a:rPr>
              <a:t>my_fixed_type</a:t>
            </a:r>
            <a:r>
              <a:rPr lang="en-US" sz="1800" dirty="0"/>
              <a:t>) </a:t>
            </a:r>
            <a:r>
              <a:rPr lang="en-US" sz="1800" dirty="0" err="1"/>
              <a:t>weights_float</a:t>
            </a:r>
            <a:r>
              <a:rPr lang="en-US" sz="1800" dirty="0"/>
              <a:t>[0][0];</a:t>
            </a:r>
          </a:p>
          <a:p>
            <a:r>
              <a:rPr lang="en-US" sz="1800" dirty="0"/>
              <a:t>…</a:t>
            </a:r>
          </a:p>
        </p:txBody>
      </p:sp>
      <p:graphicFrame>
        <p:nvGraphicFramePr>
          <p:cNvPr id="5" name="Table 10">
            <a:extLst>
              <a:ext uri="{FF2B5EF4-FFF2-40B4-BE49-F238E27FC236}">
                <a16:creationId xmlns:a16="http://schemas.microsoft.com/office/drawing/2014/main" id="{C986AEF0-1A5C-55B5-80DB-8F8608E4A6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6890685"/>
              </p:ext>
            </p:extLst>
          </p:nvPr>
        </p:nvGraphicFramePr>
        <p:xfrm>
          <a:off x="7665007" y="4843140"/>
          <a:ext cx="3551616" cy="5307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7904">
                  <a:extLst>
                    <a:ext uri="{9D8B030D-6E8A-4147-A177-3AD203B41FA5}">
                      <a16:colId xmlns:a16="http://schemas.microsoft.com/office/drawing/2014/main" val="3985743533"/>
                    </a:ext>
                  </a:extLst>
                </a:gridCol>
                <a:gridCol w="887904">
                  <a:extLst>
                    <a:ext uri="{9D8B030D-6E8A-4147-A177-3AD203B41FA5}">
                      <a16:colId xmlns:a16="http://schemas.microsoft.com/office/drawing/2014/main" val="4018550502"/>
                    </a:ext>
                  </a:extLst>
                </a:gridCol>
                <a:gridCol w="887904">
                  <a:extLst>
                    <a:ext uri="{9D8B030D-6E8A-4147-A177-3AD203B41FA5}">
                      <a16:colId xmlns:a16="http://schemas.microsoft.com/office/drawing/2014/main" val="3977174992"/>
                    </a:ext>
                  </a:extLst>
                </a:gridCol>
                <a:gridCol w="887904">
                  <a:extLst>
                    <a:ext uri="{9D8B030D-6E8A-4147-A177-3AD203B41FA5}">
                      <a16:colId xmlns:a16="http://schemas.microsoft.com/office/drawing/2014/main" val="57339063"/>
                    </a:ext>
                  </a:extLst>
                </a:gridCol>
              </a:tblGrid>
              <a:tr h="530735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Aptos" panose="020B0004020202020204" pitchFamily="34" charset="0"/>
                        </a:rPr>
                        <a:t>sign</a:t>
                      </a:r>
                      <a:endParaRPr lang="en-US" sz="2400" b="1" baseline="30000" dirty="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Aptos" panose="020B0004020202020204" pitchFamily="34" charset="0"/>
                        </a:rPr>
                        <a:t>b2</a:t>
                      </a:r>
                      <a:endParaRPr lang="en-US" sz="2400" b="1" baseline="30000" dirty="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baseline="0" dirty="0">
                          <a:latin typeface="Aptos" panose="020B0004020202020204" pitchFamily="34" charset="0"/>
                        </a:rPr>
                        <a:t>b1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Aptos" panose="020B0004020202020204" pitchFamily="34" charset="0"/>
                        </a:rPr>
                        <a:t>b0</a:t>
                      </a:r>
                      <a:endParaRPr lang="en-US" sz="2400" b="1" baseline="30000" dirty="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550524"/>
                  </a:ext>
                </a:extLst>
              </a:tr>
            </a:tbl>
          </a:graphicData>
        </a:graphic>
      </p:graphicFrame>
      <p:sp>
        <p:nvSpPr>
          <p:cNvPr id="11" name="Oval 10">
            <a:extLst>
              <a:ext uri="{FF2B5EF4-FFF2-40B4-BE49-F238E27FC236}">
                <a16:creationId xmlns:a16="http://schemas.microsoft.com/office/drawing/2014/main" id="{F3F9667B-E74D-4CF7-2278-9F9AD58677E0}"/>
              </a:ext>
            </a:extLst>
          </p:cNvPr>
          <p:cNvSpPr/>
          <p:nvPr/>
        </p:nvSpPr>
        <p:spPr>
          <a:xfrm>
            <a:off x="9305067" y="5212943"/>
            <a:ext cx="274320" cy="27432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accent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817AC5-6A9D-FED6-9D29-28CD2EEDB0A6}"/>
              </a:ext>
            </a:extLst>
          </p:cNvPr>
          <p:cNvSpPr txBox="1"/>
          <p:nvPr/>
        </p:nvSpPr>
        <p:spPr>
          <a:xfrm>
            <a:off x="8207571" y="5407971"/>
            <a:ext cx="15505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Aptos" panose="020B0004020202020204" pitchFamily="34" charset="0"/>
              </a:rPr>
              <a:t>[-2, 1.75]</a:t>
            </a:r>
            <a:endParaRPr lang="en-US" sz="2400" b="1" baseline="30000" dirty="0"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22A110-5B2C-F293-F2F7-D0FEBEAD5E3C}"/>
              </a:ext>
            </a:extLst>
          </p:cNvPr>
          <p:cNvSpPr txBox="1"/>
          <p:nvPr/>
        </p:nvSpPr>
        <p:spPr>
          <a:xfrm>
            <a:off x="9842689" y="5414211"/>
            <a:ext cx="16683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Aptos" panose="020B0004020202020204" pitchFamily="34" charset="0"/>
              </a:rPr>
              <a:t>step: 0.25</a:t>
            </a:r>
            <a:endParaRPr lang="en-US" sz="2400" b="1" baseline="300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0027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8" grpId="0" animBg="1"/>
      <p:bldP spid="9" grpId="0"/>
      <p:bldP spid="10" grpId="0"/>
      <p:bldP spid="6" grpId="0" animBg="1"/>
      <p:bldP spid="11" grpId="0" animBg="1"/>
      <p:bldP spid="12" grpId="0"/>
      <p:bldP spid="1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E7EA71-9F5B-4BF6-8755-F431222DC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/>
              <a:t>With a </a:t>
            </a:r>
            <a:r>
              <a:rPr lang="en-US" altLang="zh-CN" sz="2800" dirty="0">
                <a:solidFill>
                  <a:schemeClr val="accent1"/>
                </a:solidFill>
              </a:rPr>
              <a:t>scaling</a:t>
            </a:r>
            <a:r>
              <a:rPr lang="en-US" altLang="zh-CN" sz="2800" dirty="0"/>
              <a:t> and a 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</a:rPr>
              <a:t>bias</a:t>
            </a:r>
            <a:r>
              <a:rPr lang="en-US" altLang="zh-CN" sz="2800" dirty="0"/>
              <a:t> (</a:t>
            </a:r>
            <a:r>
              <a:rPr lang="en-US" altLang="zh-CN" sz="2800" dirty="0">
                <a:solidFill>
                  <a:schemeClr val="accent6">
                    <a:lumMod val="75000"/>
                  </a:schemeClr>
                </a:solidFill>
              </a:rPr>
              <a:t>shift</a:t>
            </a:r>
            <a:r>
              <a:rPr lang="en-US" altLang="zh-CN" sz="2800" dirty="0"/>
              <a:t>), can represent a much larger range</a:t>
            </a:r>
            <a:endParaRPr lang="en-US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34691B-ECCE-4AC1-B461-873015A6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91DBE88-E4CD-4008-9F89-22640A46B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Quantization Method 2 – Integer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35EAB1D2-7A08-4371-9026-B1BAEDE61E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033" y="2069303"/>
            <a:ext cx="6067587" cy="2524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CAB3DF6-0511-4CC9-BAD5-534DFC97D359}"/>
              </a:ext>
            </a:extLst>
          </p:cNvPr>
          <p:cNvSpPr txBox="1"/>
          <p:nvPr/>
        </p:nvSpPr>
        <p:spPr>
          <a:xfrm>
            <a:off x="254977" y="6083738"/>
            <a:ext cx="61510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latin typeface="Aptos" panose="020B0004020202020204" pitchFamily="34" charset="0"/>
              </a:rPr>
              <a:t>https://intellabs.github.io/distiller/algo_quantization.html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1443BC-7211-4C4E-B754-0B99C2C1F833}"/>
              </a:ext>
            </a:extLst>
          </p:cNvPr>
          <p:cNvSpPr txBox="1"/>
          <p:nvPr/>
        </p:nvSpPr>
        <p:spPr>
          <a:xfrm>
            <a:off x="2602625" y="4301814"/>
            <a:ext cx="12784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u="sng" dirty="0">
                <a:solidFill>
                  <a:schemeClr val="accent1"/>
                </a:solidFill>
                <a:latin typeface="Aptos" panose="020B0004020202020204" pitchFamily="34" charset="0"/>
              </a:rPr>
              <a:t>8-bit</a:t>
            </a:r>
            <a:endParaRPr lang="en-US" sz="3200" b="1" u="sng" baseline="30000" dirty="0">
              <a:solidFill>
                <a:schemeClr val="accent1"/>
              </a:solidFill>
              <a:latin typeface="Aptos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27D62DB-2A18-4165-A70D-AABDD74D2368}"/>
                  </a:ext>
                </a:extLst>
              </p:cNvPr>
              <p:cNvSpPr txBox="1"/>
              <p:nvPr/>
            </p:nvSpPr>
            <p:spPr>
              <a:xfrm>
                <a:off x="6096000" y="2299317"/>
                <a:ext cx="5128007" cy="168706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txBody>
              <a:bodyPr wrap="none" lIns="0" tIns="0" rIns="0" bIns="0" rtlCol="0" anchor="ctr">
                <a:spAutoFit/>
              </a:bodyPr>
              <a:lstStyle/>
              <a:p>
                <a:pPr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p>
                          </m:s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32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𝒃𝒊𝒂𝒔</m:t>
                      </m:r>
                    </m:oMath>
                  </m:oMathPara>
                </a14:m>
                <a:endParaRPr lang="en-US" sz="3200" b="0" i="1" dirty="0">
                  <a:latin typeface="Cambria Math" panose="02040503050406030204" pitchFamily="18" charset="0"/>
                </a:endParaRPr>
              </a:p>
              <a:p>
                <a:pPr>
                  <a:spcBef>
                    <a:spcPts val="600"/>
                  </a:spcBef>
                </a:pPr>
                <a:endParaRPr lang="en-US" sz="1100" i="1" dirty="0">
                  <a:latin typeface="Cambria Math" panose="02040503050406030204" pitchFamily="18" charset="0"/>
                </a:endParaRPr>
              </a:p>
              <a:p>
                <a:pPr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𝒔𝒄𝒂𝒍𝒆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3200" b="1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𝒃𝒊𝒂𝒔</m:t>
                      </m:r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27D62DB-2A18-4165-A70D-AABDD74D23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299317"/>
                <a:ext cx="5128007" cy="16870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71DE370-0BD8-449A-BDB0-275B3FBBFAAA}"/>
                  </a:ext>
                </a:extLst>
              </p:cNvPr>
              <p:cNvSpPr txBox="1"/>
              <p:nvPr/>
            </p:nvSpPr>
            <p:spPr>
              <a:xfrm>
                <a:off x="6096000" y="4298807"/>
                <a:ext cx="5212080" cy="16828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en-US" altLang="zh-CN" sz="2400" b="1" dirty="0">
                    <a:latin typeface="Aptos" panose="020B0004020202020204" pitchFamily="34" charset="0"/>
                  </a:rPr>
                  <a:t> : original floating-point value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b="1" i="1" dirty="0">
                    <a:solidFill>
                      <a:schemeClr val="accent4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q</a:t>
                </a:r>
                <a:r>
                  <a:rPr lang="en-US" sz="2800" b="1" i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sz="2400" b="1" dirty="0">
                    <a:latin typeface="Aptos" panose="020B0004020202020204" pitchFamily="34" charset="0"/>
                  </a:rPr>
                  <a:t>: quantized integer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400" b="1" i="1" dirty="0">
                    <a:solidFill>
                      <a:schemeClr val="accent1"/>
                    </a:solidFill>
                    <a:latin typeface="Aptos" panose="020B0004020202020204" pitchFamily="34" charset="0"/>
                  </a:rPr>
                  <a:t>scale</a:t>
                </a:r>
                <a:r>
                  <a:rPr lang="en-US" sz="2400" b="1" dirty="0">
                    <a:latin typeface="Aptos" panose="020B0004020202020204" pitchFamily="34" charset="0"/>
                  </a:rPr>
                  <a:t> and </a:t>
                </a:r>
                <a:r>
                  <a:rPr lang="en-US" sz="2400" b="1" i="1" dirty="0">
                    <a:solidFill>
                      <a:schemeClr val="accent6">
                        <a:lumMod val="75000"/>
                      </a:schemeClr>
                    </a:solidFill>
                    <a:latin typeface="Aptos" panose="020B0004020202020204" pitchFamily="34" charset="0"/>
                  </a:rPr>
                  <a:t>bias</a:t>
                </a:r>
                <a:r>
                  <a:rPr lang="en-US" sz="2400" b="1" dirty="0">
                    <a:latin typeface="Aptos" panose="020B0004020202020204" pitchFamily="34" charset="0"/>
                  </a:rPr>
                  <a:t>: can be floating or fixed point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71DE370-0BD8-449A-BDB0-275B3FBBFA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298807"/>
                <a:ext cx="5212080" cy="1682833"/>
              </a:xfrm>
              <a:prstGeom prst="rect">
                <a:avLst/>
              </a:prstGeom>
              <a:blipFill>
                <a:blip r:embed="rId4"/>
                <a:stretch>
                  <a:fillRect l="-2105" r="-2105" b="-7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45406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34691B-ECCE-4AC1-B461-873015A6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91DBE88-E4CD-4008-9F89-22640A46B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Quantization Method 2 – Integer (Example)</a:t>
            </a:r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CB6358EB-B87A-4A4F-A3D5-0E4086256C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958207"/>
              </p:ext>
            </p:extLst>
          </p:nvPr>
        </p:nvGraphicFramePr>
        <p:xfrm>
          <a:off x="583808" y="1585062"/>
          <a:ext cx="10937630" cy="560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763">
                  <a:extLst>
                    <a:ext uri="{9D8B030D-6E8A-4147-A177-3AD203B41FA5}">
                      <a16:colId xmlns:a16="http://schemas.microsoft.com/office/drawing/2014/main" val="151580407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38495443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41822931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19432001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98552774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312569902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62435621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16835482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7224124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49003167"/>
                    </a:ext>
                  </a:extLst>
                </a:gridCol>
              </a:tblGrid>
              <a:tr h="56026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-257.8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-117.2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-6.3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18.4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25.3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66.9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77.3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128.1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145.6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05696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11E6F873-D316-4712-A45D-533EAE524194}"/>
              </a:ext>
            </a:extLst>
          </p:cNvPr>
          <p:cNvSpPr txBox="1"/>
          <p:nvPr/>
        </p:nvSpPr>
        <p:spPr>
          <a:xfrm>
            <a:off x="298936" y="5121453"/>
            <a:ext cx="23985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  <a:latin typeface="Aptos" panose="020B0004020202020204" pitchFamily="34" charset="0"/>
              </a:rPr>
              <a:t>3-bit: 2</a:t>
            </a:r>
            <a:r>
              <a:rPr lang="en-US" sz="3200" b="1" baseline="30000" dirty="0">
                <a:solidFill>
                  <a:schemeClr val="accent1"/>
                </a:solidFill>
                <a:latin typeface="Aptos" panose="020B0004020202020204" pitchFamily="34" charset="0"/>
              </a:rPr>
              <a:t>3 </a:t>
            </a:r>
            <a:r>
              <a:rPr lang="en-US" sz="3200" b="1" dirty="0">
                <a:solidFill>
                  <a:schemeClr val="accent1"/>
                </a:solidFill>
                <a:latin typeface="Aptos" panose="020B0004020202020204" pitchFamily="34" charset="0"/>
              </a:rPr>
              <a:t>= 8</a:t>
            </a:r>
          </a:p>
        </p:txBody>
      </p:sp>
      <p:graphicFrame>
        <p:nvGraphicFramePr>
          <p:cNvPr id="15" name="Table 10">
            <a:extLst>
              <a:ext uri="{FF2B5EF4-FFF2-40B4-BE49-F238E27FC236}">
                <a16:creationId xmlns:a16="http://schemas.microsoft.com/office/drawing/2014/main" id="{C0480EC4-74BB-4366-84BA-FFCCCD7198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5301973"/>
              </p:ext>
            </p:extLst>
          </p:nvPr>
        </p:nvGraphicFramePr>
        <p:xfrm>
          <a:off x="2697479" y="5121453"/>
          <a:ext cx="6710288" cy="560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786">
                  <a:extLst>
                    <a:ext uri="{9D8B030D-6E8A-4147-A177-3AD203B41FA5}">
                      <a16:colId xmlns:a16="http://schemas.microsoft.com/office/drawing/2014/main" val="1515804076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2638495443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2418229317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2619432001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985527746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3125699022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624356212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1683548247"/>
                    </a:ext>
                  </a:extLst>
                </a:gridCol>
              </a:tblGrid>
              <a:tr h="56026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0569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44874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34691B-ECCE-4AC1-B461-873015A6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91DBE88-E4CD-4008-9F89-22640A46B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Quantization Method 2 – Integer (Example)</a:t>
            </a:r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CB6358EB-B87A-4A4F-A3D5-0E4086256C2F}"/>
              </a:ext>
            </a:extLst>
          </p:cNvPr>
          <p:cNvGraphicFramePr>
            <a:graphicFrameLocks noGrp="1"/>
          </p:cNvGraphicFramePr>
          <p:nvPr/>
        </p:nvGraphicFramePr>
        <p:xfrm>
          <a:off x="583808" y="1585062"/>
          <a:ext cx="10937630" cy="560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763">
                  <a:extLst>
                    <a:ext uri="{9D8B030D-6E8A-4147-A177-3AD203B41FA5}">
                      <a16:colId xmlns:a16="http://schemas.microsoft.com/office/drawing/2014/main" val="151580407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38495443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41822931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19432001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98552774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312569902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62435621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16835482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7224124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49003167"/>
                    </a:ext>
                  </a:extLst>
                </a:gridCol>
              </a:tblGrid>
              <a:tr h="56026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-257.8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-117.2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-6.3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18.4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25.3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66.9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77.3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128.1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145.6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05696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11E6F873-D316-4712-A45D-533EAE524194}"/>
              </a:ext>
            </a:extLst>
          </p:cNvPr>
          <p:cNvSpPr txBox="1"/>
          <p:nvPr/>
        </p:nvSpPr>
        <p:spPr>
          <a:xfrm>
            <a:off x="298936" y="5121453"/>
            <a:ext cx="23985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  <a:latin typeface="Aptos" panose="020B0004020202020204" pitchFamily="34" charset="0"/>
              </a:rPr>
              <a:t>3-bit: 2</a:t>
            </a:r>
            <a:r>
              <a:rPr lang="en-US" sz="3200" b="1" baseline="30000" dirty="0">
                <a:solidFill>
                  <a:schemeClr val="accent1"/>
                </a:solidFill>
                <a:latin typeface="Aptos" panose="020B0004020202020204" pitchFamily="34" charset="0"/>
              </a:rPr>
              <a:t>3 </a:t>
            </a:r>
            <a:r>
              <a:rPr lang="en-US" sz="3200" b="1" dirty="0">
                <a:solidFill>
                  <a:schemeClr val="accent1"/>
                </a:solidFill>
                <a:latin typeface="Aptos" panose="020B0004020202020204" pitchFamily="34" charset="0"/>
              </a:rPr>
              <a:t>= 8</a:t>
            </a:r>
          </a:p>
        </p:txBody>
      </p:sp>
      <p:graphicFrame>
        <p:nvGraphicFramePr>
          <p:cNvPr id="15" name="Table 10">
            <a:extLst>
              <a:ext uri="{FF2B5EF4-FFF2-40B4-BE49-F238E27FC236}">
                <a16:creationId xmlns:a16="http://schemas.microsoft.com/office/drawing/2014/main" id="{C0480EC4-74BB-4366-84BA-FFCCCD7198CD}"/>
              </a:ext>
            </a:extLst>
          </p:cNvPr>
          <p:cNvGraphicFramePr>
            <a:graphicFrameLocks noGrp="1"/>
          </p:cNvGraphicFramePr>
          <p:nvPr/>
        </p:nvGraphicFramePr>
        <p:xfrm>
          <a:off x="2697479" y="5121453"/>
          <a:ext cx="6710288" cy="560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786">
                  <a:extLst>
                    <a:ext uri="{9D8B030D-6E8A-4147-A177-3AD203B41FA5}">
                      <a16:colId xmlns:a16="http://schemas.microsoft.com/office/drawing/2014/main" val="1515804076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2638495443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2418229317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2619432001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985527746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3125699022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624356212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1683548247"/>
                    </a:ext>
                  </a:extLst>
                </a:gridCol>
              </a:tblGrid>
              <a:tr h="56026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05696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B992939-E13F-4D4F-B990-35B4ABA95131}"/>
                  </a:ext>
                </a:extLst>
              </p:cNvPr>
              <p:cNvSpPr txBox="1"/>
              <p:nvPr/>
            </p:nvSpPr>
            <p:spPr>
              <a:xfrm>
                <a:off x="2486464" y="3119817"/>
                <a:ext cx="5426613" cy="10271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32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145.6</m:t>
                          </m:r>
                          <m:r>
                            <a:rPr lang="en-US" sz="32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−(−</m:t>
                          </m:r>
                          <m:r>
                            <a:rPr lang="en-US" sz="32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𝟐𝟓𝟕</m:t>
                          </m:r>
                          <m:r>
                            <a:rPr lang="en-US" sz="32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32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𝟖</m:t>
                          </m:r>
                          <m:r>
                            <a:rPr lang="en-US" sz="32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en-US" sz="3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US" sz="3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  <m:r>
                            <a:rPr lang="en-US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  <m:r>
                        <a:rPr lang="en-US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𝟓𝟕</m:t>
                      </m:r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𝟔𝟑</m:t>
                      </m:r>
                    </m:oMath>
                  </m:oMathPara>
                </a14:m>
                <a:endParaRPr lang="en-US" sz="3200" b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B992939-E13F-4D4F-B990-35B4ABA951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6464" y="3119817"/>
                <a:ext cx="5426613" cy="10271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CDA91E7E-B59A-4A68-9F32-5FCFD2FFAA96}"/>
              </a:ext>
            </a:extLst>
          </p:cNvPr>
          <p:cNvSpPr txBox="1"/>
          <p:nvPr/>
        </p:nvSpPr>
        <p:spPr>
          <a:xfrm>
            <a:off x="7583656" y="3341000"/>
            <a:ext cx="33328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  <a:latin typeface="Aptos" panose="020B0004020202020204" pitchFamily="34" charset="0"/>
              </a:rPr>
              <a:t>Scaling factor</a:t>
            </a:r>
          </a:p>
        </p:txBody>
      </p:sp>
    </p:spTree>
    <p:extLst>
      <p:ext uri="{BB962C8B-B14F-4D97-AF65-F5344CB8AC3E}">
        <p14:creationId xmlns:p14="http://schemas.microsoft.com/office/powerpoint/2010/main" val="39138417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34691B-ECCE-4AC1-B461-873015A6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91DBE88-E4CD-4008-9F89-22640A46B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Quantization Method 2 – Integer (Example)</a:t>
            </a:r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CB6358EB-B87A-4A4F-A3D5-0E4086256C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695504"/>
              </p:ext>
            </p:extLst>
          </p:nvPr>
        </p:nvGraphicFramePr>
        <p:xfrm>
          <a:off x="583808" y="1585062"/>
          <a:ext cx="10937630" cy="560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763">
                  <a:extLst>
                    <a:ext uri="{9D8B030D-6E8A-4147-A177-3AD203B41FA5}">
                      <a16:colId xmlns:a16="http://schemas.microsoft.com/office/drawing/2014/main" val="151580407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38495443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41822931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19432001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98552774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312569902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62435621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16835482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7224124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49003167"/>
                    </a:ext>
                  </a:extLst>
                </a:gridCol>
              </a:tblGrid>
              <a:tr h="56026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-257.8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-117.2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-6.3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18.4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25.3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66.9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77.3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128.1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145.6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05696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11E6F873-D316-4712-A45D-533EAE524194}"/>
              </a:ext>
            </a:extLst>
          </p:cNvPr>
          <p:cNvSpPr txBox="1"/>
          <p:nvPr/>
        </p:nvSpPr>
        <p:spPr>
          <a:xfrm>
            <a:off x="298936" y="5121453"/>
            <a:ext cx="23985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  <a:latin typeface="Aptos" panose="020B0004020202020204" pitchFamily="34" charset="0"/>
              </a:rPr>
              <a:t>3-bit: 2</a:t>
            </a:r>
            <a:r>
              <a:rPr lang="en-US" sz="3200" b="1" baseline="30000" dirty="0">
                <a:solidFill>
                  <a:schemeClr val="accent1"/>
                </a:solidFill>
                <a:latin typeface="Aptos" panose="020B0004020202020204" pitchFamily="34" charset="0"/>
              </a:rPr>
              <a:t>3 </a:t>
            </a:r>
            <a:r>
              <a:rPr lang="en-US" sz="3200" b="1" dirty="0">
                <a:solidFill>
                  <a:schemeClr val="accent1"/>
                </a:solidFill>
                <a:latin typeface="Aptos" panose="020B0004020202020204" pitchFamily="34" charset="0"/>
              </a:rPr>
              <a:t>= 8</a:t>
            </a:r>
          </a:p>
        </p:txBody>
      </p:sp>
      <p:graphicFrame>
        <p:nvGraphicFramePr>
          <p:cNvPr id="15" name="Table 10">
            <a:extLst>
              <a:ext uri="{FF2B5EF4-FFF2-40B4-BE49-F238E27FC236}">
                <a16:creationId xmlns:a16="http://schemas.microsoft.com/office/drawing/2014/main" id="{C0480EC4-74BB-4366-84BA-FFCCCD7198CD}"/>
              </a:ext>
            </a:extLst>
          </p:cNvPr>
          <p:cNvGraphicFramePr>
            <a:graphicFrameLocks noGrp="1"/>
          </p:cNvGraphicFramePr>
          <p:nvPr/>
        </p:nvGraphicFramePr>
        <p:xfrm>
          <a:off x="2697479" y="5121453"/>
          <a:ext cx="6710288" cy="560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786">
                  <a:extLst>
                    <a:ext uri="{9D8B030D-6E8A-4147-A177-3AD203B41FA5}">
                      <a16:colId xmlns:a16="http://schemas.microsoft.com/office/drawing/2014/main" val="1515804076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2638495443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2418229317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2619432001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985527746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3125699022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624356212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1683548247"/>
                    </a:ext>
                  </a:extLst>
                </a:gridCol>
              </a:tblGrid>
              <a:tr h="56026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056963"/>
                  </a:ext>
                </a:extLst>
              </a:tr>
            </a:tbl>
          </a:graphicData>
        </a:graphic>
      </p:graphicFrame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203ADB88-51E8-4F22-BFB6-D8DCADE92C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465769"/>
              </p:ext>
            </p:extLst>
          </p:nvPr>
        </p:nvGraphicFramePr>
        <p:xfrm>
          <a:off x="583808" y="2847491"/>
          <a:ext cx="10937630" cy="560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763">
                  <a:extLst>
                    <a:ext uri="{9D8B030D-6E8A-4147-A177-3AD203B41FA5}">
                      <a16:colId xmlns:a16="http://schemas.microsoft.com/office/drawing/2014/main" val="151580407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38495443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41822931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19432001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98552774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312569902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62435621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16835482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7224124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49003167"/>
                    </a:ext>
                  </a:extLst>
                </a:gridCol>
              </a:tblGrid>
              <a:tr h="560261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-4.47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-2.03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-0.11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0.32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0.44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1.16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1.34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2.22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2.53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05696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C97222-FF02-4202-A080-32733CDDDEE8}"/>
                  </a:ext>
                </a:extLst>
              </p:cNvPr>
              <p:cNvSpPr txBox="1"/>
              <p:nvPr/>
            </p:nvSpPr>
            <p:spPr>
              <a:xfrm>
                <a:off x="5380892" y="2194766"/>
                <a:ext cx="2305342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𝟓𝟕</m:t>
                      </m:r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𝟔𝟑</m:t>
                      </m:r>
                    </m:oMath>
                  </m:oMathPara>
                </a14:m>
                <a:endParaRPr lang="en-US" sz="32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C97222-FF02-4202-A080-32733CDDD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0892" y="2194766"/>
                <a:ext cx="2305342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81B7CFD-2271-44BD-8801-BF212D865A38}"/>
              </a:ext>
            </a:extLst>
          </p:cNvPr>
          <p:cNvCxnSpPr>
            <a:cxnSpLocks/>
          </p:cNvCxnSpPr>
          <p:nvPr/>
        </p:nvCxnSpPr>
        <p:spPr>
          <a:xfrm>
            <a:off x="1125415" y="2145323"/>
            <a:ext cx="0" cy="64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F262A50-4F4A-42C9-AB1B-F7ADD7FC13A3}"/>
              </a:ext>
            </a:extLst>
          </p:cNvPr>
          <p:cNvCxnSpPr>
            <a:cxnSpLocks/>
          </p:cNvCxnSpPr>
          <p:nvPr/>
        </p:nvCxnSpPr>
        <p:spPr>
          <a:xfrm>
            <a:off x="2227384" y="2139461"/>
            <a:ext cx="0" cy="64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D8B2243-9546-4215-A07C-42A445A7FE70}"/>
              </a:ext>
            </a:extLst>
          </p:cNvPr>
          <p:cNvSpPr txBox="1"/>
          <p:nvPr/>
        </p:nvSpPr>
        <p:spPr>
          <a:xfrm>
            <a:off x="6162819" y="4027972"/>
            <a:ext cx="35649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Next is to shift</a:t>
            </a:r>
          </a:p>
        </p:txBody>
      </p:sp>
    </p:spTree>
    <p:extLst>
      <p:ext uri="{BB962C8B-B14F-4D97-AF65-F5344CB8AC3E}">
        <p14:creationId xmlns:p14="http://schemas.microsoft.com/office/powerpoint/2010/main" val="27931922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34691B-ECCE-4AC1-B461-873015A6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91DBE88-E4CD-4008-9F89-22640A46B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Quantization Method 2 – Integer (Example)</a:t>
            </a:r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CB6358EB-B87A-4A4F-A3D5-0E4086256C2F}"/>
              </a:ext>
            </a:extLst>
          </p:cNvPr>
          <p:cNvGraphicFramePr>
            <a:graphicFrameLocks noGrp="1"/>
          </p:cNvGraphicFramePr>
          <p:nvPr/>
        </p:nvGraphicFramePr>
        <p:xfrm>
          <a:off x="583808" y="1585062"/>
          <a:ext cx="10937630" cy="560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763">
                  <a:extLst>
                    <a:ext uri="{9D8B030D-6E8A-4147-A177-3AD203B41FA5}">
                      <a16:colId xmlns:a16="http://schemas.microsoft.com/office/drawing/2014/main" val="151580407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38495443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41822931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19432001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98552774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312569902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62435621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16835482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7224124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49003167"/>
                    </a:ext>
                  </a:extLst>
                </a:gridCol>
              </a:tblGrid>
              <a:tr h="56026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-257.8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-117.2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-6.3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18.4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25.3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66.9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77.3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128.1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145.6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05696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11E6F873-D316-4712-A45D-533EAE524194}"/>
              </a:ext>
            </a:extLst>
          </p:cNvPr>
          <p:cNvSpPr txBox="1"/>
          <p:nvPr/>
        </p:nvSpPr>
        <p:spPr>
          <a:xfrm>
            <a:off x="298936" y="5121453"/>
            <a:ext cx="23985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  <a:latin typeface="Aptos" panose="020B0004020202020204" pitchFamily="34" charset="0"/>
              </a:rPr>
              <a:t>3-bit: 2</a:t>
            </a:r>
            <a:r>
              <a:rPr lang="en-US" sz="3200" b="1" baseline="30000" dirty="0">
                <a:solidFill>
                  <a:schemeClr val="accent1"/>
                </a:solidFill>
                <a:latin typeface="Aptos" panose="020B0004020202020204" pitchFamily="34" charset="0"/>
              </a:rPr>
              <a:t>3 </a:t>
            </a:r>
            <a:r>
              <a:rPr lang="en-US" sz="3200" b="1" dirty="0">
                <a:solidFill>
                  <a:schemeClr val="accent1"/>
                </a:solidFill>
                <a:latin typeface="Aptos" panose="020B0004020202020204" pitchFamily="34" charset="0"/>
              </a:rPr>
              <a:t>= 8</a:t>
            </a:r>
          </a:p>
        </p:txBody>
      </p:sp>
      <p:graphicFrame>
        <p:nvGraphicFramePr>
          <p:cNvPr id="15" name="Table 10">
            <a:extLst>
              <a:ext uri="{FF2B5EF4-FFF2-40B4-BE49-F238E27FC236}">
                <a16:creationId xmlns:a16="http://schemas.microsoft.com/office/drawing/2014/main" id="{C0480EC4-74BB-4366-84BA-FFCCCD7198CD}"/>
              </a:ext>
            </a:extLst>
          </p:cNvPr>
          <p:cNvGraphicFramePr>
            <a:graphicFrameLocks noGrp="1"/>
          </p:cNvGraphicFramePr>
          <p:nvPr/>
        </p:nvGraphicFramePr>
        <p:xfrm>
          <a:off x="2697479" y="5121453"/>
          <a:ext cx="6710288" cy="560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786">
                  <a:extLst>
                    <a:ext uri="{9D8B030D-6E8A-4147-A177-3AD203B41FA5}">
                      <a16:colId xmlns:a16="http://schemas.microsoft.com/office/drawing/2014/main" val="1515804076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2638495443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2418229317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2619432001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985527746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3125699022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624356212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1683548247"/>
                    </a:ext>
                  </a:extLst>
                </a:gridCol>
              </a:tblGrid>
              <a:tr h="56026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056963"/>
                  </a:ext>
                </a:extLst>
              </a:tr>
            </a:tbl>
          </a:graphicData>
        </a:graphic>
      </p:graphicFrame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203ADB88-51E8-4F22-BFB6-D8DCADE92C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2314617"/>
              </p:ext>
            </p:extLst>
          </p:nvPr>
        </p:nvGraphicFramePr>
        <p:xfrm>
          <a:off x="583808" y="2847491"/>
          <a:ext cx="10937630" cy="560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763">
                  <a:extLst>
                    <a:ext uri="{9D8B030D-6E8A-4147-A177-3AD203B41FA5}">
                      <a16:colId xmlns:a16="http://schemas.microsoft.com/office/drawing/2014/main" val="151580407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38495443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41822931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19432001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98552774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312569902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62435621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16835482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7224124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49003167"/>
                    </a:ext>
                  </a:extLst>
                </a:gridCol>
              </a:tblGrid>
              <a:tr h="560261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-4.47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-2.03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-0.11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0.32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0.44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1.16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1.34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2.22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2.53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05696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C97222-FF02-4202-A080-32733CDDDEE8}"/>
                  </a:ext>
                </a:extLst>
              </p:cNvPr>
              <p:cNvSpPr txBox="1"/>
              <p:nvPr/>
            </p:nvSpPr>
            <p:spPr>
              <a:xfrm>
                <a:off x="5380892" y="2194766"/>
                <a:ext cx="2305342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𝟓𝟕</m:t>
                      </m:r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𝟔𝟑</m:t>
                      </m:r>
                    </m:oMath>
                  </m:oMathPara>
                </a14:m>
                <a:endParaRPr lang="en-US" sz="32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C97222-FF02-4202-A080-32733CDDD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0892" y="2194766"/>
                <a:ext cx="2305342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81B7CFD-2271-44BD-8801-BF212D865A38}"/>
              </a:ext>
            </a:extLst>
          </p:cNvPr>
          <p:cNvCxnSpPr>
            <a:cxnSpLocks/>
          </p:cNvCxnSpPr>
          <p:nvPr/>
        </p:nvCxnSpPr>
        <p:spPr>
          <a:xfrm>
            <a:off x="1125415" y="2145323"/>
            <a:ext cx="0" cy="64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F262A50-4F4A-42C9-AB1B-F7ADD7FC13A3}"/>
              </a:ext>
            </a:extLst>
          </p:cNvPr>
          <p:cNvCxnSpPr>
            <a:cxnSpLocks/>
          </p:cNvCxnSpPr>
          <p:nvPr/>
        </p:nvCxnSpPr>
        <p:spPr>
          <a:xfrm>
            <a:off x="2227384" y="2139461"/>
            <a:ext cx="0" cy="64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FA081BB-204A-49A9-9F63-C6576CA17BCB}"/>
              </a:ext>
            </a:extLst>
          </p:cNvPr>
          <p:cNvCxnSpPr>
            <a:cxnSpLocks/>
          </p:cNvCxnSpPr>
          <p:nvPr/>
        </p:nvCxnSpPr>
        <p:spPr>
          <a:xfrm>
            <a:off x="1125415" y="3429000"/>
            <a:ext cx="1962443" cy="1692453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FA87AFE-2280-484C-B33D-5EC99DF5F60E}"/>
                  </a:ext>
                </a:extLst>
              </p:cNvPr>
              <p:cNvSpPr txBox="1"/>
              <p:nvPr/>
            </p:nvSpPr>
            <p:spPr>
              <a:xfrm>
                <a:off x="2227384" y="3945897"/>
                <a:ext cx="5657852" cy="1077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200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3200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𝟒</m:t>
                    </m:r>
                    <m:r>
                      <a:rPr lang="en-US" sz="3200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3200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𝟒𝟕</m:t>
                    </m:r>
                  </m:oMath>
                </a14:m>
                <a:r>
                  <a:rPr lang="en-US" sz="3200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sz="3200" dirty="0">
                    <a:solidFill>
                      <a:schemeClr val="accent6">
                        <a:lumMod val="75000"/>
                      </a:schemeClr>
                    </a:solidFill>
                    <a:latin typeface="Aptos" panose="020B0004020202020204" pitchFamily="34" charset="0"/>
                  </a:rPr>
                  <a:t>(is this the best choice?)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FA87AFE-2280-484C-B33D-5EC99DF5F6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7384" y="3945897"/>
                <a:ext cx="5657852" cy="1077218"/>
              </a:xfrm>
              <a:prstGeom prst="rect">
                <a:avLst/>
              </a:prstGeom>
              <a:blipFill>
                <a:blip r:embed="rId3"/>
                <a:stretch>
                  <a:fillRect l="-2691" t="-6780" b="-180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71113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34691B-ECCE-4AC1-B461-873015A6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91DBE88-E4CD-4008-9F89-22640A46B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Quantization Method 2 – Integer (Example)</a:t>
            </a:r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CB6358EB-B87A-4A4F-A3D5-0E4086256C2F}"/>
              </a:ext>
            </a:extLst>
          </p:cNvPr>
          <p:cNvGraphicFramePr>
            <a:graphicFrameLocks noGrp="1"/>
          </p:cNvGraphicFramePr>
          <p:nvPr/>
        </p:nvGraphicFramePr>
        <p:xfrm>
          <a:off x="583808" y="1585062"/>
          <a:ext cx="10937630" cy="560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763">
                  <a:extLst>
                    <a:ext uri="{9D8B030D-6E8A-4147-A177-3AD203B41FA5}">
                      <a16:colId xmlns:a16="http://schemas.microsoft.com/office/drawing/2014/main" val="151580407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38495443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41822931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19432001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98552774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312569902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62435621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16835482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7224124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49003167"/>
                    </a:ext>
                  </a:extLst>
                </a:gridCol>
              </a:tblGrid>
              <a:tr h="56026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-257.8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-117.2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-6.3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18.4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25.3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66.9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77.3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128.1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145.6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05696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11E6F873-D316-4712-A45D-533EAE524194}"/>
              </a:ext>
            </a:extLst>
          </p:cNvPr>
          <p:cNvSpPr txBox="1"/>
          <p:nvPr/>
        </p:nvSpPr>
        <p:spPr>
          <a:xfrm>
            <a:off x="298936" y="5121453"/>
            <a:ext cx="23985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  <a:latin typeface="Aptos" panose="020B0004020202020204" pitchFamily="34" charset="0"/>
              </a:rPr>
              <a:t>3-bit: 2</a:t>
            </a:r>
            <a:r>
              <a:rPr lang="en-US" sz="3200" b="1" baseline="30000" dirty="0">
                <a:solidFill>
                  <a:schemeClr val="accent1"/>
                </a:solidFill>
                <a:latin typeface="Aptos" panose="020B0004020202020204" pitchFamily="34" charset="0"/>
              </a:rPr>
              <a:t>3 </a:t>
            </a:r>
            <a:r>
              <a:rPr lang="en-US" sz="3200" b="1" dirty="0">
                <a:solidFill>
                  <a:schemeClr val="accent1"/>
                </a:solidFill>
                <a:latin typeface="Aptos" panose="020B0004020202020204" pitchFamily="34" charset="0"/>
              </a:rPr>
              <a:t>= 8</a:t>
            </a:r>
          </a:p>
        </p:txBody>
      </p:sp>
      <p:graphicFrame>
        <p:nvGraphicFramePr>
          <p:cNvPr id="15" name="Table 10">
            <a:extLst>
              <a:ext uri="{FF2B5EF4-FFF2-40B4-BE49-F238E27FC236}">
                <a16:creationId xmlns:a16="http://schemas.microsoft.com/office/drawing/2014/main" id="{C0480EC4-74BB-4366-84BA-FFCCCD7198CD}"/>
              </a:ext>
            </a:extLst>
          </p:cNvPr>
          <p:cNvGraphicFramePr>
            <a:graphicFrameLocks noGrp="1"/>
          </p:cNvGraphicFramePr>
          <p:nvPr/>
        </p:nvGraphicFramePr>
        <p:xfrm>
          <a:off x="2697479" y="5121453"/>
          <a:ext cx="6710288" cy="560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786">
                  <a:extLst>
                    <a:ext uri="{9D8B030D-6E8A-4147-A177-3AD203B41FA5}">
                      <a16:colId xmlns:a16="http://schemas.microsoft.com/office/drawing/2014/main" val="1515804076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2638495443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2418229317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2619432001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985527746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3125699022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624356212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1683548247"/>
                    </a:ext>
                  </a:extLst>
                </a:gridCol>
              </a:tblGrid>
              <a:tr h="56026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056963"/>
                  </a:ext>
                </a:extLst>
              </a:tr>
            </a:tbl>
          </a:graphicData>
        </a:graphic>
      </p:graphicFrame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203ADB88-51E8-4F22-BFB6-D8DCADE92C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5577655"/>
              </p:ext>
            </p:extLst>
          </p:nvPr>
        </p:nvGraphicFramePr>
        <p:xfrm>
          <a:off x="583808" y="2847491"/>
          <a:ext cx="10937630" cy="560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763">
                  <a:extLst>
                    <a:ext uri="{9D8B030D-6E8A-4147-A177-3AD203B41FA5}">
                      <a16:colId xmlns:a16="http://schemas.microsoft.com/office/drawing/2014/main" val="151580407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38495443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41822931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19432001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98552774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312569902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62435621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16835482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7224124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49003167"/>
                    </a:ext>
                  </a:extLst>
                </a:gridCol>
              </a:tblGrid>
              <a:tr h="560261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-4.47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-2.03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-0.11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0.32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0.44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1.16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1.34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2.22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2.53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05696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C97222-FF02-4202-A080-32733CDDDEE8}"/>
                  </a:ext>
                </a:extLst>
              </p:cNvPr>
              <p:cNvSpPr txBox="1"/>
              <p:nvPr/>
            </p:nvSpPr>
            <p:spPr>
              <a:xfrm>
                <a:off x="5380892" y="2194766"/>
                <a:ext cx="2305342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𝟓𝟕</m:t>
                      </m:r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𝟔𝟑</m:t>
                      </m:r>
                    </m:oMath>
                  </m:oMathPara>
                </a14:m>
                <a:endParaRPr lang="en-US" sz="32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C97222-FF02-4202-A080-32733CDDD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0892" y="2194766"/>
                <a:ext cx="2305342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81B7CFD-2271-44BD-8801-BF212D865A38}"/>
              </a:ext>
            </a:extLst>
          </p:cNvPr>
          <p:cNvCxnSpPr>
            <a:cxnSpLocks/>
          </p:cNvCxnSpPr>
          <p:nvPr/>
        </p:nvCxnSpPr>
        <p:spPr>
          <a:xfrm>
            <a:off x="1125415" y="2145323"/>
            <a:ext cx="0" cy="64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F262A50-4F4A-42C9-AB1B-F7ADD7FC13A3}"/>
              </a:ext>
            </a:extLst>
          </p:cNvPr>
          <p:cNvCxnSpPr>
            <a:cxnSpLocks/>
          </p:cNvCxnSpPr>
          <p:nvPr/>
        </p:nvCxnSpPr>
        <p:spPr>
          <a:xfrm>
            <a:off x="2227384" y="2139461"/>
            <a:ext cx="0" cy="64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0">
            <a:extLst>
              <a:ext uri="{FF2B5EF4-FFF2-40B4-BE49-F238E27FC236}">
                <a16:creationId xmlns:a16="http://schemas.microsoft.com/office/drawing/2014/main" id="{B4C1B9D1-92D0-4113-9968-FF877832A1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237845"/>
              </p:ext>
            </p:extLst>
          </p:nvPr>
        </p:nvGraphicFramePr>
        <p:xfrm>
          <a:off x="583808" y="4037226"/>
          <a:ext cx="10937630" cy="560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763">
                  <a:extLst>
                    <a:ext uri="{9D8B030D-6E8A-4147-A177-3AD203B41FA5}">
                      <a16:colId xmlns:a16="http://schemas.microsoft.com/office/drawing/2014/main" val="151580407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38495443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41822931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19432001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98552774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312569902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62435621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16835482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7224124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49003167"/>
                    </a:ext>
                  </a:extLst>
                </a:gridCol>
              </a:tblGrid>
              <a:tr h="560261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2.44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4.36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4.47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4.79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4.91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5.63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5.81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6.69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7.00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056963"/>
                  </a:ext>
                </a:extLst>
              </a:tr>
            </a:tbl>
          </a:graphicData>
        </a:graphic>
      </p:graphicFrame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A6153C2-A390-4F9E-9C04-2112904EFFDA}"/>
              </a:ext>
            </a:extLst>
          </p:cNvPr>
          <p:cNvCxnSpPr>
            <a:cxnSpLocks/>
          </p:cNvCxnSpPr>
          <p:nvPr/>
        </p:nvCxnSpPr>
        <p:spPr>
          <a:xfrm>
            <a:off x="1125415" y="3407752"/>
            <a:ext cx="0" cy="64008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E330AB4-2369-4FD0-8660-02267FDA098B}"/>
                  </a:ext>
                </a:extLst>
              </p:cNvPr>
              <p:cNvSpPr txBox="1"/>
              <p:nvPr/>
            </p:nvSpPr>
            <p:spPr>
              <a:xfrm>
                <a:off x="5688037" y="3427937"/>
                <a:ext cx="1479451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3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  <m:r>
                        <a:rPr lang="en-US" sz="3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3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𝟒𝟕</m:t>
                      </m:r>
                    </m:oMath>
                  </m:oMathPara>
                </a14:m>
                <a:endParaRPr lang="en-US" sz="3200" dirty="0">
                  <a:solidFill>
                    <a:schemeClr val="accent6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E330AB4-2369-4FD0-8660-02267FDA0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8037" y="3427937"/>
                <a:ext cx="1479451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64F1F9D-7F64-46FC-A630-9D199E6EAD85}"/>
              </a:ext>
            </a:extLst>
          </p:cNvPr>
          <p:cNvCxnSpPr>
            <a:cxnSpLocks/>
          </p:cNvCxnSpPr>
          <p:nvPr/>
        </p:nvCxnSpPr>
        <p:spPr>
          <a:xfrm>
            <a:off x="2227384" y="3407752"/>
            <a:ext cx="0" cy="64008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84421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34691B-ECCE-4AC1-B461-873015A6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91DBE88-E4CD-4008-9F89-22640A46B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Quantization Method 2 – Integer (Example)</a:t>
            </a:r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CB6358EB-B87A-4A4F-A3D5-0E4086256C2F}"/>
              </a:ext>
            </a:extLst>
          </p:cNvPr>
          <p:cNvGraphicFramePr>
            <a:graphicFrameLocks noGrp="1"/>
          </p:cNvGraphicFramePr>
          <p:nvPr/>
        </p:nvGraphicFramePr>
        <p:xfrm>
          <a:off x="583808" y="1585062"/>
          <a:ext cx="10937630" cy="560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763">
                  <a:extLst>
                    <a:ext uri="{9D8B030D-6E8A-4147-A177-3AD203B41FA5}">
                      <a16:colId xmlns:a16="http://schemas.microsoft.com/office/drawing/2014/main" val="151580407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38495443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41822931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19432001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98552774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312569902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62435621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16835482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7224124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49003167"/>
                    </a:ext>
                  </a:extLst>
                </a:gridCol>
              </a:tblGrid>
              <a:tr h="56026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-257.8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-117.2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-6.3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18.4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25.3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66.9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77.3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128.1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145.6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05696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11E6F873-D316-4712-A45D-533EAE524194}"/>
              </a:ext>
            </a:extLst>
          </p:cNvPr>
          <p:cNvSpPr txBox="1"/>
          <p:nvPr/>
        </p:nvSpPr>
        <p:spPr>
          <a:xfrm>
            <a:off x="298936" y="5121453"/>
            <a:ext cx="23985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  <a:latin typeface="Aptos" panose="020B0004020202020204" pitchFamily="34" charset="0"/>
              </a:rPr>
              <a:t>3-bit: 2</a:t>
            </a:r>
            <a:r>
              <a:rPr lang="en-US" sz="3200" b="1" baseline="30000" dirty="0">
                <a:solidFill>
                  <a:schemeClr val="accent1"/>
                </a:solidFill>
                <a:latin typeface="Aptos" panose="020B0004020202020204" pitchFamily="34" charset="0"/>
              </a:rPr>
              <a:t>3 </a:t>
            </a:r>
            <a:r>
              <a:rPr lang="en-US" sz="3200" b="1" dirty="0">
                <a:solidFill>
                  <a:schemeClr val="accent1"/>
                </a:solidFill>
                <a:latin typeface="Aptos" panose="020B0004020202020204" pitchFamily="34" charset="0"/>
              </a:rPr>
              <a:t>= 8</a:t>
            </a:r>
          </a:p>
        </p:txBody>
      </p:sp>
      <p:graphicFrame>
        <p:nvGraphicFramePr>
          <p:cNvPr id="15" name="Table 10">
            <a:extLst>
              <a:ext uri="{FF2B5EF4-FFF2-40B4-BE49-F238E27FC236}">
                <a16:creationId xmlns:a16="http://schemas.microsoft.com/office/drawing/2014/main" id="{C0480EC4-74BB-4366-84BA-FFCCCD7198CD}"/>
              </a:ext>
            </a:extLst>
          </p:cNvPr>
          <p:cNvGraphicFramePr>
            <a:graphicFrameLocks noGrp="1"/>
          </p:cNvGraphicFramePr>
          <p:nvPr/>
        </p:nvGraphicFramePr>
        <p:xfrm>
          <a:off x="2697479" y="5121453"/>
          <a:ext cx="6710288" cy="560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786">
                  <a:extLst>
                    <a:ext uri="{9D8B030D-6E8A-4147-A177-3AD203B41FA5}">
                      <a16:colId xmlns:a16="http://schemas.microsoft.com/office/drawing/2014/main" val="1515804076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2638495443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2418229317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2619432001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985527746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3125699022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624356212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1683548247"/>
                    </a:ext>
                  </a:extLst>
                </a:gridCol>
              </a:tblGrid>
              <a:tr h="56026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056963"/>
                  </a:ext>
                </a:extLst>
              </a:tr>
            </a:tbl>
          </a:graphicData>
        </a:graphic>
      </p:graphicFrame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203ADB88-51E8-4F22-BFB6-D8DCADE92C2B}"/>
              </a:ext>
            </a:extLst>
          </p:cNvPr>
          <p:cNvGraphicFramePr>
            <a:graphicFrameLocks noGrp="1"/>
          </p:cNvGraphicFramePr>
          <p:nvPr/>
        </p:nvGraphicFramePr>
        <p:xfrm>
          <a:off x="583808" y="2847491"/>
          <a:ext cx="10937630" cy="560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763">
                  <a:extLst>
                    <a:ext uri="{9D8B030D-6E8A-4147-A177-3AD203B41FA5}">
                      <a16:colId xmlns:a16="http://schemas.microsoft.com/office/drawing/2014/main" val="151580407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38495443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41822931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19432001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98552774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312569902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62435621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16835482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7224124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49003167"/>
                    </a:ext>
                  </a:extLst>
                </a:gridCol>
              </a:tblGrid>
              <a:tr h="560261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-4.47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-2.03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-0.11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0.32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0.44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1.16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1.34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2.22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2.53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05696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C97222-FF02-4202-A080-32733CDDDEE8}"/>
                  </a:ext>
                </a:extLst>
              </p:cNvPr>
              <p:cNvSpPr txBox="1"/>
              <p:nvPr/>
            </p:nvSpPr>
            <p:spPr>
              <a:xfrm>
                <a:off x="5380892" y="2194766"/>
                <a:ext cx="2305342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𝟓𝟕</m:t>
                      </m:r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𝟔𝟑</m:t>
                      </m:r>
                    </m:oMath>
                  </m:oMathPara>
                </a14:m>
                <a:endParaRPr lang="en-US" sz="32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C97222-FF02-4202-A080-32733CDDD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0892" y="2194766"/>
                <a:ext cx="2305342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81B7CFD-2271-44BD-8801-BF212D865A38}"/>
              </a:ext>
            </a:extLst>
          </p:cNvPr>
          <p:cNvCxnSpPr>
            <a:cxnSpLocks/>
          </p:cNvCxnSpPr>
          <p:nvPr/>
        </p:nvCxnSpPr>
        <p:spPr>
          <a:xfrm>
            <a:off x="1125415" y="2145323"/>
            <a:ext cx="0" cy="64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F262A50-4F4A-42C9-AB1B-F7ADD7FC13A3}"/>
              </a:ext>
            </a:extLst>
          </p:cNvPr>
          <p:cNvCxnSpPr>
            <a:cxnSpLocks/>
          </p:cNvCxnSpPr>
          <p:nvPr/>
        </p:nvCxnSpPr>
        <p:spPr>
          <a:xfrm>
            <a:off x="2227384" y="2139461"/>
            <a:ext cx="0" cy="64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0">
            <a:extLst>
              <a:ext uri="{FF2B5EF4-FFF2-40B4-BE49-F238E27FC236}">
                <a16:creationId xmlns:a16="http://schemas.microsoft.com/office/drawing/2014/main" id="{B4C1B9D1-92D0-4113-9968-FF877832A14F}"/>
              </a:ext>
            </a:extLst>
          </p:cNvPr>
          <p:cNvGraphicFramePr>
            <a:graphicFrameLocks noGrp="1"/>
          </p:cNvGraphicFramePr>
          <p:nvPr/>
        </p:nvGraphicFramePr>
        <p:xfrm>
          <a:off x="583808" y="4037226"/>
          <a:ext cx="10937630" cy="560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763">
                  <a:extLst>
                    <a:ext uri="{9D8B030D-6E8A-4147-A177-3AD203B41FA5}">
                      <a16:colId xmlns:a16="http://schemas.microsoft.com/office/drawing/2014/main" val="151580407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38495443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41822931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19432001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98552774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312569902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62435621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16835482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7224124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49003167"/>
                    </a:ext>
                  </a:extLst>
                </a:gridCol>
              </a:tblGrid>
              <a:tr h="560261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2.44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4.36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4.47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4.79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4.91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5.63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5.81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6.69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7.00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056963"/>
                  </a:ext>
                </a:extLst>
              </a:tr>
            </a:tbl>
          </a:graphicData>
        </a:graphic>
      </p:graphicFrame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A6153C2-A390-4F9E-9C04-2112904EFFDA}"/>
              </a:ext>
            </a:extLst>
          </p:cNvPr>
          <p:cNvCxnSpPr>
            <a:cxnSpLocks/>
          </p:cNvCxnSpPr>
          <p:nvPr/>
        </p:nvCxnSpPr>
        <p:spPr>
          <a:xfrm>
            <a:off x="1125415" y="3407752"/>
            <a:ext cx="0" cy="64008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E330AB4-2369-4FD0-8660-02267FDA098B}"/>
                  </a:ext>
                </a:extLst>
              </p:cNvPr>
              <p:cNvSpPr txBox="1"/>
              <p:nvPr/>
            </p:nvSpPr>
            <p:spPr>
              <a:xfrm>
                <a:off x="5688037" y="3427937"/>
                <a:ext cx="1479451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3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  <m:r>
                        <a:rPr lang="en-US" sz="3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3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𝟒𝟕</m:t>
                      </m:r>
                    </m:oMath>
                  </m:oMathPara>
                </a14:m>
                <a:endParaRPr lang="en-US" sz="3200" dirty="0">
                  <a:solidFill>
                    <a:schemeClr val="accent6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E330AB4-2369-4FD0-8660-02267FDA0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8037" y="3427937"/>
                <a:ext cx="1479451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64F1F9D-7F64-46FC-A630-9D199E6EAD85}"/>
              </a:ext>
            </a:extLst>
          </p:cNvPr>
          <p:cNvCxnSpPr>
            <a:cxnSpLocks/>
          </p:cNvCxnSpPr>
          <p:nvPr/>
        </p:nvCxnSpPr>
        <p:spPr>
          <a:xfrm>
            <a:off x="2227384" y="3407752"/>
            <a:ext cx="0" cy="64008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740C6D2-55A7-4532-BA6A-EF51FDE25B01}"/>
              </a:ext>
            </a:extLst>
          </p:cNvPr>
          <p:cNvCxnSpPr>
            <a:cxnSpLocks/>
          </p:cNvCxnSpPr>
          <p:nvPr/>
        </p:nvCxnSpPr>
        <p:spPr>
          <a:xfrm>
            <a:off x="1125415" y="4597487"/>
            <a:ext cx="1983545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1463723-D88D-4612-941D-B196935D0BF8}"/>
              </a:ext>
            </a:extLst>
          </p:cNvPr>
          <p:cNvCxnSpPr>
            <a:cxnSpLocks/>
          </p:cNvCxnSpPr>
          <p:nvPr/>
        </p:nvCxnSpPr>
        <p:spPr>
          <a:xfrm>
            <a:off x="2227384" y="4597487"/>
            <a:ext cx="2513428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F2537FE-1552-4C4B-88F4-BEDC1BC17602}"/>
              </a:ext>
            </a:extLst>
          </p:cNvPr>
          <p:cNvCxnSpPr>
            <a:cxnSpLocks/>
          </p:cNvCxnSpPr>
          <p:nvPr/>
        </p:nvCxnSpPr>
        <p:spPr>
          <a:xfrm>
            <a:off x="3319975" y="4597487"/>
            <a:ext cx="3123028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51CAC99-7A8D-46FC-B223-EC5ACC88079C}"/>
              </a:ext>
            </a:extLst>
          </p:cNvPr>
          <p:cNvCxnSpPr>
            <a:cxnSpLocks/>
          </p:cNvCxnSpPr>
          <p:nvPr/>
        </p:nvCxnSpPr>
        <p:spPr>
          <a:xfrm>
            <a:off x="4417255" y="4597487"/>
            <a:ext cx="2025748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AC55159-C094-4500-9985-64FA1A447347}"/>
              </a:ext>
            </a:extLst>
          </p:cNvPr>
          <p:cNvCxnSpPr>
            <a:cxnSpLocks/>
          </p:cNvCxnSpPr>
          <p:nvPr/>
        </p:nvCxnSpPr>
        <p:spPr>
          <a:xfrm>
            <a:off x="5528603" y="4597487"/>
            <a:ext cx="1786597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2912186-19B1-4882-ABBF-4D6D02E2853B}"/>
              </a:ext>
            </a:extLst>
          </p:cNvPr>
          <p:cNvCxnSpPr>
            <a:cxnSpLocks/>
          </p:cNvCxnSpPr>
          <p:nvPr/>
        </p:nvCxnSpPr>
        <p:spPr>
          <a:xfrm>
            <a:off x="6668086" y="4597487"/>
            <a:ext cx="647114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E5823F9-24A6-40E3-AE38-67BC425F90B2}"/>
              </a:ext>
            </a:extLst>
          </p:cNvPr>
          <p:cNvCxnSpPr>
            <a:cxnSpLocks/>
          </p:cNvCxnSpPr>
          <p:nvPr/>
        </p:nvCxnSpPr>
        <p:spPr>
          <a:xfrm>
            <a:off x="7686234" y="4597487"/>
            <a:ext cx="416757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AE5E33F-48E1-4601-82DB-903EB78258F9}"/>
              </a:ext>
            </a:extLst>
          </p:cNvPr>
          <p:cNvCxnSpPr>
            <a:cxnSpLocks/>
          </p:cNvCxnSpPr>
          <p:nvPr/>
        </p:nvCxnSpPr>
        <p:spPr>
          <a:xfrm flipH="1">
            <a:off x="8102991" y="4597487"/>
            <a:ext cx="710418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E872F94-FD39-4EC3-B0FC-8000E605A769}"/>
              </a:ext>
            </a:extLst>
          </p:cNvPr>
          <p:cNvCxnSpPr>
            <a:cxnSpLocks/>
          </p:cNvCxnSpPr>
          <p:nvPr/>
        </p:nvCxnSpPr>
        <p:spPr>
          <a:xfrm flipH="1">
            <a:off x="9010357" y="4597487"/>
            <a:ext cx="886266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7D2C302-A600-41DF-85A9-76DCE28473E5}"/>
              </a:ext>
            </a:extLst>
          </p:cNvPr>
          <p:cNvCxnSpPr>
            <a:cxnSpLocks/>
          </p:cNvCxnSpPr>
          <p:nvPr/>
        </p:nvCxnSpPr>
        <p:spPr>
          <a:xfrm flipH="1">
            <a:off x="9083042" y="4597487"/>
            <a:ext cx="1910861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04503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34691B-ECCE-4AC1-B461-873015A6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91DBE88-E4CD-4008-9F89-22640A46B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Quantization Method 2 – Integer (Example)</a:t>
            </a:r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CB6358EB-B87A-4A4F-A3D5-0E4086256C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0096332"/>
              </p:ext>
            </p:extLst>
          </p:nvPr>
        </p:nvGraphicFramePr>
        <p:xfrm>
          <a:off x="583808" y="1585062"/>
          <a:ext cx="10937630" cy="560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763">
                  <a:extLst>
                    <a:ext uri="{9D8B030D-6E8A-4147-A177-3AD203B41FA5}">
                      <a16:colId xmlns:a16="http://schemas.microsoft.com/office/drawing/2014/main" val="151580407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38495443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41822931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19432001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98552774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312569902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62435621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16835482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7224124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49003167"/>
                    </a:ext>
                  </a:extLst>
                </a:gridCol>
              </a:tblGrid>
              <a:tr h="56026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-257.8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-117.2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-6.3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18.4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25.3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66.9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77.3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128.1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145.6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05696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11E6F873-D316-4712-A45D-533EAE524194}"/>
              </a:ext>
            </a:extLst>
          </p:cNvPr>
          <p:cNvSpPr txBox="1"/>
          <p:nvPr/>
        </p:nvSpPr>
        <p:spPr>
          <a:xfrm>
            <a:off x="298936" y="5121453"/>
            <a:ext cx="23985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  <a:latin typeface="Aptos" panose="020B0004020202020204" pitchFamily="34" charset="0"/>
              </a:rPr>
              <a:t>3-bit: 2</a:t>
            </a:r>
            <a:r>
              <a:rPr lang="en-US" sz="3200" b="1" baseline="30000" dirty="0">
                <a:solidFill>
                  <a:schemeClr val="accent1"/>
                </a:solidFill>
                <a:latin typeface="Aptos" panose="020B0004020202020204" pitchFamily="34" charset="0"/>
              </a:rPr>
              <a:t>3 </a:t>
            </a:r>
            <a:r>
              <a:rPr lang="en-US" sz="3200" b="1" dirty="0">
                <a:solidFill>
                  <a:schemeClr val="accent1"/>
                </a:solidFill>
                <a:latin typeface="Aptos" panose="020B0004020202020204" pitchFamily="34" charset="0"/>
              </a:rPr>
              <a:t>= 8</a:t>
            </a:r>
          </a:p>
        </p:txBody>
      </p:sp>
      <p:graphicFrame>
        <p:nvGraphicFramePr>
          <p:cNvPr id="15" name="Table 10">
            <a:extLst>
              <a:ext uri="{FF2B5EF4-FFF2-40B4-BE49-F238E27FC236}">
                <a16:creationId xmlns:a16="http://schemas.microsoft.com/office/drawing/2014/main" id="{C0480EC4-74BB-4366-84BA-FFCCCD7198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3384802"/>
              </p:ext>
            </p:extLst>
          </p:nvPr>
        </p:nvGraphicFramePr>
        <p:xfrm>
          <a:off x="2697479" y="5121453"/>
          <a:ext cx="6710288" cy="560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786">
                  <a:extLst>
                    <a:ext uri="{9D8B030D-6E8A-4147-A177-3AD203B41FA5}">
                      <a16:colId xmlns:a16="http://schemas.microsoft.com/office/drawing/2014/main" val="1515804076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2638495443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2418229317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2619432001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985527746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3125699022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624356212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1683548247"/>
                    </a:ext>
                  </a:extLst>
                </a:gridCol>
              </a:tblGrid>
              <a:tr h="56026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056963"/>
                  </a:ext>
                </a:extLst>
              </a:tr>
            </a:tbl>
          </a:graphicData>
        </a:graphic>
      </p:graphicFrame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203ADB88-51E8-4F22-BFB6-D8DCADE92C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1593479"/>
              </p:ext>
            </p:extLst>
          </p:nvPr>
        </p:nvGraphicFramePr>
        <p:xfrm>
          <a:off x="583808" y="2847491"/>
          <a:ext cx="10937630" cy="560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763">
                  <a:extLst>
                    <a:ext uri="{9D8B030D-6E8A-4147-A177-3AD203B41FA5}">
                      <a16:colId xmlns:a16="http://schemas.microsoft.com/office/drawing/2014/main" val="151580407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38495443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41822931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19432001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98552774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312569902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62435621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16835482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7224124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49003167"/>
                    </a:ext>
                  </a:extLst>
                </a:gridCol>
              </a:tblGrid>
              <a:tr h="560261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-4.47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-2.03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-0.11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0.32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0.44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1.16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1.34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2.22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2.53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05696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C97222-FF02-4202-A080-32733CDDDEE8}"/>
                  </a:ext>
                </a:extLst>
              </p:cNvPr>
              <p:cNvSpPr txBox="1"/>
              <p:nvPr/>
            </p:nvSpPr>
            <p:spPr>
              <a:xfrm>
                <a:off x="5380892" y="2194766"/>
                <a:ext cx="2305342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𝟓𝟕</m:t>
                      </m:r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𝟔𝟑</m:t>
                      </m:r>
                    </m:oMath>
                  </m:oMathPara>
                </a14:m>
                <a:endParaRPr lang="en-US" sz="32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C97222-FF02-4202-A080-32733CDDD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0892" y="2194766"/>
                <a:ext cx="2305342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81B7CFD-2271-44BD-8801-BF212D865A38}"/>
              </a:ext>
            </a:extLst>
          </p:cNvPr>
          <p:cNvCxnSpPr>
            <a:cxnSpLocks/>
          </p:cNvCxnSpPr>
          <p:nvPr/>
        </p:nvCxnSpPr>
        <p:spPr>
          <a:xfrm>
            <a:off x="1125415" y="2145323"/>
            <a:ext cx="0" cy="64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F262A50-4F4A-42C9-AB1B-F7ADD7FC13A3}"/>
              </a:ext>
            </a:extLst>
          </p:cNvPr>
          <p:cNvCxnSpPr>
            <a:cxnSpLocks/>
          </p:cNvCxnSpPr>
          <p:nvPr/>
        </p:nvCxnSpPr>
        <p:spPr>
          <a:xfrm>
            <a:off x="2227384" y="2139461"/>
            <a:ext cx="0" cy="64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0">
            <a:extLst>
              <a:ext uri="{FF2B5EF4-FFF2-40B4-BE49-F238E27FC236}">
                <a16:creationId xmlns:a16="http://schemas.microsoft.com/office/drawing/2014/main" id="{B4C1B9D1-92D0-4113-9968-FF877832A1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8177819"/>
              </p:ext>
            </p:extLst>
          </p:nvPr>
        </p:nvGraphicFramePr>
        <p:xfrm>
          <a:off x="583808" y="4037226"/>
          <a:ext cx="10937630" cy="560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763">
                  <a:extLst>
                    <a:ext uri="{9D8B030D-6E8A-4147-A177-3AD203B41FA5}">
                      <a16:colId xmlns:a16="http://schemas.microsoft.com/office/drawing/2014/main" val="151580407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38495443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41822931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19432001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98552774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312569902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62435621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16835482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7224124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49003167"/>
                    </a:ext>
                  </a:extLst>
                </a:gridCol>
              </a:tblGrid>
              <a:tr h="560261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2.44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4.36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4.47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4.79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4.91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5.63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5.81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6.69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7.00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056963"/>
                  </a:ext>
                </a:extLst>
              </a:tr>
            </a:tbl>
          </a:graphicData>
        </a:graphic>
      </p:graphicFrame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A6153C2-A390-4F9E-9C04-2112904EFFDA}"/>
              </a:ext>
            </a:extLst>
          </p:cNvPr>
          <p:cNvCxnSpPr>
            <a:cxnSpLocks/>
          </p:cNvCxnSpPr>
          <p:nvPr/>
        </p:nvCxnSpPr>
        <p:spPr>
          <a:xfrm>
            <a:off x="1125415" y="3407752"/>
            <a:ext cx="0" cy="64008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E330AB4-2369-4FD0-8660-02267FDA098B}"/>
                  </a:ext>
                </a:extLst>
              </p:cNvPr>
              <p:cNvSpPr txBox="1"/>
              <p:nvPr/>
            </p:nvSpPr>
            <p:spPr>
              <a:xfrm>
                <a:off x="5688037" y="3427937"/>
                <a:ext cx="1479451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3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  <m:r>
                        <a:rPr lang="en-US" sz="3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3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𝟒𝟕</m:t>
                      </m:r>
                    </m:oMath>
                  </m:oMathPara>
                </a14:m>
                <a:endParaRPr lang="en-US" sz="3200" dirty="0">
                  <a:solidFill>
                    <a:schemeClr val="accent6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E330AB4-2369-4FD0-8660-02267FDA0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8037" y="3427937"/>
                <a:ext cx="1479451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64F1F9D-7F64-46FC-A630-9D199E6EAD85}"/>
              </a:ext>
            </a:extLst>
          </p:cNvPr>
          <p:cNvCxnSpPr>
            <a:cxnSpLocks/>
          </p:cNvCxnSpPr>
          <p:nvPr/>
        </p:nvCxnSpPr>
        <p:spPr>
          <a:xfrm>
            <a:off x="2227384" y="3407752"/>
            <a:ext cx="0" cy="64008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740C6D2-55A7-4532-BA6A-EF51FDE25B01}"/>
              </a:ext>
            </a:extLst>
          </p:cNvPr>
          <p:cNvCxnSpPr>
            <a:cxnSpLocks/>
          </p:cNvCxnSpPr>
          <p:nvPr/>
        </p:nvCxnSpPr>
        <p:spPr>
          <a:xfrm>
            <a:off x="1125415" y="4597487"/>
            <a:ext cx="1983545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1463723-D88D-4612-941D-B196935D0BF8}"/>
              </a:ext>
            </a:extLst>
          </p:cNvPr>
          <p:cNvCxnSpPr>
            <a:cxnSpLocks/>
          </p:cNvCxnSpPr>
          <p:nvPr/>
        </p:nvCxnSpPr>
        <p:spPr>
          <a:xfrm>
            <a:off x="2227384" y="4597487"/>
            <a:ext cx="2513428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F2537FE-1552-4C4B-88F4-BEDC1BC17602}"/>
              </a:ext>
            </a:extLst>
          </p:cNvPr>
          <p:cNvCxnSpPr>
            <a:cxnSpLocks/>
          </p:cNvCxnSpPr>
          <p:nvPr/>
        </p:nvCxnSpPr>
        <p:spPr>
          <a:xfrm>
            <a:off x="3319975" y="4597487"/>
            <a:ext cx="3123028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51CAC99-7A8D-46FC-B223-EC5ACC88079C}"/>
              </a:ext>
            </a:extLst>
          </p:cNvPr>
          <p:cNvCxnSpPr>
            <a:cxnSpLocks/>
          </p:cNvCxnSpPr>
          <p:nvPr/>
        </p:nvCxnSpPr>
        <p:spPr>
          <a:xfrm>
            <a:off x="4417255" y="4597487"/>
            <a:ext cx="2025748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AC55159-C094-4500-9985-64FA1A447347}"/>
              </a:ext>
            </a:extLst>
          </p:cNvPr>
          <p:cNvCxnSpPr>
            <a:cxnSpLocks/>
          </p:cNvCxnSpPr>
          <p:nvPr/>
        </p:nvCxnSpPr>
        <p:spPr>
          <a:xfrm>
            <a:off x="5528603" y="4597487"/>
            <a:ext cx="1786597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2912186-19B1-4882-ABBF-4D6D02E2853B}"/>
              </a:ext>
            </a:extLst>
          </p:cNvPr>
          <p:cNvCxnSpPr>
            <a:cxnSpLocks/>
          </p:cNvCxnSpPr>
          <p:nvPr/>
        </p:nvCxnSpPr>
        <p:spPr>
          <a:xfrm>
            <a:off x="6668086" y="4597487"/>
            <a:ext cx="647114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E5823F9-24A6-40E3-AE38-67BC425F90B2}"/>
              </a:ext>
            </a:extLst>
          </p:cNvPr>
          <p:cNvCxnSpPr>
            <a:cxnSpLocks/>
          </p:cNvCxnSpPr>
          <p:nvPr/>
        </p:nvCxnSpPr>
        <p:spPr>
          <a:xfrm>
            <a:off x="7686234" y="4597487"/>
            <a:ext cx="416757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AE5E33F-48E1-4601-82DB-903EB78258F9}"/>
              </a:ext>
            </a:extLst>
          </p:cNvPr>
          <p:cNvCxnSpPr>
            <a:cxnSpLocks/>
          </p:cNvCxnSpPr>
          <p:nvPr/>
        </p:nvCxnSpPr>
        <p:spPr>
          <a:xfrm flipH="1">
            <a:off x="8102991" y="4597487"/>
            <a:ext cx="710418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E872F94-FD39-4EC3-B0FC-8000E605A769}"/>
              </a:ext>
            </a:extLst>
          </p:cNvPr>
          <p:cNvCxnSpPr>
            <a:cxnSpLocks/>
          </p:cNvCxnSpPr>
          <p:nvPr/>
        </p:nvCxnSpPr>
        <p:spPr>
          <a:xfrm flipH="1">
            <a:off x="9010357" y="4597487"/>
            <a:ext cx="886266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7D2C302-A600-41DF-85A9-76DCE28473E5}"/>
              </a:ext>
            </a:extLst>
          </p:cNvPr>
          <p:cNvCxnSpPr>
            <a:cxnSpLocks/>
          </p:cNvCxnSpPr>
          <p:nvPr/>
        </p:nvCxnSpPr>
        <p:spPr>
          <a:xfrm flipH="1">
            <a:off x="9083042" y="4597487"/>
            <a:ext cx="1910861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0F8BF45-4302-48D6-996D-9C3CEDA8044F}"/>
              </a:ext>
            </a:extLst>
          </p:cNvPr>
          <p:cNvSpPr txBox="1"/>
          <p:nvPr/>
        </p:nvSpPr>
        <p:spPr>
          <a:xfrm>
            <a:off x="2546252" y="5718551"/>
            <a:ext cx="82436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Aptos" panose="020B0004020202020204" pitchFamily="34" charset="0"/>
              </a:rPr>
              <a:t>Zeros are very common in ML but are tampered</a:t>
            </a:r>
            <a:endParaRPr lang="en-US" sz="2400" b="1" dirty="0">
              <a:solidFill>
                <a:schemeClr val="accent4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27694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34691B-ECCE-4AC1-B461-873015A6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91DBE88-E4CD-4008-9F89-22640A46B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Quantization Method 2 – Integer (Example)</a:t>
            </a:r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CB6358EB-B87A-4A4F-A3D5-0E4086256C2F}"/>
              </a:ext>
            </a:extLst>
          </p:cNvPr>
          <p:cNvGraphicFramePr>
            <a:graphicFrameLocks noGrp="1"/>
          </p:cNvGraphicFramePr>
          <p:nvPr/>
        </p:nvGraphicFramePr>
        <p:xfrm>
          <a:off x="583808" y="1585062"/>
          <a:ext cx="10937630" cy="560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763">
                  <a:extLst>
                    <a:ext uri="{9D8B030D-6E8A-4147-A177-3AD203B41FA5}">
                      <a16:colId xmlns:a16="http://schemas.microsoft.com/office/drawing/2014/main" val="151580407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38495443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41822931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19432001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98552774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312569902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62435621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16835482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7224124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49003167"/>
                    </a:ext>
                  </a:extLst>
                </a:gridCol>
              </a:tblGrid>
              <a:tr h="56026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-257.8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-117.2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-6.3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18.4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25.3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66.9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77.3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128.1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145.6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05696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11E6F873-D316-4712-A45D-533EAE524194}"/>
              </a:ext>
            </a:extLst>
          </p:cNvPr>
          <p:cNvSpPr txBox="1"/>
          <p:nvPr/>
        </p:nvSpPr>
        <p:spPr>
          <a:xfrm>
            <a:off x="298936" y="5121453"/>
            <a:ext cx="23985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  <a:latin typeface="Aptos" panose="020B0004020202020204" pitchFamily="34" charset="0"/>
              </a:rPr>
              <a:t>3-bit: 2</a:t>
            </a:r>
            <a:r>
              <a:rPr lang="en-US" sz="3200" b="1" baseline="30000" dirty="0">
                <a:solidFill>
                  <a:schemeClr val="accent1"/>
                </a:solidFill>
                <a:latin typeface="Aptos" panose="020B0004020202020204" pitchFamily="34" charset="0"/>
              </a:rPr>
              <a:t>3 </a:t>
            </a:r>
            <a:r>
              <a:rPr lang="en-US" sz="3200" b="1" dirty="0">
                <a:solidFill>
                  <a:schemeClr val="accent1"/>
                </a:solidFill>
                <a:latin typeface="Aptos" panose="020B0004020202020204" pitchFamily="34" charset="0"/>
              </a:rPr>
              <a:t>= 8</a:t>
            </a:r>
          </a:p>
        </p:txBody>
      </p:sp>
      <p:graphicFrame>
        <p:nvGraphicFramePr>
          <p:cNvPr id="15" name="Table 10">
            <a:extLst>
              <a:ext uri="{FF2B5EF4-FFF2-40B4-BE49-F238E27FC236}">
                <a16:creationId xmlns:a16="http://schemas.microsoft.com/office/drawing/2014/main" id="{C0480EC4-74BB-4366-84BA-FFCCCD7198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0607624"/>
              </p:ext>
            </p:extLst>
          </p:nvPr>
        </p:nvGraphicFramePr>
        <p:xfrm>
          <a:off x="2697479" y="5121453"/>
          <a:ext cx="6710288" cy="560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786">
                  <a:extLst>
                    <a:ext uri="{9D8B030D-6E8A-4147-A177-3AD203B41FA5}">
                      <a16:colId xmlns:a16="http://schemas.microsoft.com/office/drawing/2014/main" val="1515804076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2638495443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2418229317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2619432001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985527746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3125699022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624356212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1683548247"/>
                    </a:ext>
                  </a:extLst>
                </a:gridCol>
              </a:tblGrid>
              <a:tr h="56026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056963"/>
                  </a:ext>
                </a:extLst>
              </a:tr>
            </a:tbl>
          </a:graphicData>
        </a:graphic>
      </p:graphicFrame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203ADB88-51E8-4F22-BFB6-D8DCADE92C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4287928"/>
              </p:ext>
            </p:extLst>
          </p:nvPr>
        </p:nvGraphicFramePr>
        <p:xfrm>
          <a:off x="583808" y="2847491"/>
          <a:ext cx="10937630" cy="560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763">
                  <a:extLst>
                    <a:ext uri="{9D8B030D-6E8A-4147-A177-3AD203B41FA5}">
                      <a16:colId xmlns:a16="http://schemas.microsoft.com/office/drawing/2014/main" val="151580407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38495443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41822931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19432001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98552774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312569902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62435621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16835482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7224124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49003167"/>
                    </a:ext>
                  </a:extLst>
                </a:gridCol>
              </a:tblGrid>
              <a:tr h="560261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-4.47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-2.03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-0.11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0.32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0.44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1.16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1.34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2.22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2.53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05696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C97222-FF02-4202-A080-32733CDDDEE8}"/>
                  </a:ext>
                </a:extLst>
              </p:cNvPr>
              <p:cNvSpPr txBox="1"/>
              <p:nvPr/>
            </p:nvSpPr>
            <p:spPr>
              <a:xfrm>
                <a:off x="5380892" y="2194766"/>
                <a:ext cx="2305342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𝟓𝟕</m:t>
                      </m:r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𝟔𝟑</m:t>
                      </m:r>
                    </m:oMath>
                  </m:oMathPara>
                </a14:m>
                <a:endParaRPr lang="en-US" sz="32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C97222-FF02-4202-A080-32733CDDD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0892" y="2194766"/>
                <a:ext cx="2305342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81B7CFD-2271-44BD-8801-BF212D865A38}"/>
              </a:ext>
            </a:extLst>
          </p:cNvPr>
          <p:cNvCxnSpPr>
            <a:cxnSpLocks/>
          </p:cNvCxnSpPr>
          <p:nvPr/>
        </p:nvCxnSpPr>
        <p:spPr>
          <a:xfrm>
            <a:off x="1125415" y="2145323"/>
            <a:ext cx="0" cy="64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F262A50-4F4A-42C9-AB1B-F7ADD7FC13A3}"/>
              </a:ext>
            </a:extLst>
          </p:cNvPr>
          <p:cNvCxnSpPr>
            <a:cxnSpLocks/>
          </p:cNvCxnSpPr>
          <p:nvPr/>
        </p:nvCxnSpPr>
        <p:spPr>
          <a:xfrm>
            <a:off x="2227384" y="2139461"/>
            <a:ext cx="0" cy="64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0">
            <a:extLst>
              <a:ext uri="{FF2B5EF4-FFF2-40B4-BE49-F238E27FC236}">
                <a16:creationId xmlns:a16="http://schemas.microsoft.com/office/drawing/2014/main" id="{B4C1B9D1-92D0-4113-9968-FF877832A1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4721796"/>
              </p:ext>
            </p:extLst>
          </p:nvPr>
        </p:nvGraphicFramePr>
        <p:xfrm>
          <a:off x="583808" y="4037226"/>
          <a:ext cx="10937630" cy="560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763">
                  <a:extLst>
                    <a:ext uri="{9D8B030D-6E8A-4147-A177-3AD203B41FA5}">
                      <a16:colId xmlns:a16="http://schemas.microsoft.com/office/drawing/2014/main" val="151580407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38495443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41822931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19432001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98552774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312569902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62435621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16835482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7224124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49003167"/>
                    </a:ext>
                  </a:extLst>
                </a:gridCol>
              </a:tblGrid>
              <a:tr h="560261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0.53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2.97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4.89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5.00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5.32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5.44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6.16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6.34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7.22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7.53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056963"/>
                  </a:ext>
                </a:extLst>
              </a:tr>
            </a:tbl>
          </a:graphicData>
        </a:graphic>
      </p:graphicFrame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A6153C2-A390-4F9E-9C04-2112904EFFDA}"/>
              </a:ext>
            </a:extLst>
          </p:cNvPr>
          <p:cNvCxnSpPr>
            <a:cxnSpLocks/>
          </p:cNvCxnSpPr>
          <p:nvPr/>
        </p:nvCxnSpPr>
        <p:spPr>
          <a:xfrm>
            <a:off x="1125415" y="3407752"/>
            <a:ext cx="0" cy="64008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E330AB4-2369-4FD0-8660-02267FDA098B}"/>
                  </a:ext>
                </a:extLst>
              </p:cNvPr>
              <p:cNvSpPr txBox="1"/>
              <p:nvPr/>
            </p:nvSpPr>
            <p:spPr>
              <a:xfrm>
                <a:off x="5688037" y="3427937"/>
                <a:ext cx="1479451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3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sz="3200" dirty="0">
                  <a:solidFill>
                    <a:schemeClr val="accent6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E330AB4-2369-4FD0-8660-02267FDA0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8037" y="3427937"/>
                <a:ext cx="1479451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64F1F9D-7F64-46FC-A630-9D199E6EAD85}"/>
              </a:ext>
            </a:extLst>
          </p:cNvPr>
          <p:cNvCxnSpPr>
            <a:cxnSpLocks/>
          </p:cNvCxnSpPr>
          <p:nvPr/>
        </p:nvCxnSpPr>
        <p:spPr>
          <a:xfrm>
            <a:off x="2227384" y="3407752"/>
            <a:ext cx="0" cy="64008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740C6D2-55A7-4532-BA6A-EF51FDE25B01}"/>
              </a:ext>
            </a:extLst>
          </p:cNvPr>
          <p:cNvCxnSpPr>
            <a:cxnSpLocks/>
          </p:cNvCxnSpPr>
          <p:nvPr/>
        </p:nvCxnSpPr>
        <p:spPr>
          <a:xfrm>
            <a:off x="1125415" y="4597487"/>
            <a:ext cx="2817052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1463723-D88D-4612-941D-B196935D0BF8}"/>
              </a:ext>
            </a:extLst>
          </p:cNvPr>
          <p:cNvCxnSpPr>
            <a:cxnSpLocks/>
          </p:cNvCxnSpPr>
          <p:nvPr/>
        </p:nvCxnSpPr>
        <p:spPr>
          <a:xfrm>
            <a:off x="2227384" y="4597487"/>
            <a:ext cx="3460653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F2537FE-1552-4C4B-88F4-BEDC1BC17602}"/>
              </a:ext>
            </a:extLst>
          </p:cNvPr>
          <p:cNvCxnSpPr>
            <a:cxnSpLocks/>
          </p:cNvCxnSpPr>
          <p:nvPr/>
        </p:nvCxnSpPr>
        <p:spPr>
          <a:xfrm>
            <a:off x="3319975" y="4597487"/>
            <a:ext cx="3940126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51CAC99-7A8D-46FC-B223-EC5ACC88079C}"/>
              </a:ext>
            </a:extLst>
          </p:cNvPr>
          <p:cNvCxnSpPr>
            <a:cxnSpLocks/>
          </p:cNvCxnSpPr>
          <p:nvPr/>
        </p:nvCxnSpPr>
        <p:spPr>
          <a:xfrm>
            <a:off x="4417255" y="4597487"/>
            <a:ext cx="2842846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AC55159-C094-4500-9985-64FA1A447347}"/>
              </a:ext>
            </a:extLst>
          </p:cNvPr>
          <p:cNvCxnSpPr>
            <a:cxnSpLocks/>
          </p:cNvCxnSpPr>
          <p:nvPr/>
        </p:nvCxnSpPr>
        <p:spPr>
          <a:xfrm>
            <a:off x="5528603" y="4597487"/>
            <a:ext cx="1786597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2912186-19B1-4882-ABBF-4D6D02E2853B}"/>
              </a:ext>
            </a:extLst>
          </p:cNvPr>
          <p:cNvCxnSpPr>
            <a:cxnSpLocks/>
          </p:cNvCxnSpPr>
          <p:nvPr/>
        </p:nvCxnSpPr>
        <p:spPr>
          <a:xfrm>
            <a:off x="6668086" y="4597487"/>
            <a:ext cx="647114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E5823F9-24A6-40E3-AE38-67BC425F90B2}"/>
              </a:ext>
            </a:extLst>
          </p:cNvPr>
          <p:cNvCxnSpPr>
            <a:cxnSpLocks/>
          </p:cNvCxnSpPr>
          <p:nvPr/>
        </p:nvCxnSpPr>
        <p:spPr>
          <a:xfrm>
            <a:off x="7686234" y="4597487"/>
            <a:ext cx="416757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AE5E33F-48E1-4601-82DB-903EB78258F9}"/>
              </a:ext>
            </a:extLst>
          </p:cNvPr>
          <p:cNvCxnSpPr>
            <a:cxnSpLocks/>
          </p:cNvCxnSpPr>
          <p:nvPr/>
        </p:nvCxnSpPr>
        <p:spPr>
          <a:xfrm flipH="1">
            <a:off x="8102991" y="4597487"/>
            <a:ext cx="710418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E872F94-FD39-4EC3-B0FC-8000E605A769}"/>
              </a:ext>
            </a:extLst>
          </p:cNvPr>
          <p:cNvCxnSpPr>
            <a:cxnSpLocks/>
          </p:cNvCxnSpPr>
          <p:nvPr/>
        </p:nvCxnSpPr>
        <p:spPr>
          <a:xfrm flipH="1">
            <a:off x="9010357" y="4597487"/>
            <a:ext cx="886266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7D2C302-A600-41DF-85A9-76DCE28473E5}"/>
              </a:ext>
            </a:extLst>
          </p:cNvPr>
          <p:cNvCxnSpPr>
            <a:cxnSpLocks/>
          </p:cNvCxnSpPr>
          <p:nvPr/>
        </p:nvCxnSpPr>
        <p:spPr>
          <a:xfrm flipH="1">
            <a:off x="9083042" y="4597487"/>
            <a:ext cx="1910861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0F8BF45-4302-48D6-996D-9C3CEDA8044F}"/>
              </a:ext>
            </a:extLst>
          </p:cNvPr>
          <p:cNvSpPr txBox="1"/>
          <p:nvPr/>
        </p:nvSpPr>
        <p:spPr>
          <a:xfrm>
            <a:off x="3756073" y="5802957"/>
            <a:ext cx="5139982" cy="461665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latin typeface="Aptos" panose="020B0004020202020204" pitchFamily="34" charset="0"/>
              </a:rPr>
              <a:t>A better approach: align the zero!</a:t>
            </a:r>
            <a:endParaRPr lang="en-US" sz="2400" b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26951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34691B-ECCE-4AC1-B461-873015A6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91DBE88-E4CD-4008-9F89-22640A46B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Quantization Method 2 – Integer (Example)</a:t>
            </a:r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CB6358EB-B87A-4A4F-A3D5-0E4086256C2F}"/>
              </a:ext>
            </a:extLst>
          </p:cNvPr>
          <p:cNvGraphicFramePr>
            <a:graphicFrameLocks noGrp="1"/>
          </p:cNvGraphicFramePr>
          <p:nvPr/>
        </p:nvGraphicFramePr>
        <p:xfrm>
          <a:off x="583808" y="1585062"/>
          <a:ext cx="10937630" cy="560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763">
                  <a:extLst>
                    <a:ext uri="{9D8B030D-6E8A-4147-A177-3AD203B41FA5}">
                      <a16:colId xmlns:a16="http://schemas.microsoft.com/office/drawing/2014/main" val="151580407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38495443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41822931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19432001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98552774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312569902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62435621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16835482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7224124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49003167"/>
                    </a:ext>
                  </a:extLst>
                </a:gridCol>
              </a:tblGrid>
              <a:tr h="56026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-257.8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-117.2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-6.3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18.4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25.3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66.9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77.3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128.1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145.6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05696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11E6F873-D316-4712-A45D-533EAE524194}"/>
              </a:ext>
            </a:extLst>
          </p:cNvPr>
          <p:cNvSpPr txBox="1"/>
          <p:nvPr/>
        </p:nvSpPr>
        <p:spPr>
          <a:xfrm>
            <a:off x="298936" y="5121453"/>
            <a:ext cx="23985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  <a:latin typeface="Aptos" panose="020B0004020202020204" pitchFamily="34" charset="0"/>
              </a:rPr>
              <a:t>3-bit: 2</a:t>
            </a:r>
            <a:r>
              <a:rPr lang="en-US" sz="3200" b="1" baseline="30000" dirty="0">
                <a:solidFill>
                  <a:schemeClr val="accent1"/>
                </a:solidFill>
                <a:latin typeface="Aptos" panose="020B0004020202020204" pitchFamily="34" charset="0"/>
              </a:rPr>
              <a:t>3 </a:t>
            </a:r>
            <a:r>
              <a:rPr lang="en-US" sz="3200" b="1" dirty="0">
                <a:solidFill>
                  <a:schemeClr val="accent1"/>
                </a:solidFill>
                <a:latin typeface="Aptos" panose="020B0004020202020204" pitchFamily="34" charset="0"/>
              </a:rPr>
              <a:t>= 8</a:t>
            </a:r>
          </a:p>
        </p:txBody>
      </p:sp>
      <p:graphicFrame>
        <p:nvGraphicFramePr>
          <p:cNvPr id="15" name="Table 10">
            <a:extLst>
              <a:ext uri="{FF2B5EF4-FFF2-40B4-BE49-F238E27FC236}">
                <a16:creationId xmlns:a16="http://schemas.microsoft.com/office/drawing/2014/main" id="{C0480EC4-74BB-4366-84BA-FFCCCD7198CD}"/>
              </a:ext>
            </a:extLst>
          </p:cNvPr>
          <p:cNvGraphicFramePr>
            <a:graphicFrameLocks noGrp="1"/>
          </p:cNvGraphicFramePr>
          <p:nvPr/>
        </p:nvGraphicFramePr>
        <p:xfrm>
          <a:off x="2697479" y="5121453"/>
          <a:ext cx="6710288" cy="560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786">
                  <a:extLst>
                    <a:ext uri="{9D8B030D-6E8A-4147-A177-3AD203B41FA5}">
                      <a16:colId xmlns:a16="http://schemas.microsoft.com/office/drawing/2014/main" val="1515804076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2638495443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2418229317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2619432001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985527746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3125699022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624356212"/>
                    </a:ext>
                  </a:extLst>
                </a:gridCol>
                <a:gridCol w="838786">
                  <a:extLst>
                    <a:ext uri="{9D8B030D-6E8A-4147-A177-3AD203B41FA5}">
                      <a16:colId xmlns:a16="http://schemas.microsoft.com/office/drawing/2014/main" val="1683548247"/>
                    </a:ext>
                  </a:extLst>
                </a:gridCol>
              </a:tblGrid>
              <a:tr h="56026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056963"/>
                  </a:ext>
                </a:extLst>
              </a:tr>
            </a:tbl>
          </a:graphicData>
        </a:graphic>
      </p:graphicFrame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203ADB88-51E8-4F22-BFB6-D8DCADE92C2B}"/>
              </a:ext>
            </a:extLst>
          </p:cNvPr>
          <p:cNvGraphicFramePr>
            <a:graphicFrameLocks noGrp="1"/>
          </p:cNvGraphicFramePr>
          <p:nvPr/>
        </p:nvGraphicFramePr>
        <p:xfrm>
          <a:off x="583808" y="2847491"/>
          <a:ext cx="10937630" cy="560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763">
                  <a:extLst>
                    <a:ext uri="{9D8B030D-6E8A-4147-A177-3AD203B41FA5}">
                      <a16:colId xmlns:a16="http://schemas.microsoft.com/office/drawing/2014/main" val="151580407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38495443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41822931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19432001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98552774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312569902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62435621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16835482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7224124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49003167"/>
                    </a:ext>
                  </a:extLst>
                </a:gridCol>
              </a:tblGrid>
              <a:tr h="560261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-4.47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-2.03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-0.11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0.32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0.44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1.16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1.34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2.22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2.53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05696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C97222-FF02-4202-A080-32733CDDDEE8}"/>
                  </a:ext>
                </a:extLst>
              </p:cNvPr>
              <p:cNvSpPr txBox="1"/>
              <p:nvPr/>
            </p:nvSpPr>
            <p:spPr>
              <a:xfrm>
                <a:off x="5380892" y="2194766"/>
                <a:ext cx="2305342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𝟓𝟕</m:t>
                      </m:r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3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𝟔𝟑</m:t>
                      </m:r>
                    </m:oMath>
                  </m:oMathPara>
                </a14:m>
                <a:endParaRPr lang="en-US" sz="32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C97222-FF02-4202-A080-32733CDDD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0892" y="2194766"/>
                <a:ext cx="2305342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81B7CFD-2271-44BD-8801-BF212D865A38}"/>
              </a:ext>
            </a:extLst>
          </p:cNvPr>
          <p:cNvCxnSpPr>
            <a:cxnSpLocks/>
          </p:cNvCxnSpPr>
          <p:nvPr/>
        </p:nvCxnSpPr>
        <p:spPr>
          <a:xfrm>
            <a:off x="1125415" y="2145323"/>
            <a:ext cx="0" cy="64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F262A50-4F4A-42C9-AB1B-F7ADD7FC13A3}"/>
              </a:ext>
            </a:extLst>
          </p:cNvPr>
          <p:cNvCxnSpPr>
            <a:cxnSpLocks/>
          </p:cNvCxnSpPr>
          <p:nvPr/>
        </p:nvCxnSpPr>
        <p:spPr>
          <a:xfrm>
            <a:off x="2227384" y="2139461"/>
            <a:ext cx="0" cy="64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0">
            <a:extLst>
              <a:ext uri="{FF2B5EF4-FFF2-40B4-BE49-F238E27FC236}">
                <a16:creationId xmlns:a16="http://schemas.microsoft.com/office/drawing/2014/main" id="{B4C1B9D1-92D0-4113-9968-FF877832A14F}"/>
              </a:ext>
            </a:extLst>
          </p:cNvPr>
          <p:cNvGraphicFramePr>
            <a:graphicFrameLocks noGrp="1"/>
          </p:cNvGraphicFramePr>
          <p:nvPr/>
        </p:nvGraphicFramePr>
        <p:xfrm>
          <a:off x="583808" y="4037226"/>
          <a:ext cx="10937630" cy="560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763">
                  <a:extLst>
                    <a:ext uri="{9D8B030D-6E8A-4147-A177-3AD203B41FA5}">
                      <a16:colId xmlns:a16="http://schemas.microsoft.com/office/drawing/2014/main" val="151580407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38495443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41822931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2619432001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985527746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312569902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624356212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16835482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722412447"/>
                    </a:ext>
                  </a:extLst>
                </a:gridCol>
                <a:gridCol w="1093763">
                  <a:extLst>
                    <a:ext uri="{9D8B030D-6E8A-4147-A177-3AD203B41FA5}">
                      <a16:colId xmlns:a16="http://schemas.microsoft.com/office/drawing/2014/main" val="49003167"/>
                    </a:ext>
                  </a:extLst>
                </a:gridCol>
              </a:tblGrid>
              <a:tr h="560261"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0.53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2.97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4.89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5.00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5.32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5.44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6.16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6.34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7.22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7.53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056963"/>
                  </a:ext>
                </a:extLst>
              </a:tr>
            </a:tbl>
          </a:graphicData>
        </a:graphic>
      </p:graphicFrame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A6153C2-A390-4F9E-9C04-2112904EFFDA}"/>
              </a:ext>
            </a:extLst>
          </p:cNvPr>
          <p:cNvCxnSpPr>
            <a:cxnSpLocks/>
          </p:cNvCxnSpPr>
          <p:nvPr/>
        </p:nvCxnSpPr>
        <p:spPr>
          <a:xfrm>
            <a:off x="1125415" y="3407752"/>
            <a:ext cx="0" cy="64008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E330AB4-2369-4FD0-8660-02267FDA098B}"/>
                  </a:ext>
                </a:extLst>
              </p:cNvPr>
              <p:cNvSpPr txBox="1"/>
              <p:nvPr/>
            </p:nvSpPr>
            <p:spPr>
              <a:xfrm>
                <a:off x="5688037" y="3427937"/>
                <a:ext cx="1479451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32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sz="3200" dirty="0">
                  <a:solidFill>
                    <a:schemeClr val="accent6">
                      <a:lumMod val="7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E330AB4-2369-4FD0-8660-02267FDA0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8037" y="3427937"/>
                <a:ext cx="1479451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64F1F9D-7F64-46FC-A630-9D199E6EAD85}"/>
              </a:ext>
            </a:extLst>
          </p:cNvPr>
          <p:cNvCxnSpPr>
            <a:cxnSpLocks/>
          </p:cNvCxnSpPr>
          <p:nvPr/>
        </p:nvCxnSpPr>
        <p:spPr>
          <a:xfrm>
            <a:off x="2227384" y="3407752"/>
            <a:ext cx="0" cy="64008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740C6D2-55A7-4532-BA6A-EF51FDE25B01}"/>
              </a:ext>
            </a:extLst>
          </p:cNvPr>
          <p:cNvCxnSpPr>
            <a:cxnSpLocks/>
          </p:cNvCxnSpPr>
          <p:nvPr/>
        </p:nvCxnSpPr>
        <p:spPr>
          <a:xfrm>
            <a:off x="1125415" y="4597487"/>
            <a:ext cx="2817052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1463723-D88D-4612-941D-B196935D0BF8}"/>
              </a:ext>
            </a:extLst>
          </p:cNvPr>
          <p:cNvCxnSpPr>
            <a:cxnSpLocks/>
          </p:cNvCxnSpPr>
          <p:nvPr/>
        </p:nvCxnSpPr>
        <p:spPr>
          <a:xfrm>
            <a:off x="2227384" y="4597487"/>
            <a:ext cx="3460653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F2537FE-1552-4C4B-88F4-BEDC1BC17602}"/>
              </a:ext>
            </a:extLst>
          </p:cNvPr>
          <p:cNvCxnSpPr>
            <a:cxnSpLocks/>
          </p:cNvCxnSpPr>
          <p:nvPr/>
        </p:nvCxnSpPr>
        <p:spPr>
          <a:xfrm>
            <a:off x="3319975" y="4597487"/>
            <a:ext cx="3940126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51CAC99-7A8D-46FC-B223-EC5ACC88079C}"/>
              </a:ext>
            </a:extLst>
          </p:cNvPr>
          <p:cNvCxnSpPr>
            <a:cxnSpLocks/>
          </p:cNvCxnSpPr>
          <p:nvPr/>
        </p:nvCxnSpPr>
        <p:spPr>
          <a:xfrm>
            <a:off x="4417255" y="4597487"/>
            <a:ext cx="2842846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AC55159-C094-4500-9985-64FA1A447347}"/>
              </a:ext>
            </a:extLst>
          </p:cNvPr>
          <p:cNvCxnSpPr>
            <a:cxnSpLocks/>
          </p:cNvCxnSpPr>
          <p:nvPr/>
        </p:nvCxnSpPr>
        <p:spPr>
          <a:xfrm>
            <a:off x="5528603" y="4597487"/>
            <a:ext cx="1786597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2912186-19B1-4882-ABBF-4D6D02E2853B}"/>
              </a:ext>
            </a:extLst>
          </p:cNvPr>
          <p:cNvCxnSpPr>
            <a:cxnSpLocks/>
          </p:cNvCxnSpPr>
          <p:nvPr/>
        </p:nvCxnSpPr>
        <p:spPr>
          <a:xfrm>
            <a:off x="6668086" y="4597487"/>
            <a:ext cx="647114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E5823F9-24A6-40E3-AE38-67BC425F90B2}"/>
              </a:ext>
            </a:extLst>
          </p:cNvPr>
          <p:cNvCxnSpPr>
            <a:cxnSpLocks/>
          </p:cNvCxnSpPr>
          <p:nvPr/>
        </p:nvCxnSpPr>
        <p:spPr>
          <a:xfrm>
            <a:off x="7686234" y="4597487"/>
            <a:ext cx="416757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AE5E33F-48E1-4601-82DB-903EB78258F9}"/>
              </a:ext>
            </a:extLst>
          </p:cNvPr>
          <p:cNvCxnSpPr>
            <a:cxnSpLocks/>
          </p:cNvCxnSpPr>
          <p:nvPr/>
        </p:nvCxnSpPr>
        <p:spPr>
          <a:xfrm flipH="1">
            <a:off x="8102991" y="4597487"/>
            <a:ext cx="710418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E872F94-FD39-4EC3-B0FC-8000E605A769}"/>
              </a:ext>
            </a:extLst>
          </p:cNvPr>
          <p:cNvCxnSpPr>
            <a:cxnSpLocks/>
          </p:cNvCxnSpPr>
          <p:nvPr/>
        </p:nvCxnSpPr>
        <p:spPr>
          <a:xfrm flipH="1">
            <a:off x="9010357" y="4597487"/>
            <a:ext cx="886266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7D2C302-A600-41DF-85A9-76DCE28473E5}"/>
              </a:ext>
            </a:extLst>
          </p:cNvPr>
          <p:cNvCxnSpPr>
            <a:cxnSpLocks/>
          </p:cNvCxnSpPr>
          <p:nvPr/>
        </p:nvCxnSpPr>
        <p:spPr>
          <a:xfrm flipH="1">
            <a:off x="9083042" y="4597487"/>
            <a:ext cx="1910861" cy="52396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0F8BF45-4302-48D6-996D-9C3CEDA8044F}"/>
              </a:ext>
            </a:extLst>
          </p:cNvPr>
          <p:cNvSpPr txBox="1"/>
          <p:nvPr/>
        </p:nvSpPr>
        <p:spPr>
          <a:xfrm>
            <a:off x="3756073" y="5802957"/>
            <a:ext cx="5139982" cy="461665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latin typeface="Aptos" panose="020B0004020202020204" pitchFamily="34" charset="0"/>
              </a:rPr>
              <a:t>A better approach: align the zero!</a:t>
            </a:r>
            <a:endParaRPr lang="en-US" sz="2400" b="1" dirty="0">
              <a:latin typeface="Aptos" panose="020B00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4322AEC-989D-4755-8E66-C71FC26E6F06}"/>
              </a:ext>
            </a:extLst>
          </p:cNvPr>
          <p:cNvSpPr txBox="1"/>
          <p:nvPr/>
        </p:nvSpPr>
        <p:spPr>
          <a:xfrm>
            <a:off x="7673050" y="2183333"/>
            <a:ext cx="3560879" cy="1815882"/>
          </a:xfrm>
          <a:prstGeom prst="rect">
            <a:avLst/>
          </a:prstGeom>
          <a:solidFill>
            <a:srgbClr val="003057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Aptos" panose="020B0004020202020204" pitchFamily="34" charset="0"/>
              </a:rPr>
              <a:t>Many researches are trying to find the optimal scaling factor and bias…</a:t>
            </a:r>
            <a:endParaRPr lang="en-US" sz="28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79335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864A4E-D114-ED3E-00ED-B0475774A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Key Difference: Coupled vs Decoupled Range</a:t>
            </a:r>
          </a:p>
          <a:p>
            <a:endParaRPr lang="en-US" dirty="0"/>
          </a:p>
          <a:p>
            <a:r>
              <a:rPr lang="en-US" dirty="0"/>
              <a:t>Fixed-point:</a:t>
            </a:r>
          </a:p>
          <a:p>
            <a:pPr lvl="1"/>
            <a:r>
              <a:rPr lang="en-US" dirty="0"/>
              <a:t>Range determined by I</a:t>
            </a:r>
          </a:p>
          <a:p>
            <a:pPr lvl="1"/>
            <a:r>
              <a:rPr lang="en-US" dirty="0"/>
              <a:t>Precision determined by W − I</a:t>
            </a:r>
          </a:p>
          <a:p>
            <a:pPr lvl="1"/>
            <a:r>
              <a:rPr lang="en-US" dirty="0"/>
              <a:t>Strongly coupled</a:t>
            </a:r>
          </a:p>
          <a:p>
            <a:endParaRPr lang="en-US" dirty="0"/>
          </a:p>
          <a:p>
            <a:r>
              <a:rPr lang="en-US" dirty="0"/>
              <a:t>Integer quantization:</a:t>
            </a:r>
          </a:p>
          <a:p>
            <a:pPr lvl="1"/>
            <a:r>
              <a:rPr lang="en-US" dirty="0"/>
              <a:t>Range controlled by scale + bias</a:t>
            </a:r>
          </a:p>
          <a:p>
            <a:pPr lvl="1"/>
            <a:r>
              <a:rPr lang="en-US" dirty="0"/>
              <a:t>Precision controlled by integer bit-width</a:t>
            </a:r>
          </a:p>
          <a:p>
            <a:pPr lvl="1"/>
            <a:r>
              <a:rPr lang="en-US" dirty="0"/>
              <a:t>Decoupled design</a:t>
            </a:r>
          </a:p>
          <a:p>
            <a:endParaRPr lang="en-US" dirty="0"/>
          </a:p>
          <a:p>
            <a:r>
              <a:rPr lang="en-US" dirty="0"/>
              <a:t>Integer quantization enables ultra-low-bit inference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ACCE15-2C31-CA93-60E5-4FA931E56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2824A53-9077-B952-CACA-CB2AFCF6D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Fixed-Point vs Integer Quantization</a:t>
            </a:r>
          </a:p>
        </p:txBody>
      </p:sp>
    </p:spTree>
    <p:extLst>
      <p:ext uri="{BB962C8B-B14F-4D97-AF65-F5344CB8AC3E}">
        <p14:creationId xmlns:p14="http://schemas.microsoft.com/office/powerpoint/2010/main" val="1368002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054F062-A2A4-F936-8AA4-314D39797A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Choosing the Right Numeric Representation</a:t>
            </a:r>
          </a:p>
          <a:p>
            <a:endParaRPr lang="en-US" dirty="0"/>
          </a:p>
          <a:p>
            <a:r>
              <a:rPr lang="en-US" dirty="0"/>
              <a:t>Floating-point:</a:t>
            </a:r>
          </a:p>
          <a:p>
            <a:pPr lvl="1"/>
            <a:r>
              <a:rPr lang="en-US" dirty="0"/>
              <a:t>High dynamic range</a:t>
            </a:r>
          </a:p>
          <a:p>
            <a:pPr lvl="1"/>
            <a:r>
              <a:rPr lang="en-US" dirty="0"/>
              <a:t>Control-heavy logic</a:t>
            </a:r>
          </a:p>
          <a:p>
            <a:pPr lvl="1"/>
            <a:endParaRPr lang="en-US" dirty="0"/>
          </a:p>
          <a:p>
            <a:r>
              <a:rPr lang="en-US" dirty="0"/>
              <a:t>Fixed-point:</a:t>
            </a:r>
          </a:p>
          <a:p>
            <a:pPr lvl="1"/>
            <a:r>
              <a:rPr lang="en-US" dirty="0"/>
              <a:t>Medium precision</a:t>
            </a:r>
          </a:p>
          <a:p>
            <a:pPr lvl="1"/>
            <a:r>
              <a:rPr lang="en-US" dirty="0"/>
              <a:t>Known ranges</a:t>
            </a:r>
          </a:p>
          <a:p>
            <a:pPr lvl="1"/>
            <a:endParaRPr lang="en-US" dirty="0"/>
          </a:p>
          <a:p>
            <a:r>
              <a:rPr lang="en-US" dirty="0"/>
              <a:t>Integer quantization:</a:t>
            </a:r>
          </a:p>
          <a:p>
            <a:pPr lvl="1"/>
            <a:r>
              <a:rPr lang="en-US" dirty="0"/>
              <a:t>ML inference</a:t>
            </a:r>
          </a:p>
          <a:p>
            <a:pPr lvl="1"/>
            <a:r>
              <a:rPr lang="en-US" dirty="0"/>
              <a:t>≤8-bit</a:t>
            </a:r>
          </a:p>
          <a:p>
            <a:pPr lvl="1"/>
            <a:r>
              <a:rPr lang="en-US" dirty="0"/>
              <a:t>High efficiency</a:t>
            </a:r>
          </a:p>
          <a:p>
            <a:pPr lvl="1"/>
            <a:endParaRPr lang="en-US" dirty="0"/>
          </a:p>
          <a:p>
            <a:r>
              <a:rPr lang="en-US"/>
              <a:t>Precision </a:t>
            </a:r>
            <a:r>
              <a:rPr lang="en-US" dirty="0"/>
              <a:t>choice = </a:t>
            </a:r>
            <a:r>
              <a:rPr lang="en-US"/>
              <a:t>performance choice</a:t>
            </a:r>
            <a:endParaRPr lang="en-US" dirty="0"/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FBE414-D7FE-D0CF-639D-B855345BC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0339D9E-7C61-07F4-25C0-2CACB44E4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When to Use What (Decision Guide)</a:t>
            </a:r>
          </a:p>
        </p:txBody>
      </p:sp>
    </p:spTree>
    <p:extLst>
      <p:ext uri="{BB962C8B-B14F-4D97-AF65-F5344CB8AC3E}">
        <p14:creationId xmlns:p14="http://schemas.microsoft.com/office/powerpoint/2010/main" val="16635001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6D97CDF-B06D-410E-8775-114F69A657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Floating point representation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Fixed point representation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Overflow, underflow, rounding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Data quantization in Machine Learning</a:t>
            </a:r>
          </a:p>
          <a:p>
            <a:pPr lvl="1">
              <a:lnSpc>
                <a:spcPct val="150000"/>
              </a:lnSpc>
            </a:pPr>
            <a:r>
              <a:rPr lang="en-US" sz="2400"/>
              <a:t>Two approaches</a:t>
            </a:r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D5490C-7882-4BCE-AE03-375007CF7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F0B5614-08B3-483A-9081-7DB4DD653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3102528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ATech_PPTtemplate_2021_wide" id="{E85096BA-033B-D848-B268-A76C8AE5D2A4}" vid="{1C4A0A5B-2267-F04A-B00C-3FCDF7CFA02E}"/>
    </a:ext>
  </a:extLst>
</a:theme>
</file>

<file path=ppt/theme/theme3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388fff8-b053-4fb1-90cd-f0bc93ae9791}" enabled="1" method="Privileged" siteId="{39b03722-b836-496a-85ec-850f0957ca6b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32400</TotalTime>
  <Words>2212</Words>
  <Application>Microsoft Office PowerPoint</Application>
  <PresentationFormat>Widescreen</PresentationFormat>
  <Paragraphs>720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39</vt:i4>
      </vt:variant>
    </vt:vector>
  </HeadingPairs>
  <TitlesOfParts>
    <vt:vector size="52" baseType="lpstr">
      <vt:lpstr>宋体</vt:lpstr>
      <vt:lpstr>Aptos</vt:lpstr>
      <vt:lpstr>Aptos Display</vt:lpstr>
      <vt:lpstr>Arial</vt:lpstr>
      <vt:lpstr>Calibri</vt:lpstr>
      <vt:lpstr>Cambria Math</vt:lpstr>
      <vt:lpstr>Consolas</vt:lpstr>
      <vt:lpstr>Corbel</vt:lpstr>
      <vt:lpstr>Courier New</vt:lpstr>
      <vt:lpstr>Roboto</vt:lpstr>
      <vt:lpstr>Office Theme</vt:lpstr>
      <vt:lpstr>Custom Design</vt:lpstr>
      <vt:lpstr>1_Office Theme</vt:lpstr>
      <vt:lpstr>Data Type and Quantization</vt:lpstr>
      <vt:lpstr>Hardware Design with HLS</vt:lpstr>
      <vt:lpstr>Why Datatype Matters</vt:lpstr>
      <vt:lpstr>Outline</vt:lpstr>
      <vt:lpstr>Binary Number Representation</vt:lpstr>
      <vt:lpstr>IEEE 754 Floating Point Standard</vt:lpstr>
      <vt:lpstr>Using Existing Data Types in Hardware</vt:lpstr>
      <vt:lpstr>Arbitrary Data Precision using FPGA</vt:lpstr>
      <vt:lpstr>Example: Fixed-Point Modeling</vt:lpstr>
      <vt:lpstr>Fixed-Point Representation</vt:lpstr>
      <vt:lpstr>Fixed-Point Representation</vt:lpstr>
      <vt:lpstr>Floating-Point vs Fixed-Point on FPGA</vt:lpstr>
      <vt:lpstr>Fixed-Point Overflow and Underflow</vt:lpstr>
      <vt:lpstr>Handling Overflow</vt:lpstr>
      <vt:lpstr>Overflow Modes in HLS</vt:lpstr>
      <vt:lpstr>Handling Overflow Manually</vt:lpstr>
      <vt:lpstr>Handling Underflow – Rounding</vt:lpstr>
      <vt:lpstr>Handling Underflow – Rounding</vt:lpstr>
      <vt:lpstr>Quantization Modes in HLS</vt:lpstr>
      <vt:lpstr>Pros and Cons of Fixed Point</vt:lpstr>
      <vt:lpstr>Pitfalls of using Fixed-Point</vt:lpstr>
      <vt:lpstr>Outline</vt:lpstr>
      <vt:lpstr>Quantization for Machine Learning</vt:lpstr>
      <vt:lpstr>Why Does Quantization Work for ML?</vt:lpstr>
      <vt:lpstr>Why Does Quantization Work for ML?</vt:lpstr>
      <vt:lpstr>Quantization Method 1 – Fixed Point</vt:lpstr>
      <vt:lpstr>Quantization Method 2 – Integer</vt:lpstr>
      <vt:lpstr>Quantization Method 2 – Integer (Example)</vt:lpstr>
      <vt:lpstr>Quantization Method 2 – Integer (Example)</vt:lpstr>
      <vt:lpstr>Quantization Method 2 – Integer (Example)</vt:lpstr>
      <vt:lpstr>Quantization Method 2 – Integer (Example)</vt:lpstr>
      <vt:lpstr>Quantization Method 2 – Integer (Example)</vt:lpstr>
      <vt:lpstr>Quantization Method 2 – Integer (Example)</vt:lpstr>
      <vt:lpstr>Quantization Method 2 – Integer (Example)</vt:lpstr>
      <vt:lpstr>Quantization Method 2 – Integer (Example)</vt:lpstr>
      <vt:lpstr>Quantization Method 2 – Integer (Example)</vt:lpstr>
      <vt:lpstr>Fixed-Point vs Integer Quantization</vt:lpstr>
      <vt:lpstr>When to Use What (Decision Guide)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Anushka Sandeep</cp:lastModifiedBy>
  <cp:revision>3233</cp:revision>
  <dcterms:created xsi:type="dcterms:W3CDTF">2014-06-12T21:03:18Z</dcterms:created>
  <dcterms:modified xsi:type="dcterms:W3CDTF">2026-02-22T15:58:14Z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Theme:5\Custom Design:3\1_Office Theme:5</vt:lpwstr>
  </property>
  <property fmtid="{D5CDD505-2E9C-101B-9397-08002B2CF9AE}" pid="3" name="ClassificationContentMarkingFooterText">
    <vt:lpwstr>Company Use</vt:lpwstr>
  </property>
</Properties>
</file>