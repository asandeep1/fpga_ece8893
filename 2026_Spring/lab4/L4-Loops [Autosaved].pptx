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8"/>
  </p:notesMasterIdLst>
  <p:handoutMasterIdLst>
    <p:handoutMasterId r:id="rId49"/>
  </p:handoutMasterIdLst>
  <p:sldIdLst>
    <p:sldId id="261" r:id="rId4"/>
    <p:sldId id="1383" r:id="rId5"/>
    <p:sldId id="1459" r:id="rId6"/>
    <p:sldId id="1433" r:id="rId7"/>
    <p:sldId id="1434" r:id="rId8"/>
    <p:sldId id="1418" r:id="rId9"/>
    <p:sldId id="1503" r:id="rId10"/>
    <p:sldId id="1505" r:id="rId11"/>
    <p:sldId id="1506" r:id="rId12"/>
    <p:sldId id="1507" r:id="rId13"/>
    <p:sldId id="1508" r:id="rId14"/>
    <p:sldId id="1497" r:id="rId15"/>
    <p:sldId id="1512" r:id="rId16"/>
    <p:sldId id="1465" r:id="rId17"/>
    <p:sldId id="1469" r:id="rId18"/>
    <p:sldId id="1466" r:id="rId19"/>
    <p:sldId id="1470" r:id="rId20"/>
    <p:sldId id="1468" r:id="rId21"/>
    <p:sldId id="1499" r:id="rId22"/>
    <p:sldId id="1463" r:id="rId23"/>
    <p:sldId id="1464" r:id="rId24"/>
    <p:sldId id="1475" r:id="rId25"/>
    <p:sldId id="1477" r:id="rId26"/>
    <p:sldId id="1479" r:id="rId27"/>
    <p:sldId id="1513" r:id="rId28"/>
    <p:sldId id="1498" r:id="rId29"/>
    <p:sldId id="1473" r:id="rId30"/>
    <p:sldId id="1472" r:id="rId31"/>
    <p:sldId id="1474" r:id="rId32"/>
    <p:sldId id="1500" r:id="rId33"/>
    <p:sldId id="1482" r:id="rId34"/>
    <p:sldId id="1485" r:id="rId35"/>
    <p:sldId id="1509" r:id="rId36"/>
    <p:sldId id="1487" r:id="rId37"/>
    <p:sldId id="1488" r:id="rId38"/>
    <p:sldId id="1489" r:id="rId39"/>
    <p:sldId id="1484" r:id="rId40"/>
    <p:sldId id="1490" r:id="rId41"/>
    <p:sldId id="1492" r:id="rId42"/>
    <p:sldId id="1510" r:id="rId43"/>
    <p:sldId id="1511" r:id="rId44"/>
    <p:sldId id="1501" r:id="rId45"/>
    <p:sldId id="1494" r:id="rId46"/>
    <p:sldId id="150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7AFF"/>
    <a:srgbClr val="FFB602"/>
    <a:srgbClr val="FFC000"/>
    <a:srgbClr val="BF9000"/>
    <a:srgbClr val="920000"/>
    <a:srgbClr val="000000"/>
    <a:srgbClr val="C00000"/>
    <a:srgbClr val="9DC3E6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64EE2-0377-4459-9225-B20845566E8E}" v="4" dt="2026-02-03T17:13:56.011"/>
    <p1510:client id="{998F3623-8BCE-40DF-82E3-EE47CA9BC398}" v="7" dt="2026-02-03T17:48:26.514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71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834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1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942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F7B70-63CE-019C-554D-0F99F28D63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498D3-10A6-394C-3CC1-1252972E63C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23838-73AA-4AF8-625D-8070E9D480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197138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xilinx.com/r/en-US/ug1399-vitis-hls/HLS-Pragmas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xilinx.com/r/en-US/ug1399-vitis-hls/Getting-Started-with-Vitis-HLS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96" y="1244012"/>
            <a:ext cx="10723595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More about Loop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 Display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 Display" panose="020B0004020202020204" pitchFamily="34" charset="0"/>
              </a:rPr>
              <a:t>Sharc-lab @ Georgia Tech </a:t>
            </a:r>
            <a:r>
              <a:rPr lang="en-US" sz="2000" i="1" dirty="0">
                <a:latin typeface="Aptos Display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 Display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053767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097049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5D2C-0538-5878-3B7B-E7EC7252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17B5655-232C-1F3A-987D-FE987E69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4230152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F95494-8E8D-13C5-ED88-39237CB247C2}"/>
              </a:ext>
            </a:extLst>
          </p:cNvPr>
          <p:cNvCxnSpPr>
            <a:cxnSpLocks/>
          </p:cNvCxnSpPr>
          <p:nvPr/>
        </p:nvCxnSpPr>
        <p:spPr>
          <a:xfrm>
            <a:off x="7102365" y="5979792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7FD1B-4CCE-D6A1-AD9F-CAA3BD31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1763208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767001-FCF4-281E-40DE-931B3757F103}"/>
              </a:ext>
            </a:extLst>
          </p:cNvPr>
          <p:cNvCxnSpPr>
            <a:cxnSpLocks/>
          </p:cNvCxnSpPr>
          <p:nvPr/>
        </p:nvCxnSpPr>
        <p:spPr>
          <a:xfrm>
            <a:off x="7102365" y="3512848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0B8ECA-8DEF-57C3-3C12-142B0AA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/>
          <a:lstStyle/>
          <a:p>
            <a:r>
              <a:rPr lang="en-US" dirty="0"/>
              <a:t>The three techniques are frequently used together to boost computation efficiency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9CC90-3095-CC10-3CC9-F3E7CFB7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04733E-A6F7-9EA7-4203-40BFDC0B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Put-together: Pipeline + Unroll +Partition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824068A5-D0EA-52DA-36FF-2B4E5F79A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86" y="2258785"/>
            <a:ext cx="5615340" cy="30447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indent="174625">
              <a:defRPr sz="1600"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variable=A dim=2 complete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variable=B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variable=C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for (int i = 0; i &lt; N; i++)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#pragma HLS pipeline II=1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for (int j = 0; j </a:t>
            </a:r>
            <a:r>
              <a:rPr lang="en-US" altLang="zh-CN" sz="1400">
                <a:solidFill>
                  <a:schemeClr val="tx1"/>
                </a:solidFill>
              </a:rPr>
              <a:t>&lt; M; </a:t>
            </a:r>
            <a:r>
              <a:rPr lang="en-US" altLang="zh-CN" sz="1400" dirty="0" err="1">
                <a:solidFill>
                  <a:schemeClr val="tx1"/>
                </a:solidFill>
              </a:rPr>
              <a:t>j++</a:t>
            </a:r>
            <a:r>
              <a:rPr lang="en-US" altLang="zh-CN" sz="1400" dirty="0">
                <a:solidFill>
                  <a:schemeClr val="tx1"/>
                </a:solidFill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unroll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A[i][j] = B[i][j] * C[i][j];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}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D948E0-F4D6-68E8-F4A0-E6D0E171CFC4}"/>
              </a:ext>
            </a:extLst>
          </p:cNvPr>
          <p:cNvGrpSpPr/>
          <p:nvPr/>
        </p:nvGrpSpPr>
        <p:grpSpPr>
          <a:xfrm>
            <a:off x="7162800" y="1948893"/>
            <a:ext cx="3543300" cy="1480107"/>
            <a:chOff x="7162800" y="1948893"/>
            <a:chExt cx="3543300" cy="20019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BC68B8A-0B69-7498-288E-CB283A2D7F0D}"/>
                </a:ext>
              </a:extLst>
            </p:cNvPr>
            <p:cNvSpPr/>
            <p:nvPr/>
          </p:nvSpPr>
          <p:spPr>
            <a:xfrm>
              <a:off x="7162800" y="194889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80C8002-0985-348C-47C3-5B37B0E0433D}"/>
                </a:ext>
              </a:extLst>
            </p:cNvPr>
            <p:cNvSpPr/>
            <p:nvPr/>
          </p:nvSpPr>
          <p:spPr>
            <a:xfrm>
              <a:off x="7162800" y="2292825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B8912BD-A2B6-F22B-AB8A-0ECF8C836BFC}"/>
                </a:ext>
              </a:extLst>
            </p:cNvPr>
            <p:cNvSpPr/>
            <p:nvPr/>
          </p:nvSpPr>
          <p:spPr>
            <a:xfrm>
              <a:off x="8343900" y="265203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786F7F-EE1C-917C-5DF5-EB6E9BC7637E}"/>
                </a:ext>
              </a:extLst>
            </p:cNvPr>
            <p:cNvSpPr/>
            <p:nvPr/>
          </p:nvSpPr>
          <p:spPr>
            <a:xfrm>
              <a:off x="8343900" y="299596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271C5C2-9032-BF69-1F3E-B88D08B6FBAB}"/>
                </a:ext>
              </a:extLst>
            </p:cNvPr>
            <p:cNvSpPr/>
            <p:nvPr/>
          </p:nvSpPr>
          <p:spPr>
            <a:xfrm>
              <a:off x="9525000" y="3360658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D29F378-54CA-2F46-3901-91A2DDD10ADC}"/>
                </a:ext>
              </a:extLst>
            </p:cNvPr>
            <p:cNvSpPr/>
            <p:nvPr/>
          </p:nvSpPr>
          <p:spPr>
            <a:xfrm>
              <a:off x="9525000" y="3704590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D9392F-BFB7-7B43-5130-3AB614ADE1ED}"/>
              </a:ext>
            </a:extLst>
          </p:cNvPr>
          <p:cNvGrpSpPr/>
          <p:nvPr/>
        </p:nvGrpSpPr>
        <p:grpSpPr>
          <a:xfrm>
            <a:off x="7162800" y="4407970"/>
            <a:ext cx="1771650" cy="1454469"/>
            <a:chOff x="7162800" y="4698681"/>
            <a:chExt cx="1771650" cy="1996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226F98-4E97-9924-7F5C-62D0045980EC}"/>
                </a:ext>
              </a:extLst>
            </p:cNvPr>
            <p:cNvSpPr/>
            <p:nvPr/>
          </p:nvSpPr>
          <p:spPr>
            <a:xfrm>
              <a:off x="7162800" y="469868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A756F4-2B50-E89F-130A-A0D6223FB81A}"/>
                </a:ext>
              </a:extLst>
            </p:cNvPr>
            <p:cNvSpPr/>
            <p:nvPr/>
          </p:nvSpPr>
          <p:spPr>
            <a:xfrm>
              <a:off x="7162800" y="504261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282E03-5893-E95A-712E-0C4CA6741C09}"/>
                </a:ext>
              </a:extLst>
            </p:cNvPr>
            <p:cNvSpPr/>
            <p:nvPr/>
          </p:nvSpPr>
          <p:spPr>
            <a:xfrm>
              <a:off x="7467600" y="540181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464565-D422-F4E6-0858-3B3DD9DFC2A9}"/>
                </a:ext>
              </a:extLst>
            </p:cNvPr>
            <p:cNvSpPr/>
            <p:nvPr/>
          </p:nvSpPr>
          <p:spPr>
            <a:xfrm>
              <a:off x="7467600" y="574575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9656BCA-1F9B-11BE-2B78-06B01A104BCB}"/>
                </a:ext>
              </a:extLst>
            </p:cNvPr>
            <p:cNvSpPr/>
            <p:nvPr/>
          </p:nvSpPr>
          <p:spPr>
            <a:xfrm>
              <a:off x="7753350" y="6104957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D7870C8-ECA9-E315-3AA9-A9C829433669}"/>
                </a:ext>
              </a:extLst>
            </p:cNvPr>
            <p:cNvSpPr/>
            <p:nvPr/>
          </p:nvSpPr>
          <p:spPr>
            <a:xfrm>
              <a:off x="7753350" y="644888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ADA6C3-385E-98A9-A20C-A7B11AC218AA}"/>
              </a:ext>
            </a:extLst>
          </p:cNvPr>
          <p:cNvCxnSpPr>
            <a:cxnSpLocks/>
          </p:cNvCxnSpPr>
          <p:nvPr/>
        </p:nvCxnSpPr>
        <p:spPr>
          <a:xfrm>
            <a:off x="83439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65EA86-EBC0-6547-4FE2-5D1CB812025F}"/>
              </a:ext>
            </a:extLst>
          </p:cNvPr>
          <p:cNvCxnSpPr>
            <a:cxnSpLocks/>
          </p:cNvCxnSpPr>
          <p:nvPr/>
        </p:nvCxnSpPr>
        <p:spPr>
          <a:xfrm>
            <a:off x="95250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8" name="Freeform 12">
            <a:extLst>
              <a:ext uri="{FF2B5EF4-FFF2-40B4-BE49-F238E27FC236}">
                <a16:creationId xmlns:a16="http://schemas.microsoft.com/office/drawing/2014/main" id="{81E904F5-1A0D-6EC1-4FA3-B37D3715E8C0}"/>
              </a:ext>
            </a:extLst>
          </p:cNvPr>
          <p:cNvSpPr/>
          <p:nvPr/>
        </p:nvSpPr>
        <p:spPr>
          <a:xfrm>
            <a:off x="7132648" y="2357213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907C9EFB-123E-0B9B-56BF-8ABF50C6633E}"/>
              </a:ext>
            </a:extLst>
          </p:cNvPr>
          <p:cNvSpPr/>
          <p:nvPr/>
        </p:nvSpPr>
        <p:spPr>
          <a:xfrm>
            <a:off x="8385437" y="284013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DB1F53FD-9DDB-2FF1-9C07-43DBC626EF17}"/>
              </a:ext>
            </a:extLst>
          </p:cNvPr>
          <p:cNvSpPr/>
          <p:nvPr/>
        </p:nvSpPr>
        <p:spPr>
          <a:xfrm>
            <a:off x="9566537" y="268130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3" name="Freeform 12">
            <a:extLst>
              <a:ext uri="{FF2B5EF4-FFF2-40B4-BE49-F238E27FC236}">
                <a16:creationId xmlns:a16="http://schemas.microsoft.com/office/drawing/2014/main" id="{856A073C-C6CB-7706-FE19-A1EBD7F9B2B0}"/>
              </a:ext>
            </a:extLst>
          </p:cNvPr>
          <p:cNvSpPr/>
          <p:nvPr/>
        </p:nvSpPr>
        <p:spPr>
          <a:xfrm>
            <a:off x="8021339" y="441327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DA6AC89F-EDB0-9C3A-582E-C044B9C9F7FD}"/>
              </a:ext>
            </a:extLst>
          </p:cNvPr>
          <p:cNvSpPr/>
          <p:nvPr/>
        </p:nvSpPr>
        <p:spPr>
          <a:xfrm>
            <a:off x="8361511" y="492552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5" name="Freeform 12">
            <a:extLst>
              <a:ext uri="{FF2B5EF4-FFF2-40B4-BE49-F238E27FC236}">
                <a16:creationId xmlns:a16="http://schemas.microsoft.com/office/drawing/2014/main" id="{0D00EB5D-ABB9-AB03-73D9-C8D36BF7F35F}"/>
              </a:ext>
            </a:extLst>
          </p:cNvPr>
          <p:cNvSpPr/>
          <p:nvPr/>
        </p:nvSpPr>
        <p:spPr>
          <a:xfrm>
            <a:off x="8628850" y="547285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1BCA40-9B6A-F376-B728-0FF69D0EABEE}"/>
              </a:ext>
            </a:extLst>
          </p:cNvPr>
          <p:cNvCxnSpPr>
            <a:cxnSpLocks/>
          </p:cNvCxnSpPr>
          <p:nvPr/>
        </p:nvCxnSpPr>
        <p:spPr>
          <a:xfrm>
            <a:off x="746760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C01B0E3-3FFC-6D40-6FD0-BE062FB4878A}"/>
              </a:ext>
            </a:extLst>
          </p:cNvPr>
          <p:cNvCxnSpPr>
            <a:cxnSpLocks/>
          </p:cNvCxnSpPr>
          <p:nvPr/>
        </p:nvCxnSpPr>
        <p:spPr>
          <a:xfrm>
            <a:off x="775335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8" name="Freeform 12">
            <a:extLst>
              <a:ext uri="{FF2B5EF4-FFF2-40B4-BE49-F238E27FC236}">
                <a16:creationId xmlns:a16="http://schemas.microsoft.com/office/drawing/2014/main" id="{9F9277A0-C1ED-4327-4661-0A64CE317414}"/>
              </a:ext>
            </a:extLst>
          </p:cNvPr>
          <p:cNvSpPr/>
          <p:nvPr/>
        </p:nvSpPr>
        <p:spPr>
          <a:xfrm>
            <a:off x="4217738" y="3246913"/>
            <a:ext cx="2655525" cy="15356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Outer loop pipelining will enforce all inner loops fully unrolled. Why?</a:t>
            </a:r>
            <a:endParaRPr lang="en-US" b="1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A5C68AD-D4DC-0F00-8055-655366C41DE4}"/>
              </a:ext>
            </a:extLst>
          </p:cNvPr>
          <p:cNvSpPr/>
          <p:nvPr/>
        </p:nvSpPr>
        <p:spPr>
          <a:xfrm>
            <a:off x="2682240" y="3649980"/>
            <a:ext cx="1472413" cy="541020"/>
          </a:xfrm>
          <a:custGeom>
            <a:avLst/>
            <a:gdLst>
              <a:gd name="connsiteX0" fmla="*/ 624840 w 1365007"/>
              <a:gd name="connsiteY0" fmla="*/ 0 h 541020"/>
              <a:gd name="connsiteX1" fmla="*/ 1348740 w 1365007"/>
              <a:gd name="connsiteY1" fmla="*/ 228600 h 541020"/>
              <a:gd name="connsiteX2" fmla="*/ 0 w 1365007"/>
              <a:gd name="connsiteY2" fmla="*/ 54102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5007" h="541020">
                <a:moveTo>
                  <a:pt x="624840" y="0"/>
                </a:moveTo>
                <a:cubicBezTo>
                  <a:pt x="1038860" y="69215"/>
                  <a:pt x="1452880" y="138430"/>
                  <a:pt x="1348740" y="228600"/>
                </a:cubicBezTo>
                <a:cubicBezTo>
                  <a:pt x="1244600" y="318770"/>
                  <a:pt x="622300" y="429895"/>
                  <a:pt x="0" y="541020"/>
                </a:cubicBezTo>
              </a:path>
            </a:pathLst>
          </a:custGeom>
          <a:noFill/>
          <a:ln w="57150"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699043" cy="4484657"/>
          </a:xfrm>
        </p:spPr>
        <p:txBody>
          <a:bodyPr>
            <a:normAutofit/>
          </a:bodyPr>
          <a:lstStyle/>
          <a:p>
            <a:r>
              <a:rPr lang="en-US" dirty="0"/>
              <a:t>A lot of useful “</a:t>
            </a:r>
            <a:r>
              <a:rPr lang="en-US" dirty="0" err="1">
                <a:solidFill>
                  <a:schemeClr val="accent1"/>
                </a:solidFill>
              </a:rPr>
              <a:t>pragma</a:t>
            </a:r>
            <a:r>
              <a:rPr lang="en-US" dirty="0" err="1"/>
              <a:t>”s</a:t>
            </a:r>
            <a:r>
              <a:rPr lang="en-US" dirty="0"/>
              <a:t>: tell your compiler how to build the hardware</a:t>
            </a:r>
          </a:p>
          <a:p>
            <a:r>
              <a:rPr lang="en-US" dirty="0"/>
              <a:t>This link has all the </a:t>
            </a:r>
            <a:r>
              <a:rPr lang="en-US" dirty="0">
                <a:solidFill>
                  <a:schemeClr val="accent1"/>
                </a:solidFill>
              </a:rPr>
              <a:t>pragmas</a:t>
            </a:r>
            <a:r>
              <a:rPr lang="en-US" dirty="0"/>
              <a:t> you need:</a:t>
            </a:r>
          </a:p>
          <a:p>
            <a:pPr lvl="1"/>
            <a:r>
              <a:rPr lang="en-US" sz="1800" dirty="0">
                <a:hlinkClick r:id="rId2"/>
              </a:rPr>
              <a:t>https://docs.xilinx.com/r/en-US/ug1399-vitis-hls/HLS-Pragmas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HLS Pragmas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D453B-D27E-40B0-B813-0A43E275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87" y="2451218"/>
            <a:ext cx="4754595" cy="37983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B3E8EB-A2A7-4F9A-81F7-1F3009372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21" y="2606478"/>
            <a:ext cx="4953000" cy="364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7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D8BDCF-28E0-40A6-B8F5-1E5BEA78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842254"/>
          </a:xfrm>
        </p:spPr>
        <p:txBody>
          <a:bodyPr>
            <a:normAutofit/>
          </a:bodyPr>
          <a:lstStyle/>
          <a:p>
            <a:r>
              <a:rPr lang="en-US" dirty="0"/>
              <a:t>This link has everything you need to know about HLS…</a:t>
            </a:r>
          </a:p>
          <a:p>
            <a:pPr lvl="1"/>
            <a:r>
              <a:rPr lang="en-US" sz="2400" dirty="0">
                <a:hlinkClick r:id="rId2"/>
              </a:rPr>
              <a:t>https://docs.xilinx.com/r/en-US/ug1399-vitis-hls/Getting-Started-with-Vitis-HLS</a:t>
            </a:r>
            <a:endParaRPr lang="en-US" sz="2400" dirty="0"/>
          </a:p>
          <a:p>
            <a:pPr lvl="1"/>
            <a:r>
              <a:rPr lang="en-US" sz="2400" dirty="0"/>
              <a:t>I can be 100% substituted by this link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… or can I ???</a:t>
            </a:r>
            <a:endParaRPr lang="en-US" sz="3200" dirty="0"/>
          </a:p>
          <a:p>
            <a:r>
              <a:rPr lang="en-US" dirty="0"/>
              <a:t>Remember: using HLS for FPGA design is NOT all about playing with pragmas</a:t>
            </a:r>
          </a:p>
          <a:p>
            <a:r>
              <a:rPr lang="en-US" dirty="0"/>
              <a:t>It’s you designing an architecture, using HLS to achieve your goal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E47F3-E34C-4E73-B715-D593CD90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2AC857-597E-4077-938C-690B226D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HLS Resources</a:t>
            </a:r>
          </a:p>
        </p:txBody>
      </p:sp>
      <p:sp>
        <p:nvSpPr>
          <p:cNvPr id="7" name="正方形/長方形 190">
            <a:extLst>
              <a:ext uri="{FF2B5EF4-FFF2-40B4-BE49-F238E27FC236}">
                <a16:creationId xmlns:a16="http://schemas.microsoft.com/office/drawing/2014/main" id="{524E5181-B19A-3445-F5A8-D5BCC443E506}"/>
              </a:ext>
            </a:extLst>
          </p:cNvPr>
          <p:cNvSpPr/>
          <p:nvPr/>
        </p:nvSpPr>
        <p:spPr>
          <a:xfrm>
            <a:off x="652298" y="4153658"/>
            <a:ext cx="4689322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Let me see what are those pragmas?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193287-4416-2A8C-2E43-463593EA6D02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996959" y="4519418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190">
            <a:extLst>
              <a:ext uri="{FF2B5EF4-FFF2-40B4-BE49-F238E27FC236}">
                <a16:creationId xmlns:a16="http://schemas.microsoft.com/office/drawing/2014/main" id="{A213529F-F33D-BE38-EBBD-C45272E43F78}"/>
              </a:ext>
            </a:extLst>
          </p:cNvPr>
          <p:cNvSpPr/>
          <p:nvPr/>
        </p:nvSpPr>
        <p:spPr>
          <a:xfrm>
            <a:off x="652298" y="4930804"/>
            <a:ext cx="4689322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Try to use them to optimize my design</a:t>
            </a:r>
          </a:p>
        </p:txBody>
      </p:sp>
      <p:sp>
        <p:nvSpPr>
          <p:cNvPr id="15" name="正方形/長方形 190">
            <a:extLst>
              <a:ext uri="{FF2B5EF4-FFF2-40B4-BE49-F238E27FC236}">
                <a16:creationId xmlns:a16="http://schemas.microsoft.com/office/drawing/2014/main" id="{850B7F3F-02D6-31DD-DAE4-D49EA4F704ED}"/>
              </a:ext>
            </a:extLst>
          </p:cNvPr>
          <p:cNvSpPr/>
          <p:nvPr/>
        </p:nvSpPr>
        <p:spPr>
          <a:xfrm>
            <a:off x="6316980" y="3718560"/>
            <a:ext cx="5356860" cy="80085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 want to optimize my design in such a way… (e.g., hey, these operations can be parallelized!)</a:t>
            </a:r>
          </a:p>
        </p:txBody>
      </p:sp>
      <p:sp>
        <p:nvSpPr>
          <p:cNvPr id="16" name="正方形/長方形 190">
            <a:extLst>
              <a:ext uri="{FF2B5EF4-FFF2-40B4-BE49-F238E27FC236}">
                <a16:creationId xmlns:a16="http://schemas.microsoft.com/office/drawing/2014/main" id="{892036BB-1228-7DDD-A4F2-ADD170DF38F0}"/>
              </a:ext>
            </a:extLst>
          </p:cNvPr>
          <p:cNvSpPr/>
          <p:nvPr/>
        </p:nvSpPr>
        <p:spPr>
          <a:xfrm>
            <a:off x="6316980" y="4930803"/>
            <a:ext cx="5356860" cy="800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Let me check if there’s a pragma (with code rewrite) that can achieve my goal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80E962-6A31-BF7D-C5FB-403BE478E3B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995410" y="4519418"/>
            <a:ext cx="0" cy="411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D5DDA946-2EFB-C168-2943-BFBF0A225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759" y="5288944"/>
            <a:ext cx="914400" cy="914400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F79446C0-5C7A-34F0-B1E7-4AE570391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6320" y="56311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0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5E9BB09-2F2C-421C-8B35-9F2A606B7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4230152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D5B9BF-6665-4688-9F40-E8D6C67C8288}"/>
              </a:ext>
            </a:extLst>
          </p:cNvPr>
          <p:cNvCxnSpPr>
            <a:cxnSpLocks/>
          </p:cNvCxnSpPr>
          <p:nvPr/>
        </p:nvCxnSpPr>
        <p:spPr>
          <a:xfrm>
            <a:off x="7102365" y="5979792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8CB2F-61B7-4063-8121-CF65909D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1763208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55914F-6889-4687-BC75-8E46CE342CDE}"/>
              </a:ext>
            </a:extLst>
          </p:cNvPr>
          <p:cNvCxnSpPr>
            <a:cxnSpLocks/>
          </p:cNvCxnSpPr>
          <p:nvPr/>
        </p:nvCxnSpPr>
        <p:spPr>
          <a:xfrm>
            <a:off x="7102365" y="3512848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8F275-B0EE-4FA8-B1B9-5D4FFEA4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/>
          <a:lstStyle/>
          <a:p>
            <a:r>
              <a:rPr lang="en-US" dirty="0"/>
              <a:t>The three techniques are frequently used together to boost computation efficiency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EFDFD-84E5-42AC-8E89-D2EA7AA3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5EBDA-0398-4FF4-A6E2-4161119E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Put-together: Pipeline + Unroll +Partition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D9548185-2C87-4152-825D-5FA65629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86" y="2258785"/>
            <a:ext cx="5615340" cy="30447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indent="174625">
              <a:defRPr sz="1600"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variable=A dim=2 complete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variable=B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variable=C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for (int i = 0; i &lt; N; i++)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#pragma HLS pipeline II=1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for (int j = 0; j &lt; M; </a:t>
            </a:r>
            <a:r>
              <a:rPr lang="en-US" altLang="zh-CN" sz="1400" dirty="0" err="1">
                <a:solidFill>
                  <a:schemeClr val="tx1"/>
                </a:solidFill>
              </a:rPr>
              <a:t>j++</a:t>
            </a:r>
            <a:r>
              <a:rPr lang="en-US" altLang="zh-CN" sz="1400" dirty="0">
                <a:solidFill>
                  <a:schemeClr val="tx1"/>
                </a:solidFill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unroll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A[i][j] = B[i][j] * C[i][j];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}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CBB73E-D5D8-4071-AF9B-1ECDDC2B0F83}"/>
              </a:ext>
            </a:extLst>
          </p:cNvPr>
          <p:cNvGrpSpPr/>
          <p:nvPr/>
        </p:nvGrpSpPr>
        <p:grpSpPr>
          <a:xfrm>
            <a:off x="7162800" y="1948893"/>
            <a:ext cx="3543300" cy="1480107"/>
            <a:chOff x="7162800" y="1948893"/>
            <a:chExt cx="3543300" cy="20019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8B88E3-7C89-4177-A708-F2B63FD1CF37}"/>
                </a:ext>
              </a:extLst>
            </p:cNvPr>
            <p:cNvSpPr/>
            <p:nvPr/>
          </p:nvSpPr>
          <p:spPr>
            <a:xfrm>
              <a:off x="7162800" y="194889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F786CC-F9AF-4012-A08B-066600D5A8E9}"/>
                </a:ext>
              </a:extLst>
            </p:cNvPr>
            <p:cNvSpPr/>
            <p:nvPr/>
          </p:nvSpPr>
          <p:spPr>
            <a:xfrm>
              <a:off x="7162800" y="2292825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3A61A9A-1365-4D2D-825E-1929CB23511F}"/>
                </a:ext>
              </a:extLst>
            </p:cNvPr>
            <p:cNvSpPr/>
            <p:nvPr/>
          </p:nvSpPr>
          <p:spPr>
            <a:xfrm>
              <a:off x="8343900" y="265203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74DE65A-1A2B-4C07-9371-5D23FB285388}"/>
                </a:ext>
              </a:extLst>
            </p:cNvPr>
            <p:cNvSpPr/>
            <p:nvPr/>
          </p:nvSpPr>
          <p:spPr>
            <a:xfrm>
              <a:off x="8343900" y="299596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D6F291-2910-4A6A-A9CD-1C620248E6AD}"/>
                </a:ext>
              </a:extLst>
            </p:cNvPr>
            <p:cNvSpPr/>
            <p:nvPr/>
          </p:nvSpPr>
          <p:spPr>
            <a:xfrm>
              <a:off x="9525000" y="3360658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D24BC0-D455-4EB5-A5AE-72C672D1927E}"/>
                </a:ext>
              </a:extLst>
            </p:cNvPr>
            <p:cNvSpPr/>
            <p:nvPr/>
          </p:nvSpPr>
          <p:spPr>
            <a:xfrm>
              <a:off x="9525000" y="3704590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DE0E722-23AA-4902-AFEA-501864E4E5F6}"/>
              </a:ext>
            </a:extLst>
          </p:cNvPr>
          <p:cNvGrpSpPr/>
          <p:nvPr/>
        </p:nvGrpSpPr>
        <p:grpSpPr>
          <a:xfrm>
            <a:off x="7162800" y="4407970"/>
            <a:ext cx="1771650" cy="1454469"/>
            <a:chOff x="7162800" y="4698681"/>
            <a:chExt cx="1771650" cy="1996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FAFE9B-E14F-4D50-A1F7-4CFFDA6BCBC6}"/>
                </a:ext>
              </a:extLst>
            </p:cNvPr>
            <p:cNvSpPr/>
            <p:nvPr/>
          </p:nvSpPr>
          <p:spPr>
            <a:xfrm>
              <a:off x="7162800" y="469868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F686AE-104B-4DF5-9A86-ED77C3E2012D}"/>
                </a:ext>
              </a:extLst>
            </p:cNvPr>
            <p:cNvSpPr/>
            <p:nvPr/>
          </p:nvSpPr>
          <p:spPr>
            <a:xfrm>
              <a:off x="7162800" y="504261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372897-4E17-498B-AFE3-13B0E9F31F5F}"/>
                </a:ext>
              </a:extLst>
            </p:cNvPr>
            <p:cNvSpPr/>
            <p:nvPr/>
          </p:nvSpPr>
          <p:spPr>
            <a:xfrm>
              <a:off x="7467600" y="540181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6FC3F3-FFEE-45CB-A5FF-ECA0F351D699}"/>
                </a:ext>
              </a:extLst>
            </p:cNvPr>
            <p:cNvSpPr/>
            <p:nvPr/>
          </p:nvSpPr>
          <p:spPr>
            <a:xfrm>
              <a:off x="7467600" y="574575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8A76EA-5994-4195-9D6B-DEFF26232153}"/>
                </a:ext>
              </a:extLst>
            </p:cNvPr>
            <p:cNvSpPr/>
            <p:nvPr/>
          </p:nvSpPr>
          <p:spPr>
            <a:xfrm>
              <a:off x="7753350" y="6104957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3F3D21-11F0-40BA-9256-D33D858A0B1B}"/>
                </a:ext>
              </a:extLst>
            </p:cNvPr>
            <p:cNvSpPr/>
            <p:nvPr/>
          </p:nvSpPr>
          <p:spPr>
            <a:xfrm>
              <a:off x="7753350" y="644888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E6757A-B7A6-4E15-8043-494249957D45}"/>
              </a:ext>
            </a:extLst>
          </p:cNvPr>
          <p:cNvCxnSpPr>
            <a:cxnSpLocks/>
          </p:cNvCxnSpPr>
          <p:nvPr/>
        </p:nvCxnSpPr>
        <p:spPr>
          <a:xfrm>
            <a:off x="83439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305508-6DD2-4F62-962F-1F339FCF8F7A}"/>
              </a:ext>
            </a:extLst>
          </p:cNvPr>
          <p:cNvCxnSpPr>
            <a:cxnSpLocks/>
          </p:cNvCxnSpPr>
          <p:nvPr/>
        </p:nvCxnSpPr>
        <p:spPr>
          <a:xfrm>
            <a:off x="95250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8" name="Freeform 12">
            <a:extLst>
              <a:ext uri="{FF2B5EF4-FFF2-40B4-BE49-F238E27FC236}">
                <a16:creationId xmlns:a16="http://schemas.microsoft.com/office/drawing/2014/main" id="{27696E7A-1C59-4731-92AE-7912770A622F}"/>
              </a:ext>
            </a:extLst>
          </p:cNvPr>
          <p:cNvSpPr/>
          <p:nvPr/>
        </p:nvSpPr>
        <p:spPr>
          <a:xfrm>
            <a:off x="7132648" y="2357213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EA11CB6C-41A5-4C37-8B07-5E625D018FCB}"/>
              </a:ext>
            </a:extLst>
          </p:cNvPr>
          <p:cNvSpPr/>
          <p:nvPr/>
        </p:nvSpPr>
        <p:spPr>
          <a:xfrm>
            <a:off x="8385437" y="284013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0FA3741D-6B03-49A4-B20E-A9BA8963DF96}"/>
              </a:ext>
            </a:extLst>
          </p:cNvPr>
          <p:cNvSpPr/>
          <p:nvPr/>
        </p:nvSpPr>
        <p:spPr>
          <a:xfrm>
            <a:off x="9566537" y="268130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3" name="Freeform 12">
            <a:extLst>
              <a:ext uri="{FF2B5EF4-FFF2-40B4-BE49-F238E27FC236}">
                <a16:creationId xmlns:a16="http://schemas.microsoft.com/office/drawing/2014/main" id="{A8C36CC7-E45E-4D2F-8128-4D7F53F030FC}"/>
              </a:ext>
            </a:extLst>
          </p:cNvPr>
          <p:cNvSpPr/>
          <p:nvPr/>
        </p:nvSpPr>
        <p:spPr>
          <a:xfrm>
            <a:off x="8021339" y="441327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010F0A3C-0D0A-4479-95CD-A8569746856F}"/>
              </a:ext>
            </a:extLst>
          </p:cNvPr>
          <p:cNvSpPr/>
          <p:nvPr/>
        </p:nvSpPr>
        <p:spPr>
          <a:xfrm>
            <a:off x="8361511" y="492552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5" name="Freeform 12">
            <a:extLst>
              <a:ext uri="{FF2B5EF4-FFF2-40B4-BE49-F238E27FC236}">
                <a16:creationId xmlns:a16="http://schemas.microsoft.com/office/drawing/2014/main" id="{6B66847C-E056-4C8F-A1FC-3DD24F84B153}"/>
              </a:ext>
            </a:extLst>
          </p:cNvPr>
          <p:cNvSpPr/>
          <p:nvPr/>
        </p:nvSpPr>
        <p:spPr>
          <a:xfrm>
            <a:off x="8628850" y="547285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B89C78-6204-48DC-B167-4A14D528949E}"/>
              </a:ext>
            </a:extLst>
          </p:cNvPr>
          <p:cNvCxnSpPr>
            <a:cxnSpLocks/>
          </p:cNvCxnSpPr>
          <p:nvPr/>
        </p:nvCxnSpPr>
        <p:spPr>
          <a:xfrm>
            <a:off x="746760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153D548-0EB2-428B-8CAE-2B661D572A3D}"/>
              </a:ext>
            </a:extLst>
          </p:cNvPr>
          <p:cNvCxnSpPr>
            <a:cxnSpLocks/>
          </p:cNvCxnSpPr>
          <p:nvPr/>
        </p:nvCxnSpPr>
        <p:spPr>
          <a:xfrm>
            <a:off x="775335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</p:spTree>
    <p:extLst>
      <p:ext uri="{BB962C8B-B14F-4D97-AF65-F5344CB8AC3E}">
        <p14:creationId xmlns:p14="http://schemas.microsoft.com/office/powerpoint/2010/main" val="240476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DD5E3-9CB9-41EA-BE93-1F280CFDD08D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endParaRPr lang="en-US" dirty="0"/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7312B-73D8-4919-BE1D-DDF842309C2D}"/>
              </a:ext>
            </a:extLst>
          </p:cNvPr>
          <p:cNvSpPr/>
          <p:nvPr/>
        </p:nvSpPr>
        <p:spPr>
          <a:xfrm>
            <a:off x="7111968" y="226844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8AE68-30F3-47CD-A59E-C3800B7D0679}"/>
              </a:ext>
            </a:extLst>
          </p:cNvPr>
          <p:cNvSpPr/>
          <p:nvPr/>
        </p:nvSpPr>
        <p:spPr>
          <a:xfrm>
            <a:off x="7391433" y="257221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8A4F82-F11D-484F-8AD8-4990B7C9D127}"/>
              </a:ext>
            </a:extLst>
          </p:cNvPr>
          <p:cNvSpPr/>
          <p:nvPr/>
        </p:nvSpPr>
        <p:spPr>
          <a:xfrm>
            <a:off x="7670898" y="287597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55F2E-42E5-44C8-88C4-D67B509979D7}"/>
              </a:ext>
            </a:extLst>
          </p:cNvPr>
          <p:cNvSpPr/>
          <p:nvPr/>
        </p:nvSpPr>
        <p:spPr>
          <a:xfrm>
            <a:off x="7950362" y="317974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717C9-F92E-4C9B-9F94-A20FB8AE4B03}"/>
              </a:ext>
            </a:extLst>
          </p:cNvPr>
          <p:cNvSpPr/>
          <p:nvPr/>
        </p:nvSpPr>
        <p:spPr>
          <a:xfrm>
            <a:off x="9564081" y="3600640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4B191B-C4AB-416B-A81D-85B4356220A9}"/>
              </a:ext>
            </a:extLst>
          </p:cNvPr>
          <p:cNvSpPr/>
          <p:nvPr/>
        </p:nvSpPr>
        <p:spPr>
          <a:xfrm>
            <a:off x="9843546" y="3904405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10812-BF94-4295-8003-3C02A54F999E}"/>
              </a:ext>
            </a:extLst>
          </p:cNvPr>
          <p:cNvSpPr/>
          <p:nvPr/>
        </p:nvSpPr>
        <p:spPr>
          <a:xfrm>
            <a:off x="10123011" y="4208170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D3EC3F-6E46-4945-81BF-C60970A90F24}"/>
              </a:ext>
            </a:extLst>
          </p:cNvPr>
          <p:cNvSpPr/>
          <p:nvPr/>
        </p:nvSpPr>
        <p:spPr>
          <a:xfrm>
            <a:off x="10402475" y="4511935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3E343-FDC7-4CEC-9127-02C7679061E7}"/>
              </a:ext>
            </a:extLst>
          </p:cNvPr>
          <p:cNvSpPr/>
          <p:nvPr/>
        </p:nvSpPr>
        <p:spPr>
          <a:xfrm>
            <a:off x="7063317" y="2216192"/>
            <a:ext cx="2440437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AAC6BF-3FF3-4D66-984C-6603E72AFBA9}"/>
              </a:ext>
            </a:extLst>
          </p:cNvPr>
          <p:cNvSpPr/>
          <p:nvPr/>
        </p:nvSpPr>
        <p:spPr>
          <a:xfrm>
            <a:off x="9503754" y="3553100"/>
            <a:ext cx="2440437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8CB06-F026-4BB0-9E82-497FEDAFB3BF}"/>
              </a:ext>
            </a:extLst>
          </p:cNvPr>
          <p:cNvSpPr txBox="1"/>
          <p:nvPr/>
        </p:nvSpPr>
        <p:spPr>
          <a:xfrm>
            <a:off x="9173471" y="2148125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B2FCDC-4056-4C77-A66A-966400825A96}"/>
              </a:ext>
            </a:extLst>
          </p:cNvPr>
          <p:cNvSpPr txBox="1"/>
          <p:nvPr/>
        </p:nvSpPr>
        <p:spPr>
          <a:xfrm>
            <a:off x="11602868" y="3482675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1A0E1-2706-4C0E-B849-4830112113DB}"/>
              </a:ext>
            </a:extLst>
          </p:cNvPr>
          <p:cNvSpPr txBox="1"/>
          <p:nvPr/>
        </p:nvSpPr>
        <p:spPr>
          <a:xfrm>
            <a:off x="8094419" y="3392141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511BD5-3C8C-45A1-B747-322B3570E44F}"/>
              </a:ext>
            </a:extLst>
          </p:cNvPr>
          <p:cNvSpPr txBox="1"/>
          <p:nvPr/>
        </p:nvSpPr>
        <p:spPr>
          <a:xfrm>
            <a:off x="10459425" y="4719228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1E2679-B975-E7E7-556C-A7D93C854C23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8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DD5E3-9CB9-41EA-BE93-1F280CFDD08D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endParaRPr lang="en-US" dirty="0"/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9EB725-6320-45E1-A728-FD5E9FC0891C}"/>
              </a:ext>
            </a:extLst>
          </p:cNvPr>
          <p:cNvSpPr/>
          <p:nvPr/>
        </p:nvSpPr>
        <p:spPr>
          <a:xfrm>
            <a:off x="7522071" y="217700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5F16E0-ABB5-4886-AD8F-C2868F390DFF}"/>
              </a:ext>
            </a:extLst>
          </p:cNvPr>
          <p:cNvSpPr/>
          <p:nvPr/>
        </p:nvSpPr>
        <p:spPr>
          <a:xfrm>
            <a:off x="7522071" y="248077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2CCD04-197E-4D2C-85BC-D3FD1EFD3BBF}"/>
              </a:ext>
            </a:extLst>
          </p:cNvPr>
          <p:cNvSpPr/>
          <p:nvPr/>
        </p:nvSpPr>
        <p:spPr>
          <a:xfrm>
            <a:off x="7522071" y="278453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8FE257-A293-4C59-92B4-3EF1C6B4F8A9}"/>
              </a:ext>
            </a:extLst>
          </p:cNvPr>
          <p:cNvSpPr/>
          <p:nvPr/>
        </p:nvSpPr>
        <p:spPr>
          <a:xfrm>
            <a:off x="7522071" y="308830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2E0779-98AF-432B-BCA1-B31BC537216D}"/>
              </a:ext>
            </a:extLst>
          </p:cNvPr>
          <p:cNvSpPr/>
          <p:nvPr/>
        </p:nvSpPr>
        <p:spPr>
          <a:xfrm>
            <a:off x="7473421" y="2124752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DF04-6D7F-4E61-B36B-5BA9363F2C1E}"/>
              </a:ext>
            </a:extLst>
          </p:cNvPr>
          <p:cNvSpPr txBox="1"/>
          <p:nvPr/>
        </p:nvSpPr>
        <p:spPr>
          <a:xfrm>
            <a:off x="8698349" y="2046840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BC1FFE-DCB2-4DE7-9E65-6B3839C57B80}"/>
              </a:ext>
            </a:extLst>
          </p:cNvPr>
          <p:cNvSpPr txBox="1"/>
          <p:nvPr/>
        </p:nvSpPr>
        <p:spPr>
          <a:xfrm>
            <a:off x="7936276" y="3255859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DCC49D-F1BA-453A-8CCB-8587AA131363}"/>
              </a:ext>
            </a:extLst>
          </p:cNvPr>
          <p:cNvSpPr/>
          <p:nvPr/>
        </p:nvSpPr>
        <p:spPr>
          <a:xfrm>
            <a:off x="9143634" y="370612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B00344-B5FC-4487-B62E-56A08713D524}"/>
              </a:ext>
            </a:extLst>
          </p:cNvPr>
          <p:cNvSpPr/>
          <p:nvPr/>
        </p:nvSpPr>
        <p:spPr>
          <a:xfrm>
            <a:off x="9143634" y="400989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7D701B-FF18-45BA-B3B9-136AA6447586}"/>
              </a:ext>
            </a:extLst>
          </p:cNvPr>
          <p:cNvSpPr/>
          <p:nvPr/>
        </p:nvSpPr>
        <p:spPr>
          <a:xfrm>
            <a:off x="9143634" y="431365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CF1C62-20C9-4F29-824C-F96FA5736E5C}"/>
              </a:ext>
            </a:extLst>
          </p:cNvPr>
          <p:cNvSpPr/>
          <p:nvPr/>
        </p:nvSpPr>
        <p:spPr>
          <a:xfrm>
            <a:off x="9143634" y="461742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2B931A-0BCE-42CD-8398-5C4505890A50}"/>
              </a:ext>
            </a:extLst>
          </p:cNvPr>
          <p:cNvSpPr/>
          <p:nvPr/>
        </p:nvSpPr>
        <p:spPr>
          <a:xfrm>
            <a:off x="9094984" y="3653871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5F6430-CAC4-42EA-BC38-FDC6001BCDBF}"/>
              </a:ext>
            </a:extLst>
          </p:cNvPr>
          <p:cNvSpPr txBox="1"/>
          <p:nvPr/>
        </p:nvSpPr>
        <p:spPr>
          <a:xfrm>
            <a:off x="10319912" y="3575959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F9D3C9-1579-401A-ABD2-6441E2EA9A6E}"/>
              </a:ext>
            </a:extLst>
          </p:cNvPr>
          <p:cNvSpPr txBox="1"/>
          <p:nvPr/>
        </p:nvSpPr>
        <p:spPr>
          <a:xfrm>
            <a:off x="9557839" y="4784978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3950F5-0B10-446C-DE84-259A34F1DFF7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2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C503ABE-C611-44DE-A74A-8C2D04735BD7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pipeline</a:t>
            </a:r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2644FE-6428-4038-9B3C-F277E6A014E9}"/>
              </a:ext>
            </a:extLst>
          </p:cNvPr>
          <p:cNvSpPr/>
          <p:nvPr/>
        </p:nvSpPr>
        <p:spPr>
          <a:xfrm>
            <a:off x="7522071" y="217700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ADE40B-B4F8-4570-91F7-38DC32DA2892}"/>
              </a:ext>
            </a:extLst>
          </p:cNvPr>
          <p:cNvSpPr/>
          <p:nvPr/>
        </p:nvSpPr>
        <p:spPr>
          <a:xfrm>
            <a:off x="7522071" y="248077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C5EB03-ECC9-4C37-864C-2CDE4B913E94}"/>
              </a:ext>
            </a:extLst>
          </p:cNvPr>
          <p:cNvSpPr/>
          <p:nvPr/>
        </p:nvSpPr>
        <p:spPr>
          <a:xfrm>
            <a:off x="7522071" y="278453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EBE135-E730-4AE4-B370-38C807097E99}"/>
              </a:ext>
            </a:extLst>
          </p:cNvPr>
          <p:cNvSpPr/>
          <p:nvPr/>
        </p:nvSpPr>
        <p:spPr>
          <a:xfrm>
            <a:off x="7522071" y="308830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0CE2E-0530-4E03-825D-3068A0ED9705}"/>
              </a:ext>
            </a:extLst>
          </p:cNvPr>
          <p:cNvSpPr/>
          <p:nvPr/>
        </p:nvSpPr>
        <p:spPr>
          <a:xfrm>
            <a:off x="7473421" y="2124752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FF3C0F-DE3B-46F1-A3B1-87E9FD6EAB51}"/>
              </a:ext>
            </a:extLst>
          </p:cNvPr>
          <p:cNvSpPr txBox="1"/>
          <p:nvPr/>
        </p:nvSpPr>
        <p:spPr>
          <a:xfrm>
            <a:off x="8698349" y="2046840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7F7FF-E823-4DF7-BAF3-F01A33AC2FD7}"/>
              </a:ext>
            </a:extLst>
          </p:cNvPr>
          <p:cNvSpPr txBox="1"/>
          <p:nvPr/>
        </p:nvSpPr>
        <p:spPr>
          <a:xfrm>
            <a:off x="9073294" y="2389406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AE2F7-F7F5-48C4-AECD-C73FBE1DDEC2}"/>
              </a:ext>
            </a:extLst>
          </p:cNvPr>
          <p:cNvSpPr/>
          <p:nvPr/>
        </p:nvSpPr>
        <p:spPr>
          <a:xfrm>
            <a:off x="7881419" y="354472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C34C65-DB08-4395-AEA5-9E93D5B0AE08}"/>
              </a:ext>
            </a:extLst>
          </p:cNvPr>
          <p:cNvSpPr/>
          <p:nvPr/>
        </p:nvSpPr>
        <p:spPr>
          <a:xfrm>
            <a:off x="7881419" y="384848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0B69C3-B8C3-47A0-AB24-34975C4340F5}"/>
              </a:ext>
            </a:extLst>
          </p:cNvPr>
          <p:cNvSpPr/>
          <p:nvPr/>
        </p:nvSpPr>
        <p:spPr>
          <a:xfrm>
            <a:off x="7881419" y="415225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5BA487-37CE-49B7-BDFF-5F640FA0527D}"/>
              </a:ext>
            </a:extLst>
          </p:cNvPr>
          <p:cNvSpPr/>
          <p:nvPr/>
        </p:nvSpPr>
        <p:spPr>
          <a:xfrm>
            <a:off x="7881419" y="445601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BCC968-7C2D-423B-A201-5AEDDCBC94F8}"/>
              </a:ext>
            </a:extLst>
          </p:cNvPr>
          <p:cNvSpPr/>
          <p:nvPr/>
        </p:nvSpPr>
        <p:spPr>
          <a:xfrm>
            <a:off x="7832769" y="3492466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185B44-8CDE-4E72-A284-6430FE733A4B}"/>
              </a:ext>
            </a:extLst>
          </p:cNvPr>
          <p:cNvSpPr txBox="1"/>
          <p:nvPr/>
        </p:nvSpPr>
        <p:spPr>
          <a:xfrm>
            <a:off x="9057697" y="3414554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397A02-D6AF-479B-A6F3-86B2E092A45E}"/>
              </a:ext>
            </a:extLst>
          </p:cNvPr>
          <p:cNvSpPr txBox="1"/>
          <p:nvPr/>
        </p:nvSpPr>
        <p:spPr>
          <a:xfrm>
            <a:off x="9416395" y="3780596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153823-DA07-47FB-B323-10AD405F56BA}"/>
              </a:ext>
            </a:extLst>
          </p:cNvPr>
          <p:cNvSpPr/>
          <p:nvPr/>
        </p:nvSpPr>
        <p:spPr>
          <a:xfrm>
            <a:off x="8273173" y="4915242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B15A932-E3A3-48CC-90EA-903B134295E2}"/>
              </a:ext>
            </a:extLst>
          </p:cNvPr>
          <p:cNvSpPr/>
          <p:nvPr/>
        </p:nvSpPr>
        <p:spPr>
          <a:xfrm>
            <a:off x="8273173" y="5219007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3A13B5-E625-476C-8114-4E22D6B19CDF}"/>
              </a:ext>
            </a:extLst>
          </p:cNvPr>
          <p:cNvSpPr/>
          <p:nvPr/>
        </p:nvSpPr>
        <p:spPr>
          <a:xfrm>
            <a:off x="8273173" y="5522772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E62EB0-CE36-4C9D-A209-1E9F9965A974}"/>
              </a:ext>
            </a:extLst>
          </p:cNvPr>
          <p:cNvSpPr/>
          <p:nvPr/>
        </p:nvSpPr>
        <p:spPr>
          <a:xfrm>
            <a:off x="8273173" y="5826537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381833-3C86-42CC-8F70-1645DF132907}"/>
              </a:ext>
            </a:extLst>
          </p:cNvPr>
          <p:cNvSpPr/>
          <p:nvPr/>
        </p:nvSpPr>
        <p:spPr>
          <a:xfrm>
            <a:off x="8224523" y="4862985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1D774A-E8F0-4B81-92D9-D4CCFF1E3AC8}"/>
              </a:ext>
            </a:extLst>
          </p:cNvPr>
          <p:cNvSpPr txBox="1"/>
          <p:nvPr/>
        </p:nvSpPr>
        <p:spPr>
          <a:xfrm>
            <a:off x="9449451" y="4785073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DE8820-45F4-4D14-AF6C-2120D1B7EE73}"/>
              </a:ext>
            </a:extLst>
          </p:cNvPr>
          <p:cNvSpPr txBox="1"/>
          <p:nvPr/>
        </p:nvSpPr>
        <p:spPr>
          <a:xfrm>
            <a:off x="9808149" y="5151115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666E40-9156-74B1-4CB1-1152FED1558F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C9E656-80B8-D3EF-E7B4-4EACFA054576}"/>
              </a:ext>
            </a:extLst>
          </p:cNvPr>
          <p:cNvSpPr/>
          <p:nvPr/>
        </p:nvSpPr>
        <p:spPr>
          <a:xfrm>
            <a:off x="3817621" y="2693170"/>
            <a:ext cx="290035" cy="440753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B1303-24DB-F527-BEB8-1374433E40DA}"/>
              </a:ext>
            </a:extLst>
          </p:cNvPr>
          <p:cNvSpPr txBox="1"/>
          <p:nvPr/>
        </p:nvSpPr>
        <p:spPr>
          <a:xfrm>
            <a:off x="2650137" y="4859971"/>
            <a:ext cx="52813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Note</a:t>
            </a:r>
            <a:r>
              <a:rPr lang="en-US" sz="2000" dirty="0">
                <a:latin typeface="Aptos Display" panose="020B0004020202020204" pitchFamily="34" charset="0"/>
              </a:rPr>
              <a:t>: the pipeline will enforce the inner loop being completely unrolled!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Could cause great scalability issue – discuss later</a:t>
            </a:r>
          </a:p>
        </p:txBody>
      </p:sp>
    </p:spTree>
    <p:extLst>
      <p:ext uri="{BB962C8B-B14F-4D97-AF65-F5344CB8AC3E}">
        <p14:creationId xmlns:p14="http://schemas.microsoft.com/office/powerpoint/2010/main" val="204185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C503ABE-C611-44DE-A74A-8C2D04735BD7}"/>
              </a:ext>
            </a:extLst>
          </p:cNvPr>
          <p:cNvSpPr/>
          <p:nvPr/>
        </p:nvSpPr>
        <p:spPr>
          <a:xfrm>
            <a:off x="2032782" y="4241409"/>
            <a:ext cx="5598941" cy="11535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Putting both pipeline and </a:t>
            </a:r>
            <a:r>
              <a:rPr lang="en-US" altLang="zh-CN" sz="2800"/>
              <a:t>unroll together? </a:t>
            </a:r>
            <a:r>
              <a:rPr lang="en-US" altLang="zh-CN" sz="2800">
                <a:solidFill>
                  <a:schemeClr val="accent1"/>
                </a:solidFill>
              </a:rPr>
              <a:t>WRONG</a:t>
            </a:r>
            <a:r>
              <a:rPr lang="en-US" altLang="zh-CN" sz="2800" dirty="0">
                <a:solidFill>
                  <a:schemeClr val="accent1"/>
                </a:solidFill>
              </a:rPr>
              <a:t>! Pick only one!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8C12B338-6415-41E8-B728-2EBC0EAF804E}"/>
              </a:ext>
            </a:extLst>
          </p:cNvPr>
          <p:cNvSpPr/>
          <p:nvPr/>
        </p:nvSpPr>
        <p:spPr>
          <a:xfrm>
            <a:off x="8289974" y="3876998"/>
            <a:ext cx="3135335" cy="1975162"/>
          </a:xfrm>
          <a:prstGeom prst="borderCallout1">
            <a:avLst>
              <a:gd name="adj1" fmla="val 15633"/>
              <a:gd name="adj2" fmla="val 154"/>
              <a:gd name="adj3" fmla="val -9311"/>
              <a:gd name="adj4" fmla="val -13803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The inner loops are untouched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Outer loop is unrolled: generate 512 copies of i loop body</a:t>
            </a:r>
          </a:p>
        </p:txBody>
      </p:sp>
      <p:sp>
        <p:nvSpPr>
          <p:cNvPr id="31" name="Callout: Line 30">
            <a:extLst>
              <a:ext uri="{FF2B5EF4-FFF2-40B4-BE49-F238E27FC236}">
                <a16:creationId xmlns:a16="http://schemas.microsoft.com/office/drawing/2014/main" id="{DF3A0523-0E4A-42AE-B815-EA3C6C1E2DD9}"/>
              </a:ext>
            </a:extLst>
          </p:cNvPr>
          <p:cNvSpPr/>
          <p:nvPr/>
        </p:nvSpPr>
        <p:spPr>
          <a:xfrm>
            <a:off x="8289974" y="1851250"/>
            <a:ext cx="3135335" cy="1788699"/>
          </a:xfrm>
          <a:prstGeom prst="borderCallout1">
            <a:avLst>
              <a:gd name="adj1" fmla="val 83295"/>
              <a:gd name="adj2" fmla="val -295"/>
              <a:gd name="adj3" fmla="val 86840"/>
              <a:gd name="adj4" fmla="val -12748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The inner loops (j) are all unrolled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And the unrolled statements will be pipelined</a:t>
            </a:r>
          </a:p>
        </p:txBody>
      </p:sp>
    </p:spTree>
    <p:extLst>
      <p:ext uri="{BB962C8B-B14F-4D97-AF65-F5344CB8AC3E}">
        <p14:creationId xmlns:p14="http://schemas.microsoft.com/office/powerpoint/2010/main" val="261051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A89C-4B63-4790-2104-DF724F2B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90149-A792-109C-FB86-C6D8117D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06D2F6-6C18-2F30-6D55-64A4AB0B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Unroll </a:t>
            </a:r>
            <a:r>
              <a:rPr lang="en-US" dirty="0" err="1"/>
              <a:t>v.s</a:t>
            </a:r>
            <a:r>
              <a:rPr lang="en-US" dirty="0"/>
              <a:t>. Pipeline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C725333-FA34-99A2-7FBA-88DBEA283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When to use which?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4F487D-14FF-E3BE-EFFF-CDF2689C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530592"/>
              </p:ext>
            </p:extLst>
          </p:nvPr>
        </p:nvGraphicFramePr>
        <p:xfrm>
          <a:off x="1487806" y="2076979"/>
          <a:ext cx="9629775" cy="36665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6305">
                  <a:extLst>
                    <a:ext uri="{9D8B030D-6E8A-4147-A177-3AD203B41FA5}">
                      <a16:colId xmlns:a16="http://schemas.microsoft.com/office/drawing/2014/main" val="2619247635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321579749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173702964"/>
                    </a:ext>
                  </a:extLst>
                </a:gridCol>
              </a:tblGrid>
              <a:tr h="48638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63265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Impact on inner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Enforce to be unrolled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85295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Impact on inner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Enforce to be </a:t>
                      </a:r>
                      <a:r>
                        <a:rPr lang="en-US" sz="2000" dirty="0" err="1">
                          <a:latin typeface="Aptos Display" panose="020B0004020202020204" pitchFamily="34" charset="0"/>
                        </a:rPr>
                        <a:t>inlined</a:t>
                      </a: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98609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Loop-carried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Handles dependency by 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Cannot parallelize if there’s </a:t>
                      </a:r>
                      <a:r>
                        <a:rPr lang="en-US" sz="2000" dirty="0">
                          <a:latin typeface="Aptos Display" panose="020B0004020202020204" pitchFamily="34" charset="0"/>
                        </a:rPr>
                        <a:t>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54696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Resource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Reuse resource across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Replicates resources for each unrolled copy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12128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Nested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Used in outer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Used in inner loops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01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1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09496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06CC82-6608-BA08-AED1-95316348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818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does II &gt; 1 mean?</a:t>
            </a:r>
          </a:p>
          <a:p>
            <a:r>
              <a:rPr lang="en-US" sz="2200" b="0" dirty="0"/>
              <a:t>Pipeline is ready, but something blocks it from starting every cycle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Two Root Causes (99% of cases)</a:t>
            </a:r>
          </a:p>
          <a:p>
            <a:pPr marL="0" indent="0">
              <a:buNone/>
            </a:pPr>
            <a:r>
              <a:rPr lang="en-US" dirty="0"/>
              <a:t>1️⃣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Resource Limitation: </a:t>
            </a:r>
            <a:r>
              <a:rPr lang="en-US" sz="2200" dirty="0"/>
              <a:t>hardware cannot support one iteration per cycle</a:t>
            </a:r>
          </a:p>
          <a:p>
            <a:r>
              <a:rPr lang="en-US" sz="2200" dirty="0"/>
              <a:t>Common symptoms: </a:t>
            </a:r>
            <a:r>
              <a:rPr lang="en-US" sz="2200" b="0" dirty="0"/>
              <a:t>Memory port limitation, Array not partitioned, Too many operations scheduled in one cycle, DRAM (</a:t>
            </a:r>
            <a:r>
              <a:rPr lang="en-US" sz="2200" b="0" dirty="0" err="1"/>
              <a:t>m_axi</a:t>
            </a:r>
            <a:r>
              <a:rPr lang="en-US" sz="2200" b="0" dirty="0"/>
              <a:t>) accessed inside a pipeline</a:t>
            </a:r>
          </a:p>
          <a:p>
            <a:r>
              <a:rPr lang="en-US" sz="2200" dirty="0"/>
              <a:t>Typical fixes: </a:t>
            </a:r>
            <a:r>
              <a:rPr lang="en-US" sz="2200" b="0" dirty="0"/>
              <a:t>Partition on-chip arrays (</a:t>
            </a:r>
            <a:r>
              <a:rPr lang="en-US" sz="2200" b="0" dirty="0" err="1"/>
              <a:t>array_partition</a:t>
            </a:r>
            <a:r>
              <a:rPr lang="en-US" sz="2200" b="0" dirty="0"/>
              <a:t>), Copy data from DRAM to local buffers (BRAM / registers), Reduce unroll factor, Use loop tiling to control parallelism</a:t>
            </a:r>
            <a:br>
              <a:rPr lang="en-US" b="0" dirty="0"/>
            </a:br>
            <a:endParaRPr lang="en-US" b="0" dirty="0"/>
          </a:p>
          <a:p>
            <a:pPr marL="0" indent="0">
              <a:buNone/>
            </a:pPr>
            <a:r>
              <a:rPr lang="en-US" dirty="0"/>
              <a:t>2️⃣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Loop-Carried Dependency: </a:t>
            </a:r>
            <a:r>
              <a:rPr lang="en-US" dirty="0"/>
              <a:t>An iteration depends on results from previous iterations.</a:t>
            </a:r>
          </a:p>
          <a:p>
            <a:r>
              <a:rPr lang="en-US" sz="2200" dirty="0"/>
              <a:t>Common symptoms: </a:t>
            </a:r>
            <a:r>
              <a:rPr lang="en-US" sz="2200" b="0" dirty="0"/>
              <a:t>Accumulation (sum += ...), Read-after-write on the same variable, Conservative dependency assumed by HLS</a:t>
            </a:r>
          </a:p>
          <a:p>
            <a:r>
              <a:rPr lang="en-US" sz="2200" dirty="0"/>
              <a:t>Typical fixes: </a:t>
            </a:r>
            <a:r>
              <a:rPr lang="en-US" sz="2200" b="0" dirty="0"/>
              <a:t>Reorder loops, Use local buffers or shift registers, Build an adder tree (avoid in-loop accumulation), Remove false dependency only if proven safe, (#pragma HLS dependence inter false)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EBBC5-BA5E-DA5F-276C-10944730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0AEAE-DB71-60DD-E531-831497F2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very Common Error: II Violation </a:t>
            </a:r>
          </a:p>
        </p:txBody>
      </p:sp>
    </p:spTree>
    <p:extLst>
      <p:ext uri="{BB962C8B-B14F-4D97-AF65-F5344CB8AC3E}">
        <p14:creationId xmlns:p14="http://schemas.microsoft.com/office/powerpoint/2010/main" val="4059108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/>
              <a:t>Initial Interval (II) – </a:t>
            </a:r>
            <a:r>
              <a:rPr lang="en-US" altLang="zh-CN" sz="3600" dirty="0">
                <a:solidFill>
                  <a:schemeClr val="accent1"/>
                </a:solidFill>
              </a:rPr>
              <a:t>II violation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most important factor about pipelining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51802E-FB33-48B3-961E-EFABADF11A84}"/>
              </a:ext>
            </a:extLst>
          </p:cNvPr>
          <p:cNvGrpSpPr/>
          <p:nvPr/>
        </p:nvGrpSpPr>
        <p:grpSpPr>
          <a:xfrm>
            <a:off x="616293" y="2235245"/>
            <a:ext cx="5078759" cy="2387509"/>
            <a:chOff x="878890" y="2297033"/>
            <a:chExt cx="2790527" cy="19196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7FE144-5D76-4899-B85A-3B6E47551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90" y="2297033"/>
              <a:ext cx="2723023" cy="19196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Aptos Display" panose="020B0004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56629B4-22D9-43FF-A49E-D98759AC637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06" y="4046673"/>
              <a:ext cx="23571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70EF1-BECE-49B4-96AA-B800EF239AFC}"/>
                </a:ext>
              </a:extLst>
            </p:cNvPr>
            <p:cNvGrpSpPr/>
            <p:nvPr/>
          </p:nvGrpSpPr>
          <p:grpSpPr>
            <a:xfrm>
              <a:off x="1105341" y="2474851"/>
              <a:ext cx="1771650" cy="1454469"/>
              <a:chOff x="7162800" y="4698681"/>
              <a:chExt cx="1771650" cy="199649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2EB260-9E8E-45FD-8505-B11378DBABF2}"/>
                  </a:ext>
                </a:extLst>
              </p:cNvPr>
              <p:cNvSpPr/>
              <p:nvPr/>
            </p:nvSpPr>
            <p:spPr>
              <a:xfrm>
                <a:off x="7162800" y="4698681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E8FB15-6B6E-49FD-93EF-F6975B36339A}"/>
                  </a:ext>
                </a:extLst>
              </p:cNvPr>
              <p:cNvSpPr/>
              <p:nvPr/>
            </p:nvSpPr>
            <p:spPr>
              <a:xfrm>
                <a:off x="7162800" y="5042613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E93B89-9C85-4DE9-97E6-945E498E75CD}"/>
                  </a:ext>
                </a:extLst>
              </p:cNvPr>
              <p:cNvSpPr/>
              <p:nvPr/>
            </p:nvSpPr>
            <p:spPr>
              <a:xfrm>
                <a:off x="7467600" y="5401819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ADAA2CD-A7AB-4F23-BD73-09F96D5A46D2}"/>
                  </a:ext>
                </a:extLst>
              </p:cNvPr>
              <p:cNvSpPr/>
              <p:nvPr/>
            </p:nvSpPr>
            <p:spPr>
              <a:xfrm>
                <a:off x="7467600" y="5745751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1E8508-C136-4CED-AEEF-93966AEA247D}"/>
                  </a:ext>
                </a:extLst>
              </p:cNvPr>
              <p:cNvSpPr/>
              <p:nvPr/>
            </p:nvSpPr>
            <p:spPr>
              <a:xfrm>
                <a:off x="7753350" y="6104957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0238673-CCE6-44A8-8B72-3FA09B1BF2DB}"/>
                  </a:ext>
                </a:extLst>
              </p:cNvPr>
              <p:cNvSpPr/>
              <p:nvPr/>
            </p:nvSpPr>
            <p:spPr>
              <a:xfrm>
                <a:off x="7753350" y="6448889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D3EE91B-AF2A-4E8A-956B-3CE073B23C08}"/>
                </a:ext>
              </a:extLst>
            </p:cNvPr>
            <p:cNvSpPr/>
            <p:nvPr/>
          </p:nvSpPr>
          <p:spPr>
            <a:xfrm>
              <a:off x="1963880" y="2480159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i=0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278897-68C2-48E7-AEA3-7A6CBCDCEEA5}"/>
                </a:ext>
              </a:extLst>
            </p:cNvPr>
            <p:cNvSpPr/>
            <p:nvPr/>
          </p:nvSpPr>
          <p:spPr>
            <a:xfrm>
              <a:off x="2304052" y="2992402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i=1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6CF9DFF-6CB3-4C1F-A277-6474EF3FAA13}"/>
                </a:ext>
              </a:extLst>
            </p:cNvPr>
            <p:cNvSpPr/>
            <p:nvPr/>
          </p:nvSpPr>
          <p:spPr>
            <a:xfrm>
              <a:off x="2571391" y="3539739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i=2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55ECF03-40A7-48AB-A4FC-6743E0108649}"/>
                </a:ext>
              </a:extLst>
            </p:cNvPr>
            <p:cNvCxnSpPr>
              <a:cxnSpLocks/>
            </p:cNvCxnSpPr>
            <p:nvPr/>
          </p:nvCxnSpPr>
          <p:spPr>
            <a:xfrm>
              <a:off x="1410141" y="2297033"/>
              <a:ext cx="0" cy="173736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77C880-28DE-4D1A-B05F-1EA9F00D2803}"/>
                </a:ext>
              </a:extLst>
            </p:cNvPr>
            <p:cNvCxnSpPr>
              <a:cxnSpLocks/>
            </p:cNvCxnSpPr>
            <p:nvPr/>
          </p:nvCxnSpPr>
          <p:spPr>
            <a:xfrm>
              <a:off x="1695891" y="2297033"/>
              <a:ext cx="0" cy="173736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</p:grpSp>
      <p:sp>
        <p:nvSpPr>
          <p:cNvPr id="21" name="Freeform 12">
            <a:extLst>
              <a:ext uri="{FF2B5EF4-FFF2-40B4-BE49-F238E27FC236}">
                <a16:creationId xmlns:a16="http://schemas.microsoft.com/office/drawing/2014/main" id="{5F9EA351-B66F-4CC5-A667-E76B2D4B4CFA}"/>
              </a:ext>
            </a:extLst>
          </p:cNvPr>
          <p:cNvSpPr/>
          <p:nvPr/>
        </p:nvSpPr>
        <p:spPr>
          <a:xfrm>
            <a:off x="2530526" y="4905069"/>
            <a:ext cx="1851562" cy="427765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 = 1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id="{D0919EAF-0A78-4389-9FCA-76A1EDA1E701}"/>
              </a:ext>
            </a:extLst>
          </p:cNvPr>
          <p:cNvSpPr/>
          <p:nvPr/>
        </p:nvSpPr>
        <p:spPr>
          <a:xfrm>
            <a:off x="7616098" y="4932325"/>
            <a:ext cx="1851562" cy="427765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 = 2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E18641-98CE-46EF-BCC3-703FFD1F4465}"/>
              </a:ext>
            </a:extLst>
          </p:cNvPr>
          <p:cNvGrpSpPr/>
          <p:nvPr/>
        </p:nvGrpSpPr>
        <p:grpSpPr>
          <a:xfrm>
            <a:off x="5874344" y="2235244"/>
            <a:ext cx="5980857" cy="2387509"/>
            <a:chOff x="6508141" y="2235245"/>
            <a:chExt cx="5980857" cy="238750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C010CE7-3CD7-46D1-984E-2EC738DEF946}"/>
                </a:ext>
              </a:extLst>
            </p:cNvPr>
            <p:cNvGrpSpPr/>
            <p:nvPr/>
          </p:nvGrpSpPr>
          <p:grpSpPr>
            <a:xfrm>
              <a:off x="6508141" y="2235245"/>
              <a:ext cx="5980857" cy="2387509"/>
              <a:chOff x="878890" y="2297033"/>
              <a:chExt cx="3286185" cy="191960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3B1FDB5-A4A1-453F-A769-5213D26A7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8890" y="2297033"/>
                <a:ext cx="3010828" cy="191960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Aptos Display" panose="020B0004020202020204" pitchFamily="34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239B3BB-CF36-494D-8C05-DDC147A19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906" y="4046673"/>
                <a:ext cx="269006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D78E65-4B37-4D11-BAB1-7E7E05920C45}"/>
                  </a:ext>
                </a:extLst>
              </p:cNvPr>
              <p:cNvGrpSpPr/>
              <p:nvPr/>
            </p:nvGrpSpPr>
            <p:grpSpPr>
              <a:xfrm>
                <a:off x="1105341" y="2474849"/>
                <a:ext cx="2338448" cy="1459917"/>
                <a:chOff x="7162800" y="4698681"/>
                <a:chExt cx="2338448" cy="2003977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F13041E-935D-421D-8CA4-C1888AE32779}"/>
                    </a:ext>
                  </a:extLst>
                </p:cNvPr>
                <p:cNvSpPr/>
                <p:nvPr/>
              </p:nvSpPr>
              <p:spPr>
                <a:xfrm>
                  <a:off x="7162800" y="4698681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869EF53-805E-4FE0-8398-D9D935F9DFE8}"/>
                    </a:ext>
                  </a:extLst>
                </p:cNvPr>
                <p:cNvSpPr/>
                <p:nvPr/>
              </p:nvSpPr>
              <p:spPr>
                <a:xfrm>
                  <a:off x="7162800" y="5042613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6B95DFE-CFF4-4071-AA38-D54B2C271D0D}"/>
                    </a:ext>
                  </a:extLst>
                </p:cNvPr>
                <p:cNvSpPr/>
                <p:nvPr/>
              </p:nvSpPr>
              <p:spPr>
                <a:xfrm>
                  <a:off x="7753593" y="5401819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8585871-852D-45C7-A655-EDE06AA11917}"/>
                    </a:ext>
                  </a:extLst>
                </p:cNvPr>
                <p:cNvSpPr/>
                <p:nvPr/>
              </p:nvSpPr>
              <p:spPr>
                <a:xfrm>
                  <a:off x="7753593" y="5745751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98A2240-6983-4A7F-A89F-DEC6075F0C6C}"/>
                    </a:ext>
                  </a:extLst>
                </p:cNvPr>
                <p:cNvSpPr/>
                <p:nvPr/>
              </p:nvSpPr>
              <p:spPr>
                <a:xfrm>
                  <a:off x="8320148" y="6112436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B74E0C9-FC91-470C-B521-378B668A3575}"/>
                    </a:ext>
                  </a:extLst>
                </p:cNvPr>
                <p:cNvSpPr/>
                <p:nvPr/>
              </p:nvSpPr>
              <p:spPr>
                <a:xfrm>
                  <a:off x="8320148" y="6456368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D4D73CE0-5A20-4A3F-8DD3-DB648A52121E}"/>
                  </a:ext>
                </a:extLst>
              </p:cNvPr>
              <p:cNvSpPr/>
              <p:nvPr/>
            </p:nvSpPr>
            <p:spPr>
              <a:xfrm>
                <a:off x="1963880" y="2480159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i=0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7" name="Freeform 12">
                <a:extLst>
                  <a:ext uri="{FF2B5EF4-FFF2-40B4-BE49-F238E27FC236}">
                    <a16:creationId xmlns:a16="http://schemas.microsoft.com/office/drawing/2014/main" id="{A829AA90-B97B-4DB9-ACA4-9E61F651CFB5}"/>
                  </a:ext>
                </a:extLst>
              </p:cNvPr>
              <p:cNvSpPr/>
              <p:nvPr/>
            </p:nvSpPr>
            <p:spPr>
              <a:xfrm>
                <a:off x="2487521" y="2991474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i=1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8" name="Freeform 12">
                <a:extLst>
                  <a:ext uri="{FF2B5EF4-FFF2-40B4-BE49-F238E27FC236}">
                    <a16:creationId xmlns:a16="http://schemas.microsoft.com/office/drawing/2014/main" id="{FD28EC46-4AE9-4ECB-A624-906E59F51FFE}"/>
                  </a:ext>
                </a:extLst>
              </p:cNvPr>
              <p:cNvSpPr/>
              <p:nvPr/>
            </p:nvSpPr>
            <p:spPr>
              <a:xfrm>
                <a:off x="3067049" y="3564457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i=2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BDB6CE8-0A15-4A6E-8302-CA629B9E5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141" y="2297033"/>
                <a:ext cx="0" cy="173736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30F1AD5-8C42-40B4-BBDA-5E9B4B214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891" y="2297033"/>
                <a:ext cx="0" cy="173736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678A53-F620-4E68-8C5D-EF362860143A}"/>
                </a:ext>
              </a:extLst>
            </p:cNvPr>
            <p:cNvCxnSpPr>
              <a:cxnSpLocks/>
            </p:cNvCxnSpPr>
            <p:nvPr/>
          </p:nvCxnSpPr>
          <p:spPr>
            <a:xfrm>
              <a:off x="8520721" y="2250518"/>
              <a:ext cx="0" cy="216084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E212AB-D1D4-4271-AA36-5E3838090FAF}"/>
                </a:ext>
              </a:extLst>
            </p:cNvPr>
            <p:cNvCxnSpPr>
              <a:cxnSpLocks/>
            </p:cNvCxnSpPr>
            <p:nvPr/>
          </p:nvCxnSpPr>
          <p:spPr>
            <a:xfrm>
              <a:off x="9040786" y="2250518"/>
              <a:ext cx="0" cy="216084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8024F44-AB16-4749-9D56-E4A8175702F9}"/>
              </a:ext>
            </a:extLst>
          </p:cNvPr>
          <p:cNvGrpSpPr/>
          <p:nvPr/>
        </p:nvGrpSpPr>
        <p:grpSpPr>
          <a:xfrm>
            <a:off x="1577598" y="3803211"/>
            <a:ext cx="506688" cy="338038"/>
            <a:chOff x="-2778369" y="1701777"/>
            <a:chExt cx="785447" cy="46464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625DF68-CF7B-440D-BCCE-1573A85F9B5C}"/>
                </a:ext>
              </a:extLst>
            </p:cNvPr>
            <p:cNvCxnSpPr>
              <a:cxnSpLocks/>
            </p:cNvCxnSpPr>
            <p:nvPr/>
          </p:nvCxnSpPr>
          <p:spPr>
            <a:xfrm>
              <a:off x="-2778369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803AD99-57CC-4636-B1CD-8904134449EE}"/>
                </a:ext>
              </a:extLst>
            </p:cNvPr>
            <p:cNvCxnSpPr>
              <a:cxnSpLocks/>
            </p:cNvCxnSpPr>
            <p:nvPr/>
          </p:nvCxnSpPr>
          <p:spPr>
            <a:xfrm>
              <a:off x="-1992922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7B887B-3436-43A9-8272-FD8E966E94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78368" y="1934100"/>
              <a:ext cx="785446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3AE17F-B759-47F7-988F-F0CE07C58419}"/>
              </a:ext>
            </a:extLst>
          </p:cNvPr>
          <p:cNvGrpSpPr/>
          <p:nvPr/>
        </p:nvGrpSpPr>
        <p:grpSpPr>
          <a:xfrm>
            <a:off x="7372794" y="3870586"/>
            <a:ext cx="1005097" cy="338038"/>
            <a:chOff x="-2778369" y="1701777"/>
            <a:chExt cx="785447" cy="46464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5CB9725-67ED-4FEB-8B9F-AB2D94B15770}"/>
                </a:ext>
              </a:extLst>
            </p:cNvPr>
            <p:cNvCxnSpPr>
              <a:cxnSpLocks/>
            </p:cNvCxnSpPr>
            <p:nvPr/>
          </p:nvCxnSpPr>
          <p:spPr>
            <a:xfrm>
              <a:off x="-2778369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3920D5-9B83-4518-94DB-C4C0AB56D6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92922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2BD8E8C-4603-4C97-A281-173E49788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78368" y="1934100"/>
              <a:ext cx="785446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674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08519B-8293-48E0-8ED1-9282D0448852}"/>
              </a:ext>
            </a:extLst>
          </p:cNvPr>
          <p:cNvSpPr/>
          <p:nvPr/>
        </p:nvSpPr>
        <p:spPr>
          <a:xfrm>
            <a:off x="1702190" y="2637696"/>
            <a:ext cx="5162844" cy="14278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Not enough resource (e.g., memory not partitioned)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A[i][j]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1752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Not enough resource (e.g., memory not partitioned)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A[i][j]</a:t>
            </a:r>
            <a:r>
              <a:rPr lang="en-US" dirty="0">
                <a:latin typeface="Consolas" panose="020B0609020204030204" pitchFamily="49" charset="0"/>
              </a:rPr>
              <a:t>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4EBF2-3421-4A42-9F9D-FF5FDAC096FF}"/>
              </a:ext>
            </a:extLst>
          </p:cNvPr>
          <p:cNvSpPr txBox="1"/>
          <p:nvPr/>
        </p:nvSpPr>
        <p:spPr>
          <a:xfrm>
            <a:off x="366345" y="4451591"/>
            <a:ext cx="117904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WARNING: [HLS 200-885] </a:t>
            </a:r>
            <a:r>
              <a:rPr lang="en-US" sz="2400" b="1" dirty="0">
                <a:solidFill>
                  <a:schemeClr val="accent1"/>
                </a:solidFill>
              </a:rPr>
              <a:t>Unable to schedule 'load' operation ('A_load_2', top.cpp:63) on array 'A' due to limited memory ports</a:t>
            </a:r>
            <a:r>
              <a:rPr lang="en-US" sz="2400" dirty="0"/>
              <a:t>. Please consider using a memory core with more ports or partitioning the array 'A'.</a:t>
            </a:r>
          </a:p>
          <a:p>
            <a:r>
              <a:rPr lang="en-US" sz="2400" dirty="0"/>
              <a:t>Resolution: For help on HLS 200-885 see …</a:t>
            </a:r>
          </a:p>
          <a:p>
            <a:r>
              <a:rPr lang="en-US" sz="2400" dirty="0"/>
              <a:t>INFO: [HLS 200-1470] Pipelining result : </a:t>
            </a:r>
            <a:r>
              <a:rPr lang="en-US" sz="2400" b="1" dirty="0">
                <a:solidFill>
                  <a:schemeClr val="accent1"/>
                </a:solidFill>
              </a:rPr>
              <a:t>Target II = 1, Final II = 50, Depth = 52, 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918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Manual array partition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array_partition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variable=A dim=2 complete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array_partition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variable=B dim=2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A[i][j]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7975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A2CF7A-AEE0-463E-A1E6-0ED4EFE6289B}"/>
              </a:ext>
            </a:extLst>
          </p:cNvPr>
          <p:cNvSpPr/>
          <p:nvPr/>
        </p:nvSpPr>
        <p:spPr>
          <a:xfrm>
            <a:off x="1702190" y="2341546"/>
            <a:ext cx="8231944" cy="9080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[</a:t>
            </a:r>
            <a:r>
              <a:rPr lang="en-US" sz="2800" dirty="0">
                <a:solidFill>
                  <a:schemeClr val="accent1"/>
                </a:solidFill>
              </a:rPr>
              <a:t>Caution</a:t>
            </a:r>
            <a:r>
              <a:rPr lang="en-US" sz="2800" dirty="0"/>
              <a:t>!] If array is from DRAM – copy to </a:t>
            </a:r>
            <a:r>
              <a:rPr lang="en-US" sz="2800" dirty="0">
                <a:solidFill>
                  <a:schemeClr val="accent1"/>
                </a:solidFill>
              </a:rPr>
              <a:t>local buffer (BRAM) </a:t>
            </a:r>
            <a:r>
              <a:rPr lang="en-US" sz="2800" dirty="0"/>
              <a:t>first!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port=A offset=slave bundle=mem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port=B offset=slave bundle=mem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port=sum offset=slave bundle=mem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dim=2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dim=2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copy A to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A_local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B to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B_local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 +=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[i][j] *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B_local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[i][j];</a:t>
            </a:r>
          </a:p>
          <a:p>
            <a:r>
              <a:rPr lang="en-US" dirty="0">
                <a:latin typeface="Consolas" panose="020B0609020204030204" pitchFamily="49" charset="0"/>
              </a:rPr>
              <a:t>}}}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4E37B3F7-0CA1-4B44-ACC6-EEB6E4DBBE9F}"/>
              </a:ext>
            </a:extLst>
          </p:cNvPr>
          <p:cNvSpPr/>
          <p:nvPr/>
        </p:nvSpPr>
        <p:spPr>
          <a:xfrm>
            <a:off x="8981396" y="2255134"/>
            <a:ext cx="3210604" cy="2037033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A, B, and sum are from DRAM; cannot partition DRAM!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68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644164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EF01D9-C70A-4C5D-A14C-62493083D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133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An iteration of a loop </a:t>
            </a:r>
            <a:r>
              <a:rPr lang="en-US" sz="2800" dirty="0">
                <a:solidFill>
                  <a:schemeClr val="accent1"/>
                </a:solidFill>
              </a:rPr>
              <a:t>depends on a result produced by a previous iteration</a:t>
            </a:r>
            <a:r>
              <a:rPr lang="en-US" sz="2800" dirty="0"/>
              <a:t>, which takes multiple cycles to complete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Can be </a:t>
            </a:r>
            <a:r>
              <a:rPr lang="en-US" sz="2800" dirty="0">
                <a:solidFill>
                  <a:schemeClr val="accent1"/>
                </a:solidFill>
              </a:rPr>
              <a:t>true</a:t>
            </a:r>
            <a:r>
              <a:rPr lang="en-US" sz="2800" dirty="0"/>
              <a:t> or </a:t>
            </a:r>
            <a:r>
              <a:rPr lang="en-US" sz="2800" dirty="0">
                <a:solidFill>
                  <a:schemeClr val="accent1"/>
                </a:solidFill>
              </a:rPr>
              <a:t>false</a:t>
            </a:r>
            <a:r>
              <a:rPr lang="en-US" sz="2800" dirty="0"/>
              <a:t> dependency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HLS tends to be conservative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7896E4-0DE9-4840-92D2-CA56D324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25410-3DFA-48E0-9A40-4E47E375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Loop-carried Dependency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29540A6-FF8B-4D46-ACE2-A5158DDD9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65370"/>
              </p:ext>
            </p:extLst>
          </p:nvPr>
        </p:nvGraphicFramePr>
        <p:xfrm>
          <a:off x="765907" y="3701896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9BF577-7F38-4261-8B13-34C6E1B64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54656"/>
              </p:ext>
            </p:extLst>
          </p:nvPr>
        </p:nvGraphicFramePr>
        <p:xfrm>
          <a:off x="3738879" y="4519695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86D545-5D1B-48F2-8E66-F3B78800D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223800"/>
              </p:ext>
            </p:extLst>
          </p:nvPr>
        </p:nvGraphicFramePr>
        <p:xfrm>
          <a:off x="6718885" y="5337494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06EDA-D0F5-45F7-9FFB-F6530DE983A6}"/>
              </a:ext>
            </a:extLst>
          </p:cNvPr>
          <p:cNvCxnSpPr>
            <a:cxnSpLocks/>
          </p:cNvCxnSpPr>
          <p:nvPr/>
        </p:nvCxnSpPr>
        <p:spPr>
          <a:xfrm>
            <a:off x="3974123" y="4178106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B78C9A-EB5A-4EDF-9F47-BB2D799E80B6}"/>
              </a:ext>
            </a:extLst>
          </p:cNvPr>
          <p:cNvCxnSpPr>
            <a:cxnSpLocks/>
          </p:cNvCxnSpPr>
          <p:nvPr/>
        </p:nvCxnSpPr>
        <p:spPr>
          <a:xfrm>
            <a:off x="6947096" y="4995905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D41D265E-236A-4E56-9FCB-C2929443CF48}"/>
              </a:ext>
            </a:extLst>
          </p:cNvPr>
          <p:cNvSpPr/>
          <p:nvPr/>
        </p:nvSpPr>
        <p:spPr>
          <a:xfrm>
            <a:off x="3640198" y="3768035"/>
            <a:ext cx="3306898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 to Mem[i+1]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E8AC55D3-93A5-4609-97FA-DF4449F81B38}"/>
              </a:ext>
            </a:extLst>
          </p:cNvPr>
          <p:cNvSpPr/>
          <p:nvPr/>
        </p:nvSpPr>
        <p:spPr>
          <a:xfrm>
            <a:off x="964991" y="4553501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 from Mem[i+1]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E366B5A-BA7C-49CA-B2B5-0FE35484B6DB}"/>
              </a:ext>
            </a:extLst>
          </p:cNvPr>
          <p:cNvSpPr/>
          <p:nvPr/>
        </p:nvSpPr>
        <p:spPr>
          <a:xfrm>
            <a:off x="6938002" y="4571298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 to Mem[i+2]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6ABCC70D-93FA-4F91-90F9-63223CF27218}"/>
              </a:ext>
            </a:extLst>
          </p:cNvPr>
          <p:cNvSpPr/>
          <p:nvPr/>
        </p:nvSpPr>
        <p:spPr>
          <a:xfrm>
            <a:off x="408639" y="5575599"/>
            <a:ext cx="4740135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Initial Interval (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) = 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6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09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4B8F3-E602-424C-B790-782E8696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5231F-8EC7-4D30-8934-43D7D849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True Dependency?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40AAA-DA3D-4F41-9379-AF763F39193F}"/>
              </a:ext>
            </a:extLst>
          </p:cNvPr>
          <p:cNvSpPr txBox="1"/>
          <p:nvPr/>
        </p:nvSpPr>
        <p:spPr>
          <a:xfrm>
            <a:off x="2344323" y="1060103"/>
            <a:ext cx="7180678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test(float w, float mem[100])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for(int i = 1; i &lt; 100; i++) {   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pipeline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float a =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mem[i-1]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mem[i] = a * w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F15802CA-18CB-4A86-9021-A216873E2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99969"/>
              </p:ext>
            </p:extLst>
          </p:nvPr>
        </p:nvGraphicFramePr>
        <p:xfrm>
          <a:off x="984982" y="4867275"/>
          <a:ext cx="4756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738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0" name="Freeform 12">
            <a:extLst>
              <a:ext uri="{FF2B5EF4-FFF2-40B4-BE49-F238E27FC236}">
                <a16:creationId xmlns:a16="http://schemas.microsoft.com/office/drawing/2014/main" id="{71CA621A-F287-49E2-8617-5EAF0E70768F}"/>
              </a:ext>
            </a:extLst>
          </p:cNvPr>
          <p:cNvSpPr/>
          <p:nvPr/>
        </p:nvSpPr>
        <p:spPr>
          <a:xfrm>
            <a:off x="6466883" y="4342784"/>
            <a:ext cx="4740135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Initial Interval (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) = 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5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C1DC9A6-8AF4-417D-A252-E78653E395E2}"/>
              </a:ext>
            </a:extLst>
          </p:cNvPr>
          <p:cNvSpPr/>
          <p:nvPr/>
        </p:nvSpPr>
        <p:spPr>
          <a:xfrm>
            <a:off x="409812" y="411827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Mem[0]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624FECD-DF64-4D43-92AD-296BF25D0BE0}"/>
              </a:ext>
            </a:extLst>
          </p:cNvPr>
          <p:cNvSpPr/>
          <p:nvPr/>
        </p:nvSpPr>
        <p:spPr>
          <a:xfrm>
            <a:off x="4286487" y="411827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Mem[1]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6503661-EEA5-41ED-8888-16B83A0B7598}"/>
              </a:ext>
            </a:extLst>
          </p:cNvPr>
          <p:cNvSpPr/>
          <p:nvPr/>
        </p:nvSpPr>
        <p:spPr>
          <a:xfrm>
            <a:off x="2492956" y="4758791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FP </a:t>
            </a:r>
            <a:r>
              <a:rPr lang="en-US" sz="3200" b="1" dirty="0" err="1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mul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90D1A24-3839-47BE-B422-5B8E3EA30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63406"/>
              </p:ext>
            </p:extLst>
          </p:nvPr>
        </p:nvGraphicFramePr>
        <p:xfrm>
          <a:off x="4942616" y="5825064"/>
          <a:ext cx="4756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738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5" name="Freeform 12">
            <a:extLst>
              <a:ext uri="{FF2B5EF4-FFF2-40B4-BE49-F238E27FC236}">
                <a16:creationId xmlns:a16="http://schemas.microsoft.com/office/drawing/2014/main" id="{EC05DB28-A458-430C-8D8F-C3A88F052627}"/>
              </a:ext>
            </a:extLst>
          </p:cNvPr>
          <p:cNvSpPr/>
          <p:nvPr/>
        </p:nvSpPr>
        <p:spPr>
          <a:xfrm>
            <a:off x="3213166" y="559646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Mem[1]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0B2565B3-6AF7-4C3C-AC28-6490F4417AFE}"/>
              </a:ext>
            </a:extLst>
          </p:cNvPr>
          <p:cNvSpPr/>
          <p:nvPr/>
        </p:nvSpPr>
        <p:spPr>
          <a:xfrm>
            <a:off x="9474857" y="5596463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Mem[2]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70A39FA2-26DF-4AAD-B62C-C000DB14005B}"/>
              </a:ext>
            </a:extLst>
          </p:cNvPr>
          <p:cNvSpPr/>
          <p:nvPr/>
        </p:nvSpPr>
        <p:spPr>
          <a:xfrm>
            <a:off x="6450590" y="5716580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FP </a:t>
            </a:r>
            <a:r>
              <a:rPr lang="en-US" sz="3200" b="1" dirty="0" err="1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mul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62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913D483-B4BE-40CF-A664-2038D8A34059}"/>
              </a:ext>
            </a:extLst>
          </p:cNvPr>
          <p:cNvSpPr/>
          <p:nvPr/>
        </p:nvSpPr>
        <p:spPr>
          <a:xfrm>
            <a:off x="7191375" y="4943913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E8A764-3DCD-4E2A-9399-38EFC6A37421}"/>
              </a:ext>
            </a:extLst>
          </p:cNvPr>
          <p:cNvSpPr/>
          <p:nvPr/>
        </p:nvSpPr>
        <p:spPr>
          <a:xfrm>
            <a:off x="7191375" y="2877815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942EFD-CAB4-4480-8572-D28AF56B4B2C}"/>
              </a:ext>
            </a:extLst>
          </p:cNvPr>
          <p:cNvSpPr/>
          <p:nvPr/>
        </p:nvSpPr>
        <p:spPr>
          <a:xfrm>
            <a:off x="7191375" y="1476657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38010-90C8-47B8-9062-7B23C7701CD5}"/>
              </a:ext>
            </a:extLst>
          </p:cNvPr>
          <p:cNvSpPr/>
          <p:nvPr/>
        </p:nvSpPr>
        <p:spPr>
          <a:xfrm>
            <a:off x="1735179" y="3856524"/>
            <a:ext cx="4065546" cy="12155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4B8F3-E602-424C-B790-782E8696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5231F-8EC7-4D30-8934-43D7D849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True Dependency with Another Dimension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40AAA-DA3D-4F41-9379-AF763F39193F}"/>
              </a:ext>
            </a:extLst>
          </p:cNvPr>
          <p:cNvSpPr txBox="1"/>
          <p:nvPr/>
        </p:nvSpPr>
        <p:spPr>
          <a:xfrm>
            <a:off x="694403" y="1646314"/>
            <a:ext cx="5858605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#pragma HLS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array_partition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variable=mem dim=1 complete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void test(float w, float mem[10][100])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for(int j = 0; j &lt; 10; 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j++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#pragma HLS unroll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for(int i = 1; i &lt; 100; i++) {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	  float a = mem[j][i-1];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    mem[j][i] = a * w;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5FE4B17C-87B5-4466-9A06-7586AA1E3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50820"/>
              </p:ext>
            </p:extLst>
          </p:nvPr>
        </p:nvGraphicFramePr>
        <p:xfrm>
          <a:off x="7339395" y="1536353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0" name="Table 6">
            <a:extLst>
              <a:ext uri="{FF2B5EF4-FFF2-40B4-BE49-F238E27FC236}">
                <a16:creationId xmlns:a16="http://schemas.microsoft.com/office/drawing/2014/main" id="{45EFB2E8-4C19-41A5-96FC-824DBBD79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903168"/>
              </p:ext>
            </p:extLst>
          </p:nvPr>
        </p:nvGraphicFramePr>
        <p:xfrm>
          <a:off x="8456607" y="1906726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3829AA1F-7966-4341-8E83-7B139BB9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264933"/>
              </p:ext>
            </p:extLst>
          </p:nvPr>
        </p:nvGraphicFramePr>
        <p:xfrm>
          <a:off x="10504482" y="2272486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E2E8ED05-C78E-4340-A6B2-D8DD46D5A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38544"/>
              </p:ext>
            </p:extLst>
          </p:nvPr>
        </p:nvGraphicFramePr>
        <p:xfrm>
          <a:off x="7339395" y="2937511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3" name="Table 6">
            <a:extLst>
              <a:ext uri="{FF2B5EF4-FFF2-40B4-BE49-F238E27FC236}">
                <a16:creationId xmlns:a16="http://schemas.microsoft.com/office/drawing/2014/main" id="{509881E6-555D-4535-8E28-931BFC158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362831"/>
              </p:ext>
            </p:extLst>
          </p:nvPr>
        </p:nvGraphicFramePr>
        <p:xfrm>
          <a:off x="8456607" y="3307884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4" name="Table 6">
            <a:extLst>
              <a:ext uri="{FF2B5EF4-FFF2-40B4-BE49-F238E27FC236}">
                <a16:creationId xmlns:a16="http://schemas.microsoft.com/office/drawing/2014/main" id="{14E8A114-1D40-4B8C-8272-20EF9976B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62290"/>
              </p:ext>
            </p:extLst>
          </p:nvPr>
        </p:nvGraphicFramePr>
        <p:xfrm>
          <a:off x="10504482" y="3673644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D7674A3A-C41F-4326-914B-1B8CD396E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359103"/>
              </p:ext>
            </p:extLst>
          </p:nvPr>
        </p:nvGraphicFramePr>
        <p:xfrm>
          <a:off x="7339395" y="5003609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27CC3241-9260-4CA6-9979-7AFBB67D1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536022"/>
              </p:ext>
            </p:extLst>
          </p:nvPr>
        </p:nvGraphicFramePr>
        <p:xfrm>
          <a:off x="8456607" y="5373982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8" name="Table 6">
            <a:extLst>
              <a:ext uri="{FF2B5EF4-FFF2-40B4-BE49-F238E27FC236}">
                <a16:creationId xmlns:a16="http://schemas.microsoft.com/office/drawing/2014/main" id="{B0EC0D34-3ACA-4C3F-B076-DEAD4A43E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6225"/>
              </p:ext>
            </p:extLst>
          </p:nvPr>
        </p:nvGraphicFramePr>
        <p:xfrm>
          <a:off x="10504482" y="5739742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30" name="Freeform 12">
            <a:extLst>
              <a:ext uri="{FF2B5EF4-FFF2-40B4-BE49-F238E27FC236}">
                <a16:creationId xmlns:a16="http://schemas.microsoft.com/office/drawing/2014/main" id="{FA7955FB-7E02-4FB6-AC71-0B01EB3FD7DD}"/>
              </a:ext>
            </a:extLst>
          </p:cNvPr>
          <p:cNvSpPr/>
          <p:nvPr/>
        </p:nvSpPr>
        <p:spPr>
          <a:xfrm>
            <a:off x="8087108" y="4341879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…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02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493CF-118B-4CC7-96E7-9F86E03D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7591424" cy="792474"/>
          </a:xfrm>
        </p:spPr>
        <p:txBody>
          <a:bodyPr>
            <a:normAutofit/>
          </a:bodyPr>
          <a:lstStyle/>
          <a:p>
            <a:r>
              <a:rPr lang="en-US" sz="3200" dirty="0"/>
              <a:t>But only do it when you’re sure it’s safe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6D217-EDC3-43F8-B367-5478234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193824-A39D-4B1A-8E66-6F41E0B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False Dependency? Remove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17FDB-AC31-4B64-B2A1-234891D5E62E}"/>
              </a:ext>
            </a:extLst>
          </p:cNvPr>
          <p:cNvSpPr txBox="1"/>
          <p:nvPr/>
        </p:nvSpPr>
        <p:spPr>
          <a:xfrm>
            <a:off x="438883" y="2214854"/>
            <a:ext cx="5952392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test(int* A, float B[100])</a:t>
            </a:r>
          </a:p>
          <a:p>
            <a:r>
              <a:rPr lang="en-US" dirty="0"/>
              <a:t>{</a:t>
            </a:r>
          </a:p>
          <a:p>
            <a:endParaRPr lang="en-US" dirty="0"/>
          </a:p>
          <a:p>
            <a:r>
              <a:rPr lang="en-US" dirty="0"/>
              <a:t>    for(int i = 0; i &lt; 100; i++) {</a:t>
            </a:r>
          </a:p>
          <a:p>
            <a:r>
              <a:rPr lang="en-US" dirty="0"/>
              <a:t>        </a:t>
            </a:r>
            <a:r>
              <a:rPr lang="en-US" b="1" dirty="0">
                <a:solidFill>
                  <a:schemeClr val="accent1"/>
                </a:solidFill>
              </a:rPr>
              <a:t>int x = A[i];</a:t>
            </a:r>
          </a:p>
          <a:p>
            <a:r>
              <a:rPr lang="en-US" b="1" dirty="0">
                <a:solidFill>
                  <a:schemeClr val="accent1"/>
                </a:solidFill>
              </a:rPr>
              <a:t>        B[x] *= B[x];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57923A-D89D-46A2-AA76-C46734632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06932"/>
              </p:ext>
            </p:extLst>
          </p:nvPr>
        </p:nvGraphicFramePr>
        <p:xfrm>
          <a:off x="6763331" y="2952750"/>
          <a:ext cx="31699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2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A35893C-FA01-4B8D-8138-668A64B5F57B}"/>
              </a:ext>
            </a:extLst>
          </p:cNvPr>
          <p:cNvSpPr txBox="1">
            <a:spLocks/>
          </p:cNvSpPr>
          <p:nvPr/>
        </p:nvSpPr>
        <p:spPr>
          <a:xfrm>
            <a:off x="6391275" y="2436501"/>
            <a:ext cx="1675085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read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42587FF-544C-45A9-AA84-CEC67008224D}"/>
              </a:ext>
            </a:extLst>
          </p:cNvPr>
          <p:cNvSpPr txBox="1">
            <a:spLocks/>
          </p:cNvSpPr>
          <p:nvPr/>
        </p:nvSpPr>
        <p:spPr>
          <a:xfrm>
            <a:off x="8886825" y="2436500"/>
            <a:ext cx="2027510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write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298CE7-C33A-4BB9-B42B-86D1DFC1E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95726"/>
              </p:ext>
            </p:extLst>
          </p:nvPr>
        </p:nvGraphicFramePr>
        <p:xfrm>
          <a:off x="9426525" y="4213848"/>
          <a:ext cx="158496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2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507B5C5C-B105-48CC-8EC3-58FE1F59332C}"/>
              </a:ext>
            </a:extLst>
          </p:cNvPr>
          <p:cNvSpPr txBox="1">
            <a:spLocks/>
          </p:cNvSpPr>
          <p:nvPr/>
        </p:nvSpPr>
        <p:spPr>
          <a:xfrm>
            <a:off x="9054469" y="3697599"/>
            <a:ext cx="1675085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read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AFCC876-E2E0-456B-BD6C-13881CAA87AC}"/>
              </a:ext>
            </a:extLst>
          </p:cNvPr>
          <p:cNvSpPr txBox="1">
            <a:spLocks/>
          </p:cNvSpPr>
          <p:nvPr/>
        </p:nvSpPr>
        <p:spPr>
          <a:xfrm>
            <a:off x="11011491" y="4070023"/>
            <a:ext cx="641981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800" dirty="0">
                <a:latin typeface="Aptos Display" panose="020B0004020202020204" pitchFamily="34" charset="0"/>
              </a:rPr>
              <a:t>…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5B1F7B-52EB-46C7-8CAF-F8CCFDBD93DC}"/>
              </a:ext>
            </a:extLst>
          </p:cNvPr>
          <p:cNvSpPr/>
          <p:nvPr/>
        </p:nvSpPr>
        <p:spPr>
          <a:xfrm>
            <a:off x="8598585" y="1964540"/>
            <a:ext cx="2271938" cy="2967022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66696289-F5BD-4855-BCCC-95662EC0CEB2}"/>
              </a:ext>
            </a:extLst>
          </p:cNvPr>
          <p:cNvSpPr txBox="1">
            <a:spLocks/>
          </p:cNvSpPr>
          <p:nvPr/>
        </p:nvSpPr>
        <p:spPr>
          <a:xfrm>
            <a:off x="5305425" y="5127116"/>
            <a:ext cx="6886575" cy="123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Don’t know if they’re the same B[x]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So II = 3</a:t>
            </a:r>
          </a:p>
        </p:txBody>
      </p:sp>
    </p:spTree>
    <p:extLst>
      <p:ext uri="{BB962C8B-B14F-4D97-AF65-F5344CB8AC3E}">
        <p14:creationId xmlns:p14="http://schemas.microsoft.com/office/powerpoint/2010/main" val="2258109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493CF-118B-4CC7-96E7-9F86E03D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7591424" cy="792474"/>
          </a:xfrm>
        </p:spPr>
        <p:txBody>
          <a:bodyPr>
            <a:normAutofit/>
          </a:bodyPr>
          <a:lstStyle/>
          <a:p>
            <a:r>
              <a:rPr lang="en-US" sz="3200" dirty="0"/>
              <a:t>But only do it when you’re sure it’s safe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6D217-EDC3-43F8-B367-5478234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193824-A39D-4B1A-8E66-6F41E0B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False Dependency? Remove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17FDB-AC31-4B64-B2A1-234891D5E62E}"/>
              </a:ext>
            </a:extLst>
          </p:cNvPr>
          <p:cNvSpPr txBox="1"/>
          <p:nvPr/>
        </p:nvSpPr>
        <p:spPr>
          <a:xfrm>
            <a:off x="438882" y="2214854"/>
            <a:ext cx="8952767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test(int* A, float B[100])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DEPENDENCE variable=B inter false</a:t>
            </a:r>
          </a:p>
          <a:p>
            <a:r>
              <a:rPr lang="en-US" dirty="0"/>
              <a:t>    for(int i = 0; i &lt; 100; i++) {</a:t>
            </a:r>
          </a:p>
          <a:p>
            <a:r>
              <a:rPr lang="en-US" dirty="0"/>
              <a:t>        </a:t>
            </a:r>
            <a:r>
              <a:rPr lang="en-US" b="1" dirty="0">
                <a:solidFill>
                  <a:schemeClr val="accent1"/>
                </a:solidFill>
              </a:rPr>
              <a:t>int x = A[i];</a:t>
            </a:r>
          </a:p>
          <a:p>
            <a:r>
              <a:rPr lang="en-US" b="1" dirty="0">
                <a:solidFill>
                  <a:schemeClr val="accent1"/>
                </a:solidFill>
              </a:rPr>
              <a:t>        B[x] *= B[x];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8B92937-8D1D-49DB-8D0B-D1453B593E1E}"/>
              </a:ext>
            </a:extLst>
          </p:cNvPr>
          <p:cNvSpPr txBox="1">
            <a:spLocks/>
          </p:cNvSpPr>
          <p:nvPr/>
        </p:nvSpPr>
        <p:spPr>
          <a:xfrm>
            <a:off x="438882" y="5185641"/>
            <a:ext cx="11514992" cy="12275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But if you know for sure: e.g., array A is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m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onotonically increasing 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II = 1</a:t>
            </a:r>
          </a:p>
        </p:txBody>
      </p:sp>
    </p:spTree>
    <p:extLst>
      <p:ext uri="{BB962C8B-B14F-4D97-AF65-F5344CB8AC3E}">
        <p14:creationId xmlns:p14="http://schemas.microsoft.com/office/powerpoint/2010/main" val="3892655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FA31-6F05-D1FE-C6BC-B82A32B7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A40CC5-7420-5D42-FB71-FAC80908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Critical Warnings</a:t>
            </a:r>
          </a:p>
          <a:p>
            <a:r>
              <a:rPr lang="en-US" sz="2000" dirty="0"/>
              <a:t>Outer loop pipelining forces inner loop full unrolling</a:t>
            </a:r>
            <a:br>
              <a:rPr lang="en-US" sz="2000" dirty="0"/>
            </a:br>
            <a:r>
              <a:rPr lang="en-US" sz="2000" b="0" dirty="0"/>
              <a:t>→ Can easily cause resource explosion</a:t>
            </a:r>
          </a:p>
          <a:p>
            <a:r>
              <a:rPr lang="en-US" sz="2000" dirty="0"/>
              <a:t>Floating-point accumulation almost always causes II &gt; 1</a:t>
            </a:r>
            <a:br>
              <a:rPr lang="en-US" sz="2000" dirty="0"/>
            </a:br>
            <a:r>
              <a:rPr lang="en-US" sz="2000" b="0" dirty="0"/>
              <a:t>→ FP adder latency &gt; 1 cycle</a:t>
            </a:r>
          </a:p>
          <a:p>
            <a:r>
              <a:rPr lang="en-US" sz="2000" dirty="0"/>
              <a:t>DRAM arrays cannot be partitioned</a:t>
            </a:r>
            <a:br>
              <a:rPr lang="en-US" sz="2000" dirty="0"/>
            </a:br>
            <a:r>
              <a:rPr lang="en-US" sz="2000" b="0" dirty="0"/>
              <a:t>→ Always copy to local memory before pipelining/unroll</a:t>
            </a:r>
          </a:p>
          <a:p>
            <a:r>
              <a:rPr lang="en-US" sz="2000"/>
              <a:t>Dependence </a:t>
            </a:r>
            <a:r>
              <a:rPr lang="en-US" sz="2000" dirty="0"/>
              <a:t>inter false is a promise, not a hint</a:t>
            </a:r>
            <a:br>
              <a:rPr lang="en-US" sz="2000" dirty="0"/>
            </a:br>
            <a:r>
              <a:rPr lang="en-US" sz="2000" b="0" dirty="0"/>
              <a:t>→ If you are wrong, the bug is yours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Debugging Checklist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Check achieved II in the HLS report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If II &gt; 1 → identify resource vs dependency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Fix memory first, then dependency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Control parallelism before increasing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38CD51-6D59-3228-DB3A-80E7EDA2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9933F1-8F5E-B1A5-5742-2D4FF5A2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for now</a:t>
            </a:r>
          </a:p>
        </p:txBody>
      </p:sp>
    </p:spTree>
    <p:extLst>
      <p:ext uri="{BB962C8B-B14F-4D97-AF65-F5344CB8AC3E}">
        <p14:creationId xmlns:p14="http://schemas.microsoft.com/office/powerpoint/2010/main" val="2852237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3126652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0487B4-EBFB-4B07-9A17-2BB82261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Pipeline over function: the function must be </a:t>
            </a:r>
            <a:r>
              <a:rPr lang="en-US" sz="3600" dirty="0" err="1"/>
              <a:t>inlined</a:t>
            </a:r>
            <a:endParaRPr lang="en-US" sz="3600" dirty="0"/>
          </a:p>
          <a:p>
            <a:r>
              <a:rPr lang="en-US" sz="3600" dirty="0"/>
              <a:t>Unroll over function: the function will be duplicated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15FE9-224D-43C1-B65D-492482C2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4802D-23A4-4303-9F03-E1DF277F2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Pipeline and Unroll over Functions</a:t>
            </a:r>
          </a:p>
        </p:txBody>
      </p:sp>
    </p:spTree>
    <p:extLst>
      <p:ext uri="{BB962C8B-B14F-4D97-AF65-F5344CB8AC3E}">
        <p14:creationId xmlns:p14="http://schemas.microsoft.com/office/powerpoint/2010/main" val="1931413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486418" cy="770786"/>
          </a:xfrm>
        </p:spPr>
        <p:txBody>
          <a:bodyPr>
            <a:normAutofit/>
          </a:bodyPr>
          <a:lstStyle/>
          <a:p>
            <a:r>
              <a:rPr lang="en-US" sz="2800" dirty="0"/>
              <a:t>If a function inside pipeline region – the function must be </a:t>
            </a:r>
            <a:r>
              <a:rPr lang="en-US" sz="2800" dirty="0" err="1">
                <a:solidFill>
                  <a:schemeClr val="accent1"/>
                </a:solidFill>
              </a:rPr>
              <a:t>inlined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Pipeline over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511565" y="1843378"/>
            <a:ext cx="752753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dim=1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#pragma HLS pipeline II=1</a:t>
            </a:r>
          </a:p>
          <a:p>
            <a:r>
              <a:rPr lang="en-US" dirty="0">
                <a:latin typeface="Consolas" panose="020B0609020204030204" pitchFamily="49" charset="0"/>
              </a:rPr>
              <a:t>		sum[i] +=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(A[i], B[i]);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7DAB5-356C-433B-A252-B972CA8B3753}"/>
              </a:ext>
            </a:extLst>
          </p:cNvPr>
          <p:cNvSpPr txBox="1"/>
          <p:nvPr/>
        </p:nvSpPr>
        <p:spPr>
          <a:xfrm>
            <a:off x="6634749" y="3702040"/>
            <a:ext cx="455712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int </a:t>
            </a:r>
            <a:r>
              <a:rPr lang="en-US" b="1" dirty="0">
                <a:highlight>
                  <a:srgbClr val="FFFF00"/>
                </a:highlight>
              </a:rPr>
              <a:t>foo</a:t>
            </a:r>
            <a:r>
              <a:rPr lang="en-US" dirty="0"/>
              <a:t>(int A[100], int B[100])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inline</a:t>
            </a:r>
          </a:p>
          <a:p>
            <a:endParaRPr lang="en-US" dirty="0"/>
          </a:p>
          <a:p>
            <a:r>
              <a:rPr lang="en-US" dirty="0"/>
              <a:t>	int add = 0;</a:t>
            </a:r>
          </a:p>
          <a:p>
            <a:r>
              <a:rPr lang="en-US" dirty="0"/>
              <a:t>	for(int i = 0; i &lt; 10; i++)</a:t>
            </a:r>
          </a:p>
          <a:p>
            <a:r>
              <a:rPr lang="en-US" dirty="0"/>
              <a:t>	    add += A[i] * B[i]; </a:t>
            </a:r>
          </a:p>
          <a:p>
            <a:r>
              <a:rPr lang="en-US" dirty="0"/>
              <a:t>	return add;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8840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486418" cy="770786"/>
          </a:xfrm>
        </p:spPr>
        <p:txBody>
          <a:bodyPr>
            <a:normAutofit/>
          </a:bodyPr>
          <a:lstStyle/>
          <a:p>
            <a:r>
              <a:rPr lang="en-US" sz="2800" dirty="0"/>
              <a:t>Unroll a loop involving a function – the function will be </a:t>
            </a:r>
            <a:r>
              <a:rPr lang="en-US" sz="2800" dirty="0">
                <a:solidFill>
                  <a:schemeClr val="accent1"/>
                </a:solidFill>
              </a:rPr>
              <a:t>duplicated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Unroll over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511565" y="1843378"/>
            <a:ext cx="752753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variable=sum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loop_L1: for(int i = 0; i &lt; 10; i++) {</a:t>
            </a:r>
          </a:p>
          <a:p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#pragma HLS unroll</a:t>
            </a:r>
          </a:p>
          <a:p>
            <a:r>
              <a:rPr lang="en-US" dirty="0">
                <a:latin typeface="Consolas" panose="020B0609020204030204" pitchFamily="49" charset="0"/>
              </a:rPr>
              <a:t>		sum[i] 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(A[i], B[i]);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7DAB5-356C-433B-A252-B972CA8B3753}"/>
              </a:ext>
            </a:extLst>
          </p:cNvPr>
          <p:cNvSpPr txBox="1"/>
          <p:nvPr/>
        </p:nvSpPr>
        <p:spPr>
          <a:xfrm>
            <a:off x="6869358" y="3968740"/>
            <a:ext cx="45571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int </a:t>
            </a:r>
            <a:r>
              <a:rPr lang="en-US" b="1" dirty="0">
                <a:highlight>
                  <a:srgbClr val="FFFF00"/>
                </a:highlight>
              </a:rPr>
              <a:t>foo</a:t>
            </a:r>
            <a:r>
              <a:rPr lang="en-US" dirty="0"/>
              <a:t>(int A[100], int B[100])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int add = 0;</a:t>
            </a:r>
          </a:p>
          <a:p>
            <a:r>
              <a:rPr lang="en-US" dirty="0"/>
              <a:t>	for(int i = 0; i &lt; 10; i++)</a:t>
            </a:r>
          </a:p>
          <a:p>
            <a:r>
              <a:rPr lang="en-US" dirty="0"/>
              <a:t>	    add += A[i] * B[i]; </a:t>
            </a:r>
          </a:p>
          <a:p>
            <a:r>
              <a:rPr lang="en-US" dirty="0"/>
              <a:t>	return add;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56C7475E-38C6-4466-9577-47A47D6BB95C}"/>
              </a:ext>
            </a:extLst>
          </p:cNvPr>
          <p:cNvSpPr/>
          <p:nvPr/>
        </p:nvSpPr>
        <p:spPr>
          <a:xfrm>
            <a:off x="8215880" y="2584283"/>
            <a:ext cx="3210604" cy="1384457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foo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 is duplicated by 10 copies which run in parallel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66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</a:rPr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016911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1A675-7907-48C0-BBCA-2FA7F9E8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361629"/>
          </a:xfrm>
        </p:spPr>
        <p:txBody>
          <a:bodyPr>
            <a:normAutofit/>
          </a:bodyPr>
          <a:lstStyle/>
          <a:p>
            <a:r>
              <a:rPr lang="en-US" sz="2800" dirty="0"/>
              <a:t>When you have multiple loops, or the loop count is too big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22021-01AD-41C8-8FC9-EBA261C1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668340-B503-424E-AA99-1EC98ABC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– Controlled Parallelism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0699A-7270-4E76-A7FC-E9230037D13B}"/>
              </a:ext>
            </a:extLst>
          </p:cNvPr>
          <p:cNvSpPr txBox="1"/>
          <p:nvPr/>
        </p:nvSpPr>
        <p:spPr>
          <a:xfrm>
            <a:off x="766690" y="1993735"/>
            <a:ext cx="10775851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array_partition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omitted</a:t>
            </a:r>
            <a:br>
              <a:rPr lang="en-US" dirty="0"/>
            </a:br>
            <a:r>
              <a:rPr lang="en-US" dirty="0"/>
              <a:t>    for(int i = 0; i &lt; 1024; i++)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</a:p>
          <a:p>
            <a:r>
              <a:rPr lang="en-US" dirty="0"/>
              <a:t>       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E50D548C-2AFB-43CE-A8C0-997979DEE164}"/>
              </a:ext>
            </a:extLst>
          </p:cNvPr>
          <p:cNvSpPr/>
          <p:nvPr/>
        </p:nvSpPr>
        <p:spPr>
          <a:xfrm>
            <a:off x="7032289" y="4783828"/>
            <a:ext cx="4575902" cy="1299663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Unable to pipeline, crashes, or hangs forever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507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1A675-7907-48C0-BBCA-2FA7F9E8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838737"/>
          </a:xfrm>
        </p:spPr>
        <p:txBody>
          <a:bodyPr>
            <a:normAutofit/>
          </a:bodyPr>
          <a:lstStyle/>
          <a:p>
            <a:r>
              <a:rPr lang="en-US" sz="3600" dirty="0"/>
              <a:t>Step 1: break them into tiles</a:t>
            </a:r>
          </a:p>
          <a:p>
            <a:r>
              <a:rPr lang="en-US" sz="3600" dirty="0"/>
              <a:t>Step 2: parallelize within one tile</a:t>
            </a:r>
          </a:p>
          <a:p>
            <a:r>
              <a:rPr lang="en-US" sz="3600" dirty="0"/>
              <a:t>Step 3: pipeline across different tiles</a:t>
            </a:r>
          </a:p>
          <a:p>
            <a:pPr lvl="1"/>
            <a:r>
              <a:rPr lang="en-US" sz="3200" dirty="0"/>
              <a:t>We’ll see another example of II violation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22021-01AD-41C8-8FC9-EBA261C1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668340-B503-424E-AA99-1EC98ABC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– Controlled Parallelism</a:t>
            </a:r>
          </a:p>
        </p:txBody>
      </p:sp>
    </p:spTree>
    <p:extLst>
      <p:ext uri="{BB962C8B-B14F-4D97-AF65-F5344CB8AC3E}">
        <p14:creationId xmlns:p14="http://schemas.microsoft.com/office/powerpoint/2010/main" val="3428417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6068-F69B-9939-3AFD-CE0F048C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005A84-C2FA-182F-8CF0-19CE8FA2DF79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0722DA-493E-F4AD-162A-E47E2D54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D920BE-A4E7-1107-6804-312EE895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Break into Tiles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C8F9F-3086-FC7E-9B10-46A5F8B573C6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endParaRPr lang="en-US" b="1" dirty="0"/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78BFA9C7-5C5F-4BF9-A0B1-EE556A6C1A14}"/>
              </a:ext>
            </a:extLst>
          </p:cNvPr>
          <p:cNvSpPr/>
          <p:nvPr/>
        </p:nvSpPr>
        <p:spPr>
          <a:xfrm>
            <a:off x="9304532" y="2972280"/>
            <a:ext cx="2383394" cy="16940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Let these 16 multiplications execute in parallel</a:t>
            </a:r>
            <a:endParaRPr lang="en-US" sz="24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26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ED640A-745F-4998-BF4C-45209D89CF10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E091A-7A0B-40D1-ADD9-D3047572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B70C23-6A89-44D7-9D2C-120ACA4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Parallelize with one tile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A5557-9443-48BF-9EE2-457978161FA7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variable=A dim=2 factor=16 cyclic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variable=B dim=2 factor=16 cyclic</a:t>
            </a: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unroll</a:t>
            </a:r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</p:spTree>
    <p:extLst>
      <p:ext uri="{BB962C8B-B14F-4D97-AF65-F5344CB8AC3E}">
        <p14:creationId xmlns:p14="http://schemas.microsoft.com/office/powerpoint/2010/main" val="13984923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5C5486-A031-459D-9ED1-56F12F700B69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E091A-7A0B-40D1-ADD9-D3047572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B70C23-6A89-44D7-9D2C-120ACA4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</a:t>
            </a:r>
            <a:r>
              <a:rPr lang="en-US" sz="4400" dirty="0"/>
              <a:t>Pipeline across Different Tiles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A5557-9443-48BF-9EE2-457978161FA7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variable=A dim=2 factor=16 cyclic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variable=B dim=2 factor=16 cyclic</a:t>
            </a: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pipeline</a:t>
            </a:r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unroll</a:t>
            </a:r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</p:spTree>
    <p:extLst>
      <p:ext uri="{BB962C8B-B14F-4D97-AF65-F5344CB8AC3E}">
        <p14:creationId xmlns:p14="http://schemas.microsoft.com/office/powerpoint/2010/main" val="3512531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BF07A-F222-4E91-8DBC-9FE8EEDF1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Not because of multiplication but because of the </a:t>
            </a:r>
            <a:r>
              <a:rPr lang="en-US" sz="2800" dirty="0">
                <a:solidFill>
                  <a:schemeClr val="accent1"/>
                </a:solidFill>
              </a:rPr>
              <a:t>accumulation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B03E3-7308-4E19-A3DF-93B9E4BD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78A17F-702C-4F67-9D3D-69F857CA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[Caution!] You May Run into II Violation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7A95156-8B60-4FB7-9E1B-1C4BBC521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36749"/>
              </p:ext>
            </p:extLst>
          </p:nvPr>
        </p:nvGraphicFramePr>
        <p:xfrm>
          <a:off x="1971998" y="2070925"/>
          <a:ext cx="7586432" cy="946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304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2510756094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925576531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72142500"/>
                    </a:ext>
                  </a:extLst>
                </a:gridCol>
              </a:tblGrid>
              <a:tr h="946595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7CDE56E-36A2-40E5-A401-4530C99C2056}"/>
              </a:ext>
            </a:extLst>
          </p:cNvPr>
          <p:cNvSpPr/>
          <p:nvPr/>
        </p:nvSpPr>
        <p:spPr>
          <a:xfrm>
            <a:off x="4895557" y="4199207"/>
            <a:ext cx="1702192" cy="583809"/>
          </a:xfrm>
          <a:prstGeom prst="rect">
            <a:avLst/>
          </a:prstGeom>
          <a:solidFill>
            <a:srgbClr val="0030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Sum[i]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564057-F952-414B-8DC0-DE64ABC4366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447778" y="3017520"/>
            <a:ext cx="3298875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821644-7721-433C-9FFF-3F03FB93C03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404382" y="3017520"/>
            <a:ext cx="2342271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063D3C-5713-424E-9FDE-F4445F836D1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96154" y="3017520"/>
            <a:ext cx="1350499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F06F81-FAC0-4271-BD29-8C02D64D88A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338689" y="3017520"/>
            <a:ext cx="407964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C82462-C8D1-4174-A39A-B0A885D8988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499404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CA435D-35A0-4E16-B8AC-532A9BCD433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1491176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121E82-2DCE-47C9-A057-E95F5EE405A6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2447780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CBF297-E632-4AB8-B486-DC2A6BCAB58A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3404382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F0E40AC-0151-45A3-8816-3C1DD022BA24}"/>
              </a:ext>
            </a:extLst>
          </p:cNvPr>
          <p:cNvSpPr/>
          <p:nvPr/>
        </p:nvSpPr>
        <p:spPr>
          <a:xfrm>
            <a:off x="342901" y="5053019"/>
            <a:ext cx="11579468" cy="1123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41" indent="-400041" defTabSz="914377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16 multiplications can be done in 1 cycle but not the </a:t>
            </a:r>
            <a:r>
              <a:rPr lang="en-US" sz="2800" b="1" dirty="0" err="1">
                <a:solidFill>
                  <a:schemeClr val="accent1"/>
                </a:solidFill>
                <a:latin typeface="Aptos Display" panose="020B0004020202020204" pitchFamily="34" charset="0"/>
              </a:rPr>
              <a:t>fixed_point</a:t>
            </a: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or </a:t>
            </a:r>
            <a:r>
              <a:rPr lang="en-US" sz="2800" b="1" dirty="0" err="1">
                <a:solidFill>
                  <a:schemeClr val="accent1"/>
                </a:solidFill>
                <a:latin typeface="Aptos Display" panose="020B0004020202020204" pitchFamily="34" charset="0"/>
              </a:rPr>
              <a:t>floating_point</a:t>
            </a: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accumulation…</a:t>
            </a:r>
          </a:p>
        </p:txBody>
      </p:sp>
    </p:spTree>
    <p:extLst>
      <p:ext uri="{BB962C8B-B14F-4D97-AF65-F5344CB8AC3E}">
        <p14:creationId xmlns:p14="http://schemas.microsoft.com/office/powerpoint/2010/main" val="4093155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A97FB-9E1B-4E25-B674-297C222B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37124C-0E39-44B4-840B-EBCA6BB9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is the II Violation in Vitis HLS Scheduler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E72D9-EAB1-4915-869D-59395D6A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66" y="1232833"/>
            <a:ext cx="11018312" cy="48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15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1ED26D-AC9F-4B94-A2EF-17F34917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BD07ED-96F6-4744-A6C2-BBCECCF8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Resolve the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6CB74-2D96-4034-B295-F63EE1365324}"/>
              </a:ext>
            </a:extLst>
          </p:cNvPr>
          <p:cNvSpPr txBox="1"/>
          <p:nvPr/>
        </p:nvSpPr>
        <p:spPr>
          <a:xfrm>
            <a:off x="752621" y="1115315"/>
            <a:ext cx="11004453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void test(FIX_TYPE A[1024][1024], FIX_TYPE B[1024][1024], FIX_TYPE sum[1024])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#pragma HLS </a:t>
            </a:r>
            <a:r>
              <a:rPr lang="en-US" sz="2000" dirty="0" err="1"/>
              <a:t>array_partition</a:t>
            </a:r>
            <a:r>
              <a:rPr lang="en-US" sz="2000" dirty="0"/>
              <a:t> variable=A dim=2 factor=16 cyclic</a:t>
            </a:r>
          </a:p>
          <a:p>
            <a:r>
              <a:rPr lang="en-US" sz="2000" dirty="0"/>
              <a:t>#pragma HLS </a:t>
            </a:r>
            <a:r>
              <a:rPr lang="en-US" sz="2000" dirty="0" err="1"/>
              <a:t>array_partition</a:t>
            </a:r>
            <a:r>
              <a:rPr lang="en-US" sz="2000" dirty="0"/>
              <a:t> variable=B dim=2 factor=16 cyclic</a:t>
            </a:r>
          </a:p>
          <a:p>
            <a:br>
              <a:rPr lang="en-US" sz="2000" dirty="0"/>
            </a:br>
            <a:r>
              <a:rPr lang="en-US" sz="2000" dirty="0"/>
              <a:t>    L1: for(int i = 0; i &lt; 1024; i++) {</a:t>
            </a:r>
            <a:br>
              <a:rPr lang="en-US" sz="2000" dirty="0"/>
            </a:br>
            <a:r>
              <a:rPr lang="en-US" sz="2000" dirty="0"/>
              <a:t>        L2: for(int j = 0; j &lt; 1024; j += 16) {</a:t>
            </a:r>
          </a:p>
          <a:p>
            <a:r>
              <a:rPr lang="en-US" sz="2000" dirty="0"/>
              <a:t>#pragma HLS pipeline</a:t>
            </a:r>
          </a:p>
          <a:p>
            <a:br>
              <a:rPr lang="en-US" sz="2000" dirty="0"/>
            </a:br>
            <a:r>
              <a:rPr lang="en-US" sz="2000" dirty="0"/>
              <a:t>            FIX_TYPE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dirty="0"/>
              <a:t>[16];</a:t>
            </a:r>
            <a:br>
              <a:rPr lang="en-US" sz="2000" dirty="0"/>
            </a:br>
            <a:r>
              <a:rPr lang="en-US" sz="2000" dirty="0"/>
              <a:t>            L3: for(int </a:t>
            </a:r>
            <a:r>
              <a:rPr lang="en-US" sz="2000" dirty="0" err="1"/>
              <a:t>jj</a:t>
            </a:r>
            <a:r>
              <a:rPr lang="en-US" sz="2000" dirty="0"/>
              <a:t> = 0; </a:t>
            </a:r>
            <a:r>
              <a:rPr lang="en-US" sz="2000" dirty="0" err="1"/>
              <a:t>jj</a:t>
            </a:r>
            <a:r>
              <a:rPr lang="en-US" sz="2000" dirty="0"/>
              <a:t> &lt; 16; </a:t>
            </a:r>
            <a:r>
              <a:rPr lang="en-US" sz="2000" dirty="0" err="1"/>
              <a:t>jj</a:t>
            </a:r>
            <a:r>
              <a:rPr lang="en-US" sz="2000" dirty="0"/>
              <a:t>++)</a:t>
            </a:r>
          </a:p>
          <a:p>
            <a:r>
              <a:rPr lang="en-US" sz="2000" dirty="0"/>
              <a:t>               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b="1" dirty="0">
                <a:solidFill>
                  <a:schemeClr val="accent1"/>
                </a:solidFill>
              </a:rPr>
              <a:t>[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 = A[i][j + 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 * B[i][j + 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];</a:t>
            </a:r>
          </a:p>
          <a:p>
            <a:br>
              <a:rPr lang="en-US" sz="2000" dirty="0"/>
            </a:br>
            <a:r>
              <a:rPr lang="en-US" sz="2000" dirty="0"/>
              <a:t>            L4: for(int k = 0; k &lt; 16; k++)</a:t>
            </a:r>
          </a:p>
          <a:p>
            <a:r>
              <a:rPr lang="en-US" sz="2000" dirty="0"/>
              <a:t>                </a:t>
            </a:r>
            <a:r>
              <a:rPr lang="en-US" sz="2000" b="1" dirty="0">
                <a:solidFill>
                  <a:schemeClr val="accent1"/>
                </a:solidFill>
              </a:rPr>
              <a:t>sum[i] +=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b="1" dirty="0">
                <a:solidFill>
                  <a:schemeClr val="accent1"/>
                </a:solidFill>
              </a:rPr>
              <a:t>[k];</a:t>
            </a:r>
          </a:p>
          <a:p>
            <a:r>
              <a:rPr lang="en-US" sz="2000" dirty="0"/>
              <a:t>}}}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CFB43-C004-450A-8B0C-BBEE79B2955C}"/>
              </a:ext>
            </a:extLst>
          </p:cNvPr>
          <p:cNvSpPr txBox="1"/>
          <p:nvPr/>
        </p:nvSpPr>
        <p:spPr>
          <a:xfrm>
            <a:off x="6696226" y="3418449"/>
            <a:ext cx="5437158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Consolas" panose="020B0609020204030204" pitchFamily="49" charset="0"/>
              </a:defRPr>
            </a:lvl1pPr>
          </a:lstStyle>
          <a:p>
            <a:r>
              <a:rPr lang="en-US" sz="1800" dirty="0"/>
              <a:t>L3: for(int </a:t>
            </a:r>
            <a:r>
              <a:rPr lang="en-US" sz="1800" dirty="0" err="1"/>
              <a:t>jj</a:t>
            </a:r>
            <a:r>
              <a:rPr lang="en-US" sz="1800" dirty="0"/>
              <a:t> = 0; </a:t>
            </a:r>
            <a:r>
              <a:rPr lang="en-US" sz="1800" dirty="0" err="1"/>
              <a:t>jj</a:t>
            </a:r>
            <a:r>
              <a:rPr lang="en-US" sz="1800" dirty="0"/>
              <a:t> &lt; 16; </a:t>
            </a:r>
            <a:r>
              <a:rPr lang="en-US" sz="1800" dirty="0" err="1"/>
              <a:t>jj</a:t>
            </a:r>
            <a:r>
              <a:rPr lang="en-US" sz="1800" dirty="0"/>
              <a:t>++)</a:t>
            </a:r>
          </a:p>
          <a:p>
            <a:r>
              <a:rPr lang="en-US" sz="1800" dirty="0"/>
              <a:t>	sum[i] += A[i][j + </a:t>
            </a:r>
            <a:r>
              <a:rPr lang="en-US" sz="1800" dirty="0" err="1"/>
              <a:t>jj</a:t>
            </a:r>
            <a:r>
              <a:rPr lang="en-US" sz="1800" dirty="0"/>
              <a:t>] * B[i][j + </a:t>
            </a:r>
            <a:r>
              <a:rPr lang="en-US" sz="1800" dirty="0" err="1"/>
              <a:t>jj</a:t>
            </a:r>
            <a:r>
              <a:rPr lang="en-US" sz="1800" dirty="0"/>
              <a:t>];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01F31B-4CDA-4949-985D-D5473527A63D}"/>
              </a:ext>
            </a:extLst>
          </p:cNvPr>
          <p:cNvCxnSpPr>
            <a:cxnSpLocks/>
          </p:cNvCxnSpPr>
          <p:nvPr/>
        </p:nvCxnSpPr>
        <p:spPr>
          <a:xfrm>
            <a:off x="8335108" y="4157005"/>
            <a:ext cx="0" cy="34465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F0B512-5456-45D3-AD98-5EAFC02EDF0C}"/>
              </a:ext>
            </a:extLst>
          </p:cNvPr>
          <p:cNvSpPr txBox="1"/>
          <p:nvPr/>
        </p:nvSpPr>
        <p:spPr>
          <a:xfrm>
            <a:off x="7129408" y="4945418"/>
            <a:ext cx="4699910" cy="1033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Use a partitioned local buffer (registers)</a:t>
            </a:r>
          </a:p>
        </p:txBody>
      </p:sp>
    </p:spTree>
    <p:extLst>
      <p:ext uri="{BB962C8B-B14F-4D97-AF65-F5344CB8AC3E}">
        <p14:creationId xmlns:p14="http://schemas.microsoft.com/office/powerpoint/2010/main" val="1343783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FFD69E-992A-4FC4-9300-09179DB9F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Seems that HLS is smart enough to build an efficient adder tree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D850E-587E-45E1-BC9C-A4B0C654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6F500F-7B91-4759-B384-0391B20B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is the schedule after II Violation Resolved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1B528-6169-4FA0-9650-ED33CC33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33" y="1759524"/>
            <a:ext cx="11400566" cy="44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56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1993B-BA1D-7766-D0F4-ECF09DD1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75D270-95C6-1D35-014A-039CA323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Partial Unroll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8308D-326B-6E34-FBA1-FA868DB653D2}"/>
              </a:ext>
            </a:extLst>
          </p:cNvPr>
          <p:cNvSpPr txBox="1"/>
          <p:nvPr/>
        </p:nvSpPr>
        <p:spPr>
          <a:xfrm>
            <a:off x="1062632" y="1534211"/>
            <a:ext cx="3766543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for(int i = 0; i &lt;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i++)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444444"/>
                </a:solidFill>
                <a:latin typeface="Consolas" panose="020B0609020204030204" pitchFamily="49" charset="0"/>
              </a:rPr>
              <a:t>#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pragma HLS unroll </a:t>
            </a:r>
            <a:r>
              <a:rPr lang="en-US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a[i] = b[i] + c[i];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D0094-5B5E-7164-0D83-AE35E83CCAF2}"/>
              </a:ext>
            </a:extLst>
          </p:cNvPr>
          <p:cNvSpPr txBox="1"/>
          <p:nvPr/>
        </p:nvSpPr>
        <p:spPr>
          <a:xfrm>
            <a:off x="6544269" y="1534211"/>
            <a:ext cx="4010024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for(int i = 0; i &lt;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i++)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444444"/>
                </a:solidFill>
                <a:latin typeface="Consolas" panose="020B0609020204030204" pitchFamily="49" charset="0"/>
              </a:rPr>
              <a:t>#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pragma HLS unroll </a:t>
            </a:r>
            <a:r>
              <a:rPr lang="en-US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factor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=2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a[i] = b[i] + c[i];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3CF0E-63C7-B7B6-EE3B-76E0EFBD03AC}"/>
              </a:ext>
            </a:extLst>
          </p:cNvPr>
          <p:cNvSpPr txBox="1"/>
          <p:nvPr/>
        </p:nvSpPr>
        <p:spPr>
          <a:xfrm>
            <a:off x="595948" y="3011539"/>
            <a:ext cx="4699910" cy="1033352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X</a:t>
            </a:r>
            <a:r>
              <a:rPr lang="en-US" sz="2400" b="0" dirty="0">
                <a:latin typeface="Aptos Display" panose="020B0004020202020204" pitchFamily="34" charset="0"/>
              </a:rPr>
              <a:t> must be known at compile time</a:t>
            </a:r>
          </a:p>
          <a:p>
            <a:r>
              <a:rPr lang="en-US" sz="2400" b="0" dirty="0">
                <a:latin typeface="Aptos Display" panose="020B0004020202020204" pitchFamily="34" charset="0"/>
              </a:rPr>
              <a:t>Why?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2100F-527F-9F41-1FBD-6E5A0704F145}"/>
              </a:ext>
            </a:extLst>
          </p:cNvPr>
          <p:cNvSpPr txBox="1"/>
          <p:nvPr/>
        </p:nvSpPr>
        <p:spPr>
          <a:xfrm>
            <a:off x="6096000" y="3011539"/>
            <a:ext cx="4699910" cy="1033352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X</a:t>
            </a:r>
            <a:r>
              <a:rPr lang="en-US" sz="2400" b="0" dirty="0">
                <a:latin typeface="Aptos Display" panose="020B0004020202020204" pitchFamily="34" charset="0"/>
              </a:rPr>
              <a:t> can be unknown at compile time</a:t>
            </a:r>
          </a:p>
          <a:p>
            <a:r>
              <a:rPr lang="en-US" sz="2400" b="0" dirty="0">
                <a:latin typeface="Aptos Display" panose="020B0004020202020204" pitchFamily="34" charset="0"/>
              </a:rPr>
              <a:t>Why?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DDC1C-9073-A505-0A46-9A629B02DF0D}"/>
              </a:ext>
            </a:extLst>
          </p:cNvPr>
          <p:cNvSpPr txBox="1"/>
          <p:nvPr/>
        </p:nvSpPr>
        <p:spPr>
          <a:xfrm>
            <a:off x="6544269" y="4134433"/>
            <a:ext cx="4010024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444444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nn-NO" dirty="0"/>
              <a:t>for(int i = 0; i &lt; X; i += 2) </a:t>
            </a:r>
          </a:p>
          <a:p>
            <a:r>
              <a:rPr lang="nn-NO" dirty="0"/>
              <a:t>{ </a:t>
            </a:r>
          </a:p>
          <a:p>
            <a:r>
              <a:rPr lang="nn-NO" dirty="0"/>
              <a:t>    a[i] = b[i] + c[i]; </a:t>
            </a:r>
          </a:p>
          <a:p>
            <a:r>
              <a:rPr lang="nn-NO" dirty="0"/>
              <a:t>    if (i+1 &gt;= X) break; </a:t>
            </a:r>
          </a:p>
          <a:p>
            <a:r>
              <a:rPr lang="nn-NO" dirty="0"/>
              <a:t>    a[i+1] = b[i+1] + c[i+1]; </a:t>
            </a:r>
          </a:p>
          <a:p>
            <a:r>
              <a:rPr lang="nn-NO" dirty="0"/>
              <a:t>}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39218-4524-D089-2DD0-09048ECED2D0}"/>
              </a:ext>
            </a:extLst>
          </p:cNvPr>
          <p:cNvSpPr txBox="1"/>
          <p:nvPr/>
        </p:nvSpPr>
        <p:spPr>
          <a:xfrm>
            <a:off x="6199326" y="5822156"/>
            <a:ext cx="4699910" cy="523586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b="0" dirty="0">
                <a:solidFill>
                  <a:schemeClr val="tx1"/>
                </a:solidFill>
                <a:latin typeface="Aptos Display" panose="020B0004020202020204" pitchFamily="34" charset="0"/>
              </a:rPr>
              <a:t>HLS can add a condition check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79B0D-337A-1523-55C1-1BD779CD59DC}"/>
              </a:ext>
            </a:extLst>
          </p:cNvPr>
          <p:cNvSpPr txBox="1"/>
          <p:nvPr/>
        </p:nvSpPr>
        <p:spPr>
          <a:xfrm>
            <a:off x="855463" y="4283720"/>
            <a:ext cx="4495206" cy="1455751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Question: </a:t>
            </a:r>
            <a:r>
              <a:rPr lang="en-US" sz="2400" b="0" dirty="0">
                <a:solidFill>
                  <a:schemeClr val="tx1"/>
                </a:solidFill>
                <a:latin typeface="Aptos Display" panose="020B0004020202020204" pitchFamily="34" charset="0"/>
              </a:rPr>
              <a:t>Does this mean partial unroll can replace loop tiling?</a:t>
            </a:r>
          </a:p>
        </p:txBody>
      </p:sp>
    </p:spTree>
    <p:extLst>
      <p:ext uri="{BB962C8B-B14F-4D97-AF65-F5344CB8AC3E}">
        <p14:creationId xmlns:p14="http://schemas.microsoft.com/office/powerpoint/2010/main" val="146752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460-1293-D67F-2D61-661E60C8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046E5-4DCF-843C-D083-81BC0530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FB0BA0-785C-0BD4-2163-91526112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</a:t>
            </a:r>
            <a:r>
              <a:rPr lang="en-US" dirty="0" err="1"/>
              <a:t>v.s</a:t>
            </a:r>
            <a:r>
              <a:rPr lang="en-US" dirty="0"/>
              <a:t>. Partial Unroll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9EF543A-9409-3CE8-C533-A8A5F9BB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When to use which?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E67F3-69E5-09B0-EA8E-A31FD0DA5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26232"/>
              </p:ext>
            </p:extLst>
          </p:nvPr>
        </p:nvGraphicFramePr>
        <p:xfrm>
          <a:off x="1487806" y="1934104"/>
          <a:ext cx="9629775" cy="40596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6305">
                  <a:extLst>
                    <a:ext uri="{9D8B030D-6E8A-4147-A177-3AD203B41FA5}">
                      <a16:colId xmlns:a16="http://schemas.microsoft.com/office/drawing/2014/main" val="2619247635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321579749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173702964"/>
                    </a:ext>
                  </a:extLst>
                </a:gridCol>
              </a:tblGrid>
              <a:tr h="48638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Loop Tiling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Partial 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63265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# of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tile nested loops</a:t>
                      </a:r>
                    </a:p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(e.g., processing a tensor)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Single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85295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Memory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optimize memory access pattern</a:t>
                      </a:r>
                    </a:p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(e.g., load a smaller tensor)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Do not optimize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98609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Across-iteration accumulation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address accumulations (as in previous example)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Cannot address accumulations</a:t>
                      </a: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54696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Together with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Pipeline will override partial unroll and change to complete 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1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151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</a:rPr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226243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4B04CD-003C-43A3-A14E-DD302036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805956"/>
          </a:xfrm>
        </p:spPr>
        <p:txBody>
          <a:bodyPr>
            <a:normAutofit/>
          </a:bodyPr>
          <a:lstStyle/>
          <a:p>
            <a:r>
              <a:rPr lang="en-US" sz="3200" dirty="0"/>
              <a:t>When we have multiple loops, and they are independent: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522416-47D4-462B-8C4A-9833CFE8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C755FD-1DBF-430F-9816-C9B0DF28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Fusion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44094-7772-41E9-90B6-BCB8350974E1}"/>
              </a:ext>
            </a:extLst>
          </p:cNvPr>
          <p:cNvSpPr txBox="1"/>
          <p:nvPr/>
        </p:nvSpPr>
        <p:spPr>
          <a:xfrm>
            <a:off x="677154" y="3330976"/>
            <a:ext cx="4007387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for(int i = 0; i &lt; I1; i++)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Do_Homework</a:t>
            </a:r>
            <a:r>
              <a:rPr lang="en-US" sz="2000" dirty="0"/>
              <a:t>(i);</a:t>
            </a:r>
          </a:p>
          <a:p>
            <a:endParaRPr lang="en-US" sz="2000" dirty="0"/>
          </a:p>
          <a:p>
            <a:r>
              <a:rPr lang="en-US" sz="2000" dirty="0"/>
              <a:t>for(int j = 0; j &lt; I2; </a:t>
            </a:r>
            <a:r>
              <a:rPr lang="en-US" sz="2000" dirty="0" err="1"/>
              <a:t>j++</a:t>
            </a:r>
            <a:r>
              <a:rPr lang="en-US" sz="2000" dirty="0"/>
              <a:t>)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Watch_A_Movie</a:t>
            </a:r>
            <a:r>
              <a:rPr lang="en-US" sz="2000" dirty="0"/>
              <a:t>(j);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F8C69-6DD3-43D3-A1BB-1CA5759CE00D}"/>
              </a:ext>
            </a:extLst>
          </p:cNvPr>
          <p:cNvSpPr txBox="1"/>
          <p:nvPr/>
        </p:nvSpPr>
        <p:spPr>
          <a:xfrm>
            <a:off x="5950195" y="2032782"/>
            <a:ext cx="528285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for(int i = 0; i &lt; max(I1, I2); i++)</a:t>
            </a:r>
          </a:p>
          <a:p>
            <a:r>
              <a:rPr lang="en-US" sz="2000" dirty="0"/>
              <a:t>	if(i &lt; I1) </a:t>
            </a:r>
            <a:r>
              <a:rPr lang="en-US" sz="2000" b="1" dirty="0" err="1"/>
              <a:t>Do_Homework</a:t>
            </a:r>
            <a:r>
              <a:rPr lang="en-US" sz="2000" b="1" dirty="0"/>
              <a:t>(i)</a:t>
            </a:r>
            <a:r>
              <a:rPr lang="en-US" sz="2000" dirty="0"/>
              <a:t>;</a:t>
            </a:r>
          </a:p>
          <a:p>
            <a:r>
              <a:rPr lang="en-US" sz="2000" dirty="0"/>
              <a:t>	if(i &lt; I2) </a:t>
            </a:r>
            <a:r>
              <a:rPr lang="en-US" sz="2000" b="1" dirty="0" err="1"/>
              <a:t>Watch_A_Movie</a:t>
            </a:r>
            <a:r>
              <a:rPr lang="en-US" sz="2000" b="1" dirty="0"/>
              <a:t>(i)</a:t>
            </a:r>
            <a:r>
              <a:rPr lang="en-US" sz="2000" dirty="0"/>
              <a:t>;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6113566-286F-407D-9CFA-212553A124E9}"/>
              </a:ext>
            </a:extLst>
          </p:cNvPr>
          <p:cNvSpPr/>
          <p:nvPr/>
        </p:nvSpPr>
        <p:spPr>
          <a:xfrm>
            <a:off x="10467828" y="2397738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2B146F-D64B-4045-8652-63F41EC23467}"/>
              </a:ext>
            </a:extLst>
          </p:cNvPr>
          <p:cNvSpPr/>
          <p:nvPr/>
        </p:nvSpPr>
        <p:spPr>
          <a:xfrm>
            <a:off x="10467828" y="2723091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BC0F7-C4D4-4D13-83CC-6A3EB563FE57}"/>
              </a:ext>
            </a:extLst>
          </p:cNvPr>
          <p:cNvSpPr txBox="1"/>
          <p:nvPr/>
        </p:nvSpPr>
        <p:spPr>
          <a:xfrm>
            <a:off x="5430130" y="3877663"/>
            <a:ext cx="614758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definition</a:t>
            </a:r>
          </a:p>
          <a:p>
            <a:r>
              <a:rPr lang="en-US" sz="2000" dirty="0" err="1"/>
              <a:t>Do_Homework_Wrapper</a:t>
            </a:r>
            <a:r>
              <a:rPr lang="en-US" sz="2000" dirty="0"/>
              <a:t>() { </a:t>
            </a:r>
            <a:r>
              <a:rPr lang="en-US" sz="2000" dirty="0" err="1"/>
              <a:t>first_for_loop</a:t>
            </a:r>
            <a:r>
              <a:rPr lang="en-US" sz="2000" dirty="0"/>
              <a:t>}</a:t>
            </a:r>
          </a:p>
          <a:p>
            <a:r>
              <a:rPr lang="en-US" sz="2000" dirty="0" err="1"/>
              <a:t>Watch_A_Movie_Wrapper</a:t>
            </a:r>
            <a:r>
              <a:rPr lang="en-US" sz="2000" dirty="0"/>
              <a:t>() { </a:t>
            </a:r>
            <a:r>
              <a:rPr lang="en-US" sz="2000" dirty="0" err="1"/>
              <a:t>second_for_loop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function call</a:t>
            </a:r>
          </a:p>
          <a:p>
            <a:r>
              <a:rPr lang="en-US" sz="2000" b="1" dirty="0" err="1"/>
              <a:t>Do_Homework_Wrapper</a:t>
            </a:r>
            <a:r>
              <a:rPr lang="en-US" sz="2000" b="1" dirty="0"/>
              <a:t>();</a:t>
            </a:r>
          </a:p>
          <a:p>
            <a:r>
              <a:rPr lang="en-US" sz="2000" b="1" dirty="0" err="1"/>
              <a:t>Watch_A_Movie_Wrapper</a:t>
            </a:r>
            <a:r>
              <a:rPr lang="en-US" sz="2000" b="1" dirty="0"/>
              <a:t>();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E4A56E6-432D-4A06-8E2F-F02D44E86213}"/>
              </a:ext>
            </a:extLst>
          </p:cNvPr>
          <p:cNvSpPr/>
          <p:nvPr/>
        </p:nvSpPr>
        <p:spPr>
          <a:xfrm>
            <a:off x="8974308" y="5448082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0E02733-E37C-44A6-9466-793A43431474}"/>
              </a:ext>
            </a:extLst>
          </p:cNvPr>
          <p:cNvSpPr/>
          <p:nvPr/>
        </p:nvSpPr>
        <p:spPr>
          <a:xfrm>
            <a:off x="8974308" y="5773435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F699F19-77A7-4136-96B9-2785747D255F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4102523" y="1483303"/>
            <a:ext cx="425998" cy="326934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964111F-E43F-49A0-A256-2AEE67B655AF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3842622" y="3800418"/>
            <a:ext cx="425734" cy="274928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AA422C-EBC5-4E32-B4B8-DC8BAD9202FD}"/>
              </a:ext>
            </a:extLst>
          </p:cNvPr>
          <p:cNvSpPr txBox="1"/>
          <p:nvPr/>
        </p:nvSpPr>
        <p:spPr>
          <a:xfrm>
            <a:off x="1941342" y="2308004"/>
            <a:ext cx="2989384" cy="5026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Merge into 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9774EF-705E-467B-9ED6-184753F04174}"/>
              </a:ext>
            </a:extLst>
          </p:cNvPr>
          <p:cNvSpPr txBox="1"/>
          <p:nvPr/>
        </p:nvSpPr>
        <p:spPr>
          <a:xfrm>
            <a:off x="1941342" y="5504847"/>
            <a:ext cx="2989384" cy="5026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Wrap them up</a:t>
            </a:r>
          </a:p>
        </p:txBody>
      </p:sp>
    </p:spTree>
    <p:extLst>
      <p:ext uri="{BB962C8B-B14F-4D97-AF65-F5344CB8AC3E}">
        <p14:creationId xmlns:p14="http://schemas.microsoft.com/office/powerpoint/2010/main" val="3863684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82135C-2F10-4C8E-8BBE-6DADEBED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52091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Initial Interval (II) Violation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Can be caused by unpartitioned array, memory port limitation, repeated accumulation, true/false dependencies, etc.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Loop transform (change orders), create local buffers, etc.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Pipeline and Unroll over Functions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Loop-carried Dependency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10000"/>
              </a:lnSpc>
            </a:pPr>
            <a:r>
              <a:rPr lang="en-US" dirty="0"/>
              <a:t>Loop Tiling: controlled parallelism – not too large!</a:t>
            </a:r>
          </a:p>
          <a:p>
            <a:pPr>
              <a:lnSpc>
                <a:spcPct val="110000"/>
              </a:lnSpc>
            </a:pPr>
            <a:r>
              <a:rPr lang="en-US" dirty="0"/>
              <a:t>Loop Fusion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Parallel loops fused into single loop or wrap loops into functions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BF7331-8146-4074-B7B8-647C379B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B0814A-5891-46FA-A112-8F792CDA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– Loop Optimizations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3876A-949C-4762-A704-688742FFF7F0}"/>
              </a:ext>
            </a:extLst>
          </p:cNvPr>
          <p:cNvSpPr txBox="1"/>
          <p:nvPr/>
        </p:nvSpPr>
        <p:spPr>
          <a:xfrm>
            <a:off x="8349175" y="2725081"/>
            <a:ext cx="3480143" cy="31622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There are many more tricks/pitfalls – I hope I can tell you all of them but impossible to enumerate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Hopefully, you can learn how to fix them on your own (Xilinx manual, etc.)</a:t>
            </a:r>
          </a:p>
        </p:txBody>
      </p:sp>
    </p:spTree>
    <p:extLst>
      <p:ext uri="{BB962C8B-B14F-4D97-AF65-F5344CB8AC3E}">
        <p14:creationId xmlns:p14="http://schemas.microsoft.com/office/powerpoint/2010/main" val="192910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33324</TotalTime>
  <Words>4453</Words>
  <Application>Microsoft Office PowerPoint</Application>
  <PresentationFormat>Widescreen</PresentationFormat>
  <Paragraphs>627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Aptos</vt:lpstr>
      <vt:lpstr>Aptos Display</vt:lpstr>
      <vt:lpstr>Arial</vt:lpstr>
      <vt:lpstr>Calibri</vt:lpstr>
      <vt:lpstr>Consolas</vt:lpstr>
      <vt:lpstr>Corbel</vt:lpstr>
      <vt:lpstr>Courier New</vt:lpstr>
      <vt:lpstr>Roboto</vt:lpstr>
      <vt:lpstr>Wingdings</vt:lpstr>
      <vt:lpstr>Office Theme</vt:lpstr>
      <vt:lpstr>Custom Design</vt:lpstr>
      <vt:lpstr>1_Office Theme</vt:lpstr>
      <vt:lpstr>More about Loop Optimization</vt:lpstr>
      <vt:lpstr>Hardware Design with HLS</vt:lpstr>
      <vt:lpstr>Put-together: Pipeline + Unroll +Partition</vt:lpstr>
      <vt:lpstr>HLS Pragmas</vt:lpstr>
      <vt:lpstr>More HLS Resources</vt:lpstr>
      <vt:lpstr>Put-together: Pipeline + Unroll +Partition</vt:lpstr>
      <vt:lpstr>Effective Region of Unroll and Pipeline</vt:lpstr>
      <vt:lpstr>Effective Region of Unroll and Pipeline</vt:lpstr>
      <vt:lpstr>Effective Region of Unroll and Pipeline</vt:lpstr>
      <vt:lpstr>Effective Region of Unroll and Pipeline</vt:lpstr>
      <vt:lpstr>Unroll v.s. Pipeline</vt:lpstr>
      <vt:lpstr>More Loop Optimizations</vt:lpstr>
      <vt:lpstr>A very Common Error: II Violation </vt:lpstr>
      <vt:lpstr>The most important factor about pipelining</vt:lpstr>
      <vt:lpstr>Causes to II violation</vt:lpstr>
      <vt:lpstr>Causes to II violation</vt:lpstr>
      <vt:lpstr>Causes to II violation</vt:lpstr>
      <vt:lpstr>Causes to II violation</vt:lpstr>
      <vt:lpstr>More Loop Optimizations</vt:lpstr>
      <vt:lpstr>Loop-carried Dependency</vt:lpstr>
      <vt:lpstr>If True Dependency?</vt:lpstr>
      <vt:lpstr>If True Dependency with Another Dimension</vt:lpstr>
      <vt:lpstr>If False Dependency? Remove it!</vt:lpstr>
      <vt:lpstr>If False Dependency? Remove it!</vt:lpstr>
      <vt:lpstr>Summary for now</vt:lpstr>
      <vt:lpstr>More Loop Optimizations</vt:lpstr>
      <vt:lpstr>Pipeline and Unroll over Functions</vt:lpstr>
      <vt:lpstr>Pipeline over Function</vt:lpstr>
      <vt:lpstr>Unroll over Function</vt:lpstr>
      <vt:lpstr>More Loop Optimizations</vt:lpstr>
      <vt:lpstr>Loop Tiling – Controlled Parallelism</vt:lpstr>
      <vt:lpstr>Loop Tiling – Controlled Parallelism</vt:lpstr>
      <vt:lpstr>Step 1: Break into Tiles</vt:lpstr>
      <vt:lpstr>Step 2: Parallelize with one tile</vt:lpstr>
      <vt:lpstr>Step 3: Pipeline across Different Tiles</vt:lpstr>
      <vt:lpstr>[Caution!] You May Run into II Violation</vt:lpstr>
      <vt:lpstr>This is the II Violation in Vitis HLS Scheduler</vt:lpstr>
      <vt:lpstr>Resolve the II Violation</vt:lpstr>
      <vt:lpstr>This is the schedule after II Violation Resolved</vt:lpstr>
      <vt:lpstr>Loop Partial Unroll</vt:lpstr>
      <vt:lpstr>Loop Tiling v.s. Partial Unroll</vt:lpstr>
      <vt:lpstr>More Loop Optimizations</vt:lpstr>
      <vt:lpstr>Loop Fusion</vt:lpstr>
      <vt:lpstr>Summary – Loop Optimizations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Anushka Sandeep</cp:lastModifiedBy>
  <cp:revision>3506</cp:revision>
  <dcterms:created xsi:type="dcterms:W3CDTF">2014-06-12T21:03:18Z</dcterms:created>
  <dcterms:modified xsi:type="dcterms:W3CDTF">2026-02-22T15:58:27Z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Theme:5\Custom Design:3\1_Office Theme:5</vt:lpwstr>
  </property>
  <property fmtid="{D5CDD505-2E9C-101B-9397-08002B2CF9AE}" pid="3" name="ClassificationContentMarkingFooterText">
    <vt:lpwstr>Company Use</vt:lpwstr>
  </property>
</Properties>
</file>