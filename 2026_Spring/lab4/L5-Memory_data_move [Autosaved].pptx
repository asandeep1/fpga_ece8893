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  <p:sldMasterId id="2147483685" r:id="rId2"/>
    <p:sldMasterId id="2147483688" r:id="rId3"/>
  </p:sldMasterIdLst>
  <p:notesMasterIdLst>
    <p:notesMasterId r:id="rId42"/>
  </p:notesMasterIdLst>
  <p:handoutMasterIdLst>
    <p:handoutMasterId r:id="rId43"/>
  </p:handoutMasterIdLst>
  <p:sldIdLst>
    <p:sldId id="261" r:id="rId4"/>
    <p:sldId id="1383" r:id="rId5"/>
    <p:sldId id="1479" r:id="rId6"/>
    <p:sldId id="1431" r:id="rId7"/>
    <p:sldId id="1480" r:id="rId8"/>
    <p:sldId id="1481" r:id="rId9"/>
    <p:sldId id="1450" r:id="rId10"/>
    <p:sldId id="1469" r:id="rId11"/>
    <p:sldId id="1451" r:id="rId12"/>
    <p:sldId id="1470" r:id="rId13"/>
    <p:sldId id="1472" r:id="rId14"/>
    <p:sldId id="1454" r:id="rId15"/>
    <p:sldId id="1453" r:id="rId16"/>
    <p:sldId id="1471" r:id="rId17"/>
    <p:sldId id="1473" r:id="rId18"/>
    <p:sldId id="1433" r:id="rId19"/>
    <p:sldId id="1434" r:id="rId20"/>
    <p:sldId id="1435" r:id="rId21"/>
    <p:sldId id="1436" r:id="rId22"/>
    <p:sldId id="1484" r:id="rId23"/>
    <p:sldId id="1474" r:id="rId24"/>
    <p:sldId id="1442" r:id="rId25"/>
    <p:sldId id="1441" r:id="rId26"/>
    <p:sldId id="1443" r:id="rId27"/>
    <p:sldId id="1444" r:id="rId28"/>
    <p:sldId id="1482" r:id="rId29"/>
    <p:sldId id="1483" r:id="rId30"/>
    <p:sldId id="1475" r:id="rId31"/>
    <p:sldId id="1438" r:id="rId32"/>
    <p:sldId id="1445" r:id="rId33"/>
    <p:sldId id="1476" r:id="rId34"/>
    <p:sldId id="1477" r:id="rId35"/>
    <p:sldId id="1463" r:id="rId36"/>
    <p:sldId id="1478" r:id="rId37"/>
    <p:sldId id="1466" r:id="rId38"/>
    <p:sldId id="1467" r:id="rId39"/>
    <p:sldId id="1468" r:id="rId40"/>
    <p:sldId id="1462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o, Callie" initials="HC" lastIdx="1" clrIdx="0">
    <p:extLst>
      <p:ext uri="{19B8F6BF-5375-455C-9EA6-DF929625EA0E}">
        <p15:presenceInfo xmlns:p15="http://schemas.microsoft.com/office/powerpoint/2012/main" userId="S::chao33@gatech.edu::c1d199f9-baa9-49f0-9dc5-86d4c8cc02c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9000"/>
    <a:srgbClr val="000000"/>
    <a:srgbClr val="FFFFFF"/>
    <a:srgbClr val="1F4E79"/>
    <a:srgbClr val="7F6000"/>
    <a:srgbClr val="003057"/>
    <a:srgbClr val="007AFF"/>
    <a:srgbClr val="FFB602"/>
    <a:srgbClr val="FFC000"/>
    <a:srgbClr val="9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083C6D-9D05-4498-8931-BDEC6CAB6275}" v="26" dt="2026-02-05T18:51:59.101"/>
    <p1510:client id="{E3F6A2BE-5448-4D6F-ACA2-121731F5FA12}" v="1" dt="2026-02-05T17:56:22.156"/>
  </p1510:revLst>
</p1510:revInfo>
</file>

<file path=ppt/tableStyles.xml><?xml version="1.0" encoding="utf-8"?>
<a:tblStyleLst xmlns:a="http://schemas.openxmlformats.org/drawingml/2006/main" def="{5C22544A-7EE6-4342-B048-85BDC9FD1C3A}"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772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>
        <p:guide orient="horz" pos="2160"/>
        <p:guide pos="3840"/>
        <p:guide/>
      </p:guideLst>
    </p:cSldViewPr>
  </p:slideViewPr>
  <p:outlineViewPr>
    <p:cViewPr>
      <p:scale>
        <a:sx n="33" d="100"/>
        <a:sy n="33" d="100"/>
      </p:scale>
      <p:origin x="0" y="-2344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4104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641391-8555-475C-B8C1-F7E058C9C9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A0B5B-C42C-4503-82B0-B5E9C32BAC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F373F-E9CD-4F15-B047-E0FA24F48B5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0EC6C-20BF-4515-BE00-23FDCC24CE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A46FE-B11C-452A-9BAF-121B73B341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C416F-D90F-4504-B7D2-9B16EDED3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318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895E8-E1CA-4443-920E-E538D278103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70C58A-EE4C-492A-80BB-EEBA0CC03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432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EA9B7-6196-45B5-909A-E38654385A00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 Display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862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2739"/>
            <a:ext cx="9144000" cy="1763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E0B29-1DCB-4D69-A6F7-C287AD1AA2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54" y="432661"/>
            <a:ext cx="6137077" cy="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4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7581" y="6489389"/>
            <a:ext cx="711737" cy="300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ptos Display" panose="020B00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56A96-ABC2-47C1-9989-9660D00AE332}"/>
              </a:ext>
            </a:extLst>
          </p:cNvPr>
          <p:cNvSpPr/>
          <p:nvPr userDrawn="1"/>
        </p:nvSpPr>
        <p:spPr>
          <a:xfrm flipV="1">
            <a:off x="0" y="6437928"/>
            <a:ext cx="12192000" cy="4571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F593F-2F59-4FB9-B28E-7E3028D30F5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5" y="258469"/>
            <a:ext cx="11322539" cy="6244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8" descr="Nebo Leverages Geo-targeting for Georgia Tech">
            <a:extLst>
              <a:ext uri="{FF2B5EF4-FFF2-40B4-BE49-F238E27FC236}">
                <a16:creationId xmlns:a16="http://schemas.microsoft.com/office/drawing/2014/main" id="{AE511F9F-17DC-43F4-B6F0-B8D643FCD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F84CF5-63C1-475F-B006-D6DCB1C29CF7}"/>
              </a:ext>
            </a:extLst>
          </p:cNvPr>
          <p:cNvSpPr txBox="1">
            <a:spLocks/>
          </p:cNvSpPr>
          <p:nvPr/>
        </p:nvSpPr>
        <p:spPr>
          <a:xfrm>
            <a:off x="1473230" y="6491970"/>
            <a:ext cx="4626781" cy="297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sz="1400" dirty="0">
                <a:latin typeface="Aptos Display" panose="020B0004020202020204" pitchFamily="34" charset="0"/>
              </a:rPr>
              <a:t>Callie Hao | Sharc-lab @ Georgia Institute of Technology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962942D-35AC-4097-AC85-DA74563693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39" y="6533945"/>
            <a:ext cx="263811" cy="2134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831D84-8318-4BE3-8B04-5B15FD0019F3}"/>
              </a:ext>
            </a:extLst>
          </p:cNvPr>
          <p:cNvSpPr txBox="1"/>
          <p:nvPr userDrawn="1"/>
        </p:nvSpPr>
        <p:spPr>
          <a:xfrm>
            <a:off x="7129713" y="6491970"/>
            <a:ext cx="2862514" cy="307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lvl="0"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>
                <a:latin typeface="Aptos Display" panose="020B0004020202020204" pitchFamily="34" charset="0"/>
              </a:rPr>
              <a:t>https://sharclab.ece.gatech.edu/ </a:t>
            </a:r>
            <a:endParaRPr lang="en-US" dirty="0">
              <a:latin typeface="Aptos Display" panose="020B0004020202020204" pitchFamily="34" charset="0"/>
            </a:endParaRPr>
          </a:p>
        </p:txBody>
      </p:sp>
      <p:grpSp>
        <p:nvGrpSpPr>
          <p:cNvPr id="9" name="Graphic 4" descr="Home with solid fill">
            <a:extLst>
              <a:ext uri="{FF2B5EF4-FFF2-40B4-BE49-F238E27FC236}">
                <a16:creationId xmlns:a16="http://schemas.microsoft.com/office/drawing/2014/main" id="{41266146-5008-4BAD-BC20-9A9239612ACF}"/>
              </a:ext>
            </a:extLst>
          </p:cNvPr>
          <p:cNvGrpSpPr/>
          <p:nvPr/>
        </p:nvGrpSpPr>
        <p:grpSpPr>
          <a:xfrm>
            <a:off x="6902117" y="6502643"/>
            <a:ext cx="280738" cy="280738"/>
            <a:chOff x="6902117" y="6502643"/>
            <a:chExt cx="280738" cy="28073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244A24-ECF9-48BB-BBE0-8C4C14F27B46}"/>
                </a:ext>
              </a:extLst>
            </p:cNvPr>
            <p:cNvSpPr/>
            <p:nvPr/>
          </p:nvSpPr>
          <p:spPr>
            <a:xfrm>
              <a:off x="6919663" y="6537735"/>
              <a:ext cx="245645" cy="128086"/>
            </a:xfrm>
            <a:custGeom>
              <a:avLst/>
              <a:gdLst>
                <a:gd name="connsiteX0" fmla="*/ 122823 w 245645"/>
                <a:gd name="connsiteY0" fmla="*/ 0 h 128086"/>
                <a:gd name="connsiteX1" fmla="*/ 122823 w 245645"/>
                <a:gd name="connsiteY1" fmla="*/ 0 h 128086"/>
                <a:gd name="connsiteX2" fmla="*/ 0 w 245645"/>
                <a:gd name="connsiteY2" fmla="*/ 116974 h 128086"/>
                <a:gd name="connsiteX3" fmla="*/ 13160 w 245645"/>
                <a:gd name="connsiteY3" fmla="*/ 128087 h 128086"/>
                <a:gd name="connsiteX4" fmla="*/ 122823 w 245645"/>
                <a:gd name="connsiteY4" fmla="*/ 23980 h 128086"/>
                <a:gd name="connsiteX5" fmla="*/ 122823 w 245645"/>
                <a:gd name="connsiteY5" fmla="*/ 23980 h 128086"/>
                <a:gd name="connsiteX6" fmla="*/ 232486 w 245645"/>
                <a:gd name="connsiteY6" fmla="*/ 128087 h 128086"/>
                <a:gd name="connsiteX7" fmla="*/ 245646 w 245645"/>
                <a:gd name="connsiteY7" fmla="*/ 116974 h 12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5645" h="128086">
                  <a:moveTo>
                    <a:pt x="122823" y="0"/>
                  </a:moveTo>
                  <a:lnTo>
                    <a:pt x="122823" y="0"/>
                  </a:lnTo>
                  <a:lnTo>
                    <a:pt x="0" y="116974"/>
                  </a:lnTo>
                  <a:lnTo>
                    <a:pt x="13160" y="128087"/>
                  </a:lnTo>
                  <a:lnTo>
                    <a:pt x="122823" y="23980"/>
                  </a:lnTo>
                  <a:lnTo>
                    <a:pt x="122823" y="23980"/>
                  </a:lnTo>
                  <a:lnTo>
                    <a:pt x="232486" y="128087"/>
                  </a:lnTo>
                  <a:lnTo>
                    <a:pt x="245646" y="116974"/>
                  </a:lnTo>
                  <a:close/>
                </a:path>
              </a:pathLst>
            </a:custGeom>
            <a:solidFill>
              <a:srgbClr val="007AFF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FD2581-72A8-4C49-A0C7-F8F57202219A}"/>
                </a:ext>
              </a:extLst>
            </p:cNvPr>
            <p:cNvSpPr/>
            <p:nvPr/>
          </p:nvSpPr>
          <p:spPr>
            <a:xfrm>
              <a:off x="6954755" y="6578091"/>
              <a:ext cx="175461" cy="170197"/>
            </a:xfrm>
            <a:custGeom>
              <a:avLst/>
              <a:gdLst>
                <a:gd name="connsiteX0" fmla="*/ 0 w 175461"/>
                <a:gd name="connsiteY0" fmla="*/ 83344 h 170197"/>
                <a:gd name="connsiteX1" fmla="*/ 0 w 175461"/>
                <a:gd name="connsiteY1" fmla="*/ 170197 h 170197"/>
                <a:gd name="connsiteX2" fmla="*/ 70185 w 175461"/>
                <a:gd name="connsiteY2" fmla="*/ 170197 h 170197"/>
                <a:gd name="connsiteX3" fmla="*/ 70185 w 175461"/>
                <a:gd name="connsiteY3" fmla="*/ 97089 h 170197"/>
                <a:gd name="connsiteX4" fmla="*/ 105277 w 175461"/>
                <a:gd name="connsiteY4" fmla="*/ 97089 h 170197"/>
                <a:gd name="connsiteX5" fmla="*/ 105277 w 175461"/>
                <a:gd name="connsiteY5" fmla="*/ 170197 h 170197"/>
                <a:gd name="connsiteX6" fmla="*/ 175461 w 175461"/>
                <a:gd name="connsiteY6" fmla="*/ 170197 h 170197"/>
                <a:gd name="connsiteX7" fmla="*/ 175461 w 175461"/>
                <a:gd name="connsiteY7" fmla="*/ 83344 h 170197"/>
                <a:gd name="connsiteX8" fmla="*/ 87731 w 175461"/>
                <a:gd name="connsiteY8" fmla="*/ 0 h 170197"/>
                <a:gd name="connsiteX9" fmla="*/ 0 w 175461"/>
                <a:gd name="connsiteY9" fmla="*/ 83344 h 1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461" h="170197">
                  <a:moveTo>
                    <a:pt x="0" y="83344"/>
                  </a:moveTo>
                  <a:lnTo>
                    <a:pt x="0" y="170197"/>
                  </a:lnTo>
                  <a:lnTo>
                    <a:pt x="70185" y="170197"/>
                  </a:lnTo>
                  <a:lnTo>
                    <a:pt x="70185" y="97089"/>
                  </a:lnTo>
                  <a:lnTo>
                    <a:pt x="105277" y="97089"/>
                  </a:lnTo>
                  <a:lnTo>
                    <a:pt x="105277" y="170197"/>
                  </a:lnTo>
                  <a:lnTo>
                    <a:pt x="175461" y="170197"/>
                  </a:lnTo>
                  <a:lnTo>
                    <a:pt x="175461" y="83344"/>
                  </a:lnTo>
                  <a:lnTo>
                    <a:pt x="87731" y="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B602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927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79523" y="636661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23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7EE9D9-49A7-AE42-84D1-352EBEE40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5684" y="1149178"/>
            <a:ext cx="6795912" cy="264389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4800"/>
              </a:lnSpc>
              <a:defRPr sz="4200" b="1" i="0" cap="none" spc="0" baseline="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5682" y="3793068"/>
            <a:ext cx="6795913" cy="16848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ts val="3600"/>
              </a:lnSpc>
              <a:buNone/>
              <a:defRPr sz="1800" b="0" cap="none" spc="0" baseline="0">
                <a:solidFill>
                  <a:srgbClr val="8574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75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y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F7A4AC-88DB-41C5-AE00-5E2A8C4D667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 Display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592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EA9B7-6196-45B5-909A-E38654385A00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 Display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9431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2739"/>
            <a:ext cx="9144000" cy="1763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E0B29-1DCB-4D69-A6F7-C287AD1AA2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54" y="432661"/>
            <a:ext cx="6137077" cy="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1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7581" y="6489389"/>
            <a:ext cx="711737" cy="300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56A96-ABC2-47C1-9989-9660D00AE332}"/>
              </a:ext>
            </a:extLst>
          </p:cNvPr>
          <p:cNvSpPr/>
          <p:nvPr userDrawn="1"/>
        </p:nvSpPr>
        <p:spPr>
          <a:xfrm flipV="1">
            <a:off x="0" y="6437928"/>
            <a:ext cx="12192000" cy="4571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F593F-2F59-4FB9-B28E-7E3028D30F5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5" y="258469"/>
            <a:ext cx="11322539" cy="6244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8" descr="Nebo Leverages Geo-targeting for Georgia Tech">
            <a:extLst>
              <a:ext uri="{FF2B5EF4-FFF2-40B4-BE49-F238E27FC236}">
                <a16:creationId xmlns:a16="http://schemas.microsoft.com/office/drawing/2014/main" id="{AE511F9F-17DC-43F4-B6F0-B8D643FCD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F84CF5-63C1-475F-B006-D6DCB1C29CF7}"/>
              </a:ext>
            </a:extLst>
          </p:cNvPr>
          <p:cNvSpPr txBox="1">
            <a:spLocks/>
          </p:cNvSpPr>
          <p:nvPr/>
        </p:nvSpPr>
        <p:spPr>
          <a:xfrm>
            <a:off x="1473230" y="6491970"/>
            <a:ext cx="4626781" cy="297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sz="1400" dirty="0">
                <a:latin typeface="Aptos Display" panose="020B0004020202020204" pitchFamily="34" charset="0"/>
              </a:rPr>
              <a:t>Callie Hao | Sharc-lab @ Georgia Institute of Technology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962942D-35AC-4097-AC85-DA74563693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39" y="6533945"/>
            <a:ext cx="263811" cy="2134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831D84-8318-4BE3-8B04-5B15FD0019F3}"/>
              </a:ext>
            </a:extLst>
          </p:cNvPr>
          <p:cNvSpPr txBox="1"/>
          <p:nvPr userDrawn="1"/>
        </p:nvSpPr>
        <p:spPr>
          <a:xfrm>
            <a:off x="7129713" y="6491970"/>
            <a:ext cx="2862514" cy="307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lvl="0"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>
                <a:latin typeface="Aptos Display" panose="020B0004020202020204" pitchFamily="34" charset="0"/>
              </a:rPr>
              <a:t>https://sharclab.ece.gatech.edu/ </a:t>
            </a:r>
            <a:endParaRPr lang="en-US" dirty="0">
              <a:latin typeface="Aptos Display" panose="020B0004020202020204" pitchFamily="34" charset="0"/>
            </a:endParaRPr>
          </a:p>
        </p:txBody>
      </p:sp>
      <p:grpSp>
        <p:nvGrpSpPr>
          <p:cNvPr id="9" name="Graphic 4" descr="Home with solid fill">
            <a:extLst>
              <a:ext uri="{FF2B5EF4-FFF2-40B4-BE49-F238E27FC236}">
                <a16:creationId xmlns:a16="http://schemas.microsoft.com/office/drawing/2014/main" id="{41266146-5008-4BAD-BC20-9A9239612ACF}"/>
              </a:ext>
            </a:extLst>
          </p:cNvPr>
          <p:cNvGrpSpPr/>
          <p:nvPr/>
        </p:nvGrpSpPr>
        <p:grpSpPr>
          <a:xfrm>
            <a:off x="6902117" y="6502643"/>
            <a:ext cx="280738" cy="280738"/>
            <a:chOff x="6902117" y="6502643"/>
            <a:chExt cx="280738" cy="28073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244A24-ECF9-48BB-BBE0-8C4C14F27B46}"/>
                </a:ext>
              </a:extLst>
            </p:cNvPr>
            <p:cNvSpPr/>
            <p:nvPr/>
          </p:nvSpPr>
          <p:spPr>
            <a:xfrm>
              <a:off x="6919663" y="6537735"/>
              <a:ext cx="245645" cy="128086"/>
            </a:xfrm>
            <a:custGeom>
              <a:avLst/>
              <a:gdLst>
                <a:gd name="connsiteX0" fmla="*/ 122823 w 245645"/>
                <a:gd name="connsiteY0" fmla="*/ 0 h 128086"/>
                <a:gd name="connsiteX1" fmla="*/ 122823 w 245645"/>
                <a:gd name="connsiteY1" fmla="*/ 0 h 128086"/>
                <a:gd name="connsiteX2" fmla="*/ 0 w 245645"/>
                <a:gd name="connsiteY2" fmla="*/ 116974 h 128086"/>
                <a:gd name="connsiteX3" fmla="*/ 13160 w 245645"/>
                <a:gd name="connsiteY3" fmla="*/ 128087 h 128086"/>
                <a:gd name="connsiteX4" fmla="*/ 122823 w 245645"/>
                <a:gd name="connsiteY4" fmla="*/ 23980 h 128086"/>
                <a:gd name="connsiteX5" fmla="*/ 122823 w 245645"/>
                <a:gd name="connsiteY5" fmla="*/ 23980 h 128086"/>
                <a:gd name="connsiteX6" fmla="*/ 232486 w 245645"/>
                <a:gd name="connsiteY6" fmla="*/ 128087 h 128086"/>
                <a:gd name="connsiteX7" fmla="*/ 245646 w 245645"/>
                <a:gd name="connsiteY7" fmla="*/ 116974 h 12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5645" h="128086">
                  <a:moveTo>
                    <a:pt x="122823" y="0"/>
                  </a:moveTo>
                  <a:lnTo>
                    <a:pt x="122823" y="0"/>
                  </a:lnTo>
                  <a:lnTo>
                    <a:pt x="0" y="116974"/>
                  </a:lnTo>
                  <a:lnTo>
                    <a:pt x="13160" y="128087"/>
                  </a:lnTo>
                  <a:lnTo>
                    <a:pt x="122823" y="23980"/>
                  </a:lnTo>
                  <a:lnTo>
                    <a:pt x="122823" y="23980"/>
                  </a:lnTo>
                  <a:lnTo>
                    <a:pt x="232486" y="128087"/>
                  </a:lnTo>
                  <a:lnTo>
                    <a:pt x="245646" y="116974"/>
                  </a:lnTo>
                  <a:close/>
                </a:path>
              </a:pathLst>
            </a:custGeom>
            <a:solidFill>
              <a:srgbClr val="007AFF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FD2581-72A8-4C49-A0C7-F8F57202219A}"/>
                </a:ext>
              </a:extLst>
            </p:cNvPr>
            <p:cNvSpPr/>
            <p:nvPr/>
          </p:nvSpPr>
          <p:spPr>
            <a:xfrm>
              <a:off x="6954755" y="6578091"/>
              <a:ext cx="175461" cy="170197"/>
            </a:xfrm>
            <a:custGeom>
              <a:avLst/>
              <a:gdLst>
                <a:gd name="connsiteX0" fmla="*/ 0 w 175461"/>
                <a:gd name="connsiteY0" fmla="*/ 83344 h 170197"/>
                <a:gd name="connsiteX1" fmla="*/ 0 w 175461"/>
                <a:gd name="connsiteY1" fmla="*/ 170197 h 170197"/>
                <a:gd name="connsiteX2" fmla="*/ 70185 w 175461"/>
                <a:gd name="connsiteY2" fmla="*/ 170197 h 170197"/>
                <a:gd name="connsiteX3" fmla="*/ 70185 w 175461"/>
                <a:gd name="connsiteY3" fmla="*/ 97089 h 170197"/>
                <a:gd name="connsiteX4" fmla="*/ 105277 w 175461"/>
                <a:gd name="connsiteY4" fmla="*/ 97089 h 170197"/>
                <a:gd name="connsiteX5" fmla="*/ 105277 w 175461"/>
                <a:gd name="connsiteY5" fmla="*/ 170197 h 170197"/>
                <a:gd name="connsiteX6" fmla="*/ 175461 w 175461"/>
                <a:gd name="connsiteY6" fmla="*/ 170197 h 170197"/>
                <a:gd name="connsiteX7" fmla="*/ 175461 w 175461"/>
                <a:gd name="connsiteY7" fmla="*/ 83344 h 170197"/>
                <a:gd name="connsiteX8" fmla="*/ 87731 w 175461"/>
                <a:gd name="connsiteY8" fmla="*/ 0 h 170197"/>
                <a:gd name="connsiteX9" fmla="*/ 0 w 175461"/>
                <a:gd name="connsiteY9" fmla="*/ 83344 h 1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461" h="170197">
                  <a:moveTo>
                    <a:pt x="0" y="83344"/>
                  </a:moveTo>
                  <a:lnTo>
                    <a:pt x="0" y="170197"/>
                  </a:lnTo>
                  <a:lnTo>
                    <a:pt x="70185" y="170197"/>
                  </a:lnTo>
                  <a:lnTo>
                    <a:pt x="70185" y="97089"/>
                  </a:lnTo>
                  <a:lnTo>
                    <a:pt x="105277" y="97089"/>
                  </a:lnTo>
                  <a:lnTo>
                    <a:pt x="105277" y="170197"/>
                  </a:lnTo>
                  <a:lnTo>
                    <a:pt x="175461" y="170197"/>
                  </a:lnTo>
                  <a:lnTo>
                    <a:pt x="175461" y="83344"/>
                  </a:lnTo>
                  <a:lnTo>
                    <a:pt x="87731" y="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B602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919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79523" y="636661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71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185" y="273540"/>
            <a:ext cx="11322539" cy="797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185" y="1344856"/>
            <a:ext cx="11322539" cy="483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ECDDE-BA35-E9AC-0B5C-0D4508514D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56975" y="66421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31846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1" r:id="rId2"/>
    <p:sldLayoutId id="2147483682" r:id="rId3"/>
    <p:sldLayoutId id="2147483684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Aptos Display" panose="020B0004020202020204" pitchFamily="34" charset="0"/>
          <a:ea typeface="+mj-ea"/>
          <a:cs typeface="+mj-cs"/>
        </a:defRPr>
      </a:lvl1pPr>
    </p:titleStyle>
    <p:bodyStyle>
      <a:lvl1pPr marL="400041" indent="-400041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1pPr>
      <a:lvl2pPr marL="857229" indent="-400041" algn="l" defTabSz="914377" rtl="0" eaLnBrk="1" latinLnBrk="0" hangingPunct="1">
        <a:lnSpc>
          <a:spcPct val="90000"/>
        </a:lnSpc>
        <a:spcBef>
          <a:spcPts val="500"/>
        </a:spcBef>
        <a:buSzPct val="80000"/>
        <a:buFont typeface="Courier New" panose="02070309020205020404" pitchFamily="49" charset="0"/>
        <a:buChar char="o"/>
        <a:defRPr sz="32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2pPr>
      <a:lvl3pPr marL="1142971" indent="-285744" algn="l" defTabSz="914377" rtl="0" eaLnBrk="1" latinLnBrk="0" hangingPunct="1">
        <a:lnSpc>
          <a:spcPct val="90000"/>
        </a:lnSpc>
        <a:spcBef>
          <a:spcPts val="500"/>
        </a:spcBef>
        <a:buFont typeface="Corbel" panose="020B0503020204020204" pitchFamily="34" charset="0"/>
        <a:buChar char="‐"/>
        <a:defRPr sz="28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5F8B50-1F1C-E4A5-4753-93EB2122839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56975" y="66421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207499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txStyles>
    <p:titleStyle>
      <a:lvl1pPr algn="l" defTabSz="342900" rtl="0" eaLnBrk="1" latinLnBrk="0" hangingPunct="1">
        <a:spcBef>
          <a:spcPct val="0"/>
        </a:spcBef>
        <a:buNone/>
        <a:defRPr sz="3600" b="1" kern="1200">
          <a:solidFill>
            <a:srgbClr val="857437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185" y="273540"/>
            <a:ext cx="11322539" cy="797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185" y="1344856"/>
            <a:ext cx="11322539" cy="483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2ACC29-F293-B81F-A1D9-5D01BBA7C3F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56975" y="66421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213813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Aptos Display" panose="020B0004020202020204" pitchFamily="34" charset="0"/>
          <a:ea typeface="+mj-ea"/>
          <a:cs typeface="+mj-cs"/>
        </a:defRPr>
      </a:lvl1pPr>
    </p:titleStyle>
    <p:bodyStyle>
      <a:lvl1pPr marL="400041" indent="-400041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1pPr>
      <a:lvl2pPr marL="857229" indent="-400041" algn="l" defTabSz="914377" rtl="0" eaLnBrk="1" latinLnBrk="0" hangingPunct="1">
        <a:lnSpc>
          <a:spcPct val="90000"/>
        </a:lnSpc>
        <a:spcBef>
          <a:spcPts val="500"/>
        </a:spcBef>
        <a:buSzPct val="80000"/>
        <a:buFont typeface="Courier New" panose="02070309020205020404" pitchFamily="49" charset="0"/>
        <a:buChar char="o"/>
        <a:defRPr sz="32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2pPr>
      <a:lvl3pPr marL="1142971" indent="-285744" algn="l" defTabSz="914377" rtl="0" eaLnBrk="1" latinLnBrk="0" hangingPunct="1">
        <a:lnSpc>
          <a:spcPct val="90000"/>
        </a:lnSpc>
        <a:spcBef>
          <a:spcPts val="500"/>
        </a:spcBef>
        <a:buFont typeface="Corbel" panose="020B0503020204020204" pitchFamily="34" charset="0"/>
        <a:buChar char="‐"/>
        <a:defRPr sz="28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harclab.ece.gatech.edu/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1C0E152D-35C2-4F32-A32D-97EC02695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776" y="893968"/>
            <a:ext cx="9985056" cy="26223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Memory and Data Movement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EDFFF0-6A6F-4CC4-8579-B1384C3526CF}"/>
              </a:ext>
            </a:extLst>
          </p:cNvPr>
          <p:cNvSpPr txBox="1">
            <a:spLocks/>
          </p:cNvSpPr>
          <p:nvPr/>
        </p:nvSpPr>
        <p:spPr>
          <a:xfrm>
            <a:off x="974757" y="4034418"/>
            <a:ext cx="10506075" cy="21678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tx1"/>
                </a:solidFill>
                <a:latin typeface="Aptos Display" panose="020B0004020202020204" pitchFamily="34" charset="0"/>
              </a:rPr>
              <a:t>Cong (Callie) Hao</a:t>
            </a: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 Display" panose="020B0004020202020204" pitchFamily="34" charset="0"/>
              </a:rPr>
              <a:t>callie.hao@ece.gatech.edu</a:t>
            </a:r>
          </a:p>
          <a:p>
            <a:pPr>
              <a:lnSpc>
                <a:spcPct val="100000"/>
              </a:lnSpc>
            </a:pPr>
            <a:endParaRPr lang="en-US" sz="2000" b="0" i="1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 Display" panose="020B0004020202020204" pitchFamily="34" charset="0"/>
              </a:rPr>
              <a:t>Assistant Professor</a:t>
            </a: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 Display" panose="020B0004020202020204" pitchFamily="34" charset="0"/>
              </a:rPr>
              <a:t>ECE, Georgia Institute of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0C7B1-AED8-4D62-8EAD-3DA9B749CA7E}"/>
              </a:ext>
            </a:extLst>
          </p:cNvPr>
          <p:cNvSpPr txBox="1"/>
          <p:nvPr/>
        </p:nvSpPr>
        <p:spPr>
          <a:xfrm>
            <a:off x="1731995" y="6026767"/>
            <a:ext cx="899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000" i="1" dirty="0">
                <a:latin typeface="Aptos Display" panose="020B0004020202020204" pitchFamily="34" charset="0"/>
              </a:rPr>
              <a:t>Sharc-lab @ Georgia Tech </a:t>
            </a:r>
            <a:r>
              <a:rPr lang="en-US" sz="2000" i="1" dirty="0">
                <a:latin typeface="Aptos Display" panose="020B0004020202020204" pitchFamily="34" charset="0"/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https://sharclab.ece.gatech.edu/</a:t>
            </a:r>
            <a:endParaRPr lang="en-US" sz="2000" i="1" dirty="0">
              <a:latin typeface="Aptos Display" panose="020B00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BAFE04B-D743-4EE0-A84E-D7456AFC3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5333151"/>
            <a:ext cx="1430519" cy="115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497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8FBE59-FA82-4F34-971D-B008874B7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0026403" cy="506015"/>
          </a:xfrm>
        </p:spPr>
        <p:txBody>
          <a:bodyPr/>
          <a:lstStyle/>
          <a:p>
            <a:r>
              <a:rPr lang="en-US" dirty="0"/>
              <a:t>Where does performance gain come from?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2CFFCE-4E89-4606-A456-FC69E24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2DDF1F-35A6-4929-ACCD-ACF1080A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Hardware Design </a:t>
            </a:r>
            <a:r>
              <a:rPr lang="en-US" altLang="zh-CN" dirty="0"/>
              <a:t>with HLS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385DC-8486-BB19-20BB-6849E71DAF5B}"/>
              </a:ext>
            </a:extLst>
          </p:cNvPr>
          <p:cNvSpPr txBox="1"/>
          <p:nvPr/>
        </p:nvSpPr>
        <p:spPr>
          <a:xfrm>
            <a:off x="1785158" y="2050372"/>
            <a:ext cx="2053767" cy="46166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Specialization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93CC87-6E10-822B-0F5C-692C7FF60C11}"/>
              </a:ext>
            </a:extLst>
          </p:cNvPr>
          <p:cNvSpPr txBox="1"/>
          <p:nvPr/>
        </p:nvSpPr>
        <p:spPr>
          <a:xfrm>
            <a:off x="7795767" y="2050372"/>
            <a:ext cx="2097049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Parallelization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1F04E-AC18-B9ED-69A0-62B7E9E9B59E}"/>
              </a:ext>
            </a:extLst>
          </p:cNvPr>
          <p:cNvSpPr txBox="1"/>
          <p:nvPr/>
        </p:nvSpPr>
        <p:spPr>
          <a:xfrm>
            <a:off x="765516" y="3004478"/>
            <a:ext cx="533048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Data-type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Arbitrary fixed-point precision, customized floating-point precision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Memory and data movement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Customized data storage in banks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Customized data loading and feeding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Computation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How do you schedule the computations?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Order, granularity, etc.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5858A-30BF-F09F-1380-1BD405336A7D}"/>
              </a:ext>
            </a:extLst>
          </p:cNvPr>
          <p:cNvSpPr txBox="1"/>
          <p:nvPr/>
        </p:nvSpPr>
        <p:spPr>
          <a:xfrm>
            <a:off x="6346022" y="3004478"/>
            <a:ext cx="5483296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Operation level parallelism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Multiple operations or instructions executed simultaneously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Mostly about loop manipulation and data partitioning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Task level parallelism (TLP)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Dataflow and streaming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Overlapped compute and data movement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pic>
        <p:nvPicPr>
          <p:cNvPr id="17" name="Graphic 16" descr="Badge Follow with solid fill">
            <a:extLst>
              <a:ext uri="{FF2B5EF4-FFF2-40B4-BE49-F238E27FC236}">
                <a16:creationId xmlns:a16="http://schemas.microsoft.com/office/drawing/2014/main" id="{FAEB518F-14AF-4A3C-196A-AD425BDB8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4216" y="1824004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2BC5E8-246E-8F06-B956-C39CED766CE2}"/>
              </a:ext>
            </a:extLst>
          </p:cNvPr>
          <p:cNvSpPr/>
          <p:nvPr/>
        </p:nvSpPr>
        <p:spPr>
          <a:xfrm>
            <a:off x="6346021" y="3004477"/>
            <a:ext cx="5276859" cy="1629143"/>
          </a:xfrm>
          <a:custGeom>
            <a:avLst/>
            <a:gdLst>
              <a:gd name="csX0" fmla="*/ 0 w 5276859"/>
              <a:gd name="csY0" fmla="*/ 0 h 1629143"/>
              <a:gd name="csX1" fmla="*/ 639086 w 5276859"/>
              <a:gd name="csY1" fmla="*/ 0 h 1629143"/>
              <a:gd name="csX2" fmla="*/ 1278173 w 5276859"/>
              <a:gd name="csY2" fmla="*/ 0 h 1629143"/>
              <a:gd name="csX3" fmla="*/ 1706184 w 5276859"/>
              <a:gd name="csY3" fmla="*/ 0 h 1629143"/>
              <a:gd name="csX4" fmla="*/ 2345271 w 5276859"/>
              <a:gd name="csY4" fmla="*/ 0 h 1629143"/>
              <a:gd name="csX5" fmla="*/ 2984357 w 5276859"/>
              <a:gd name="csY5" fmla="*/ 0 h 1629143"/>
              <a:gd name="csX6" fmla="*/ 3623443 w 5276859"/>
              <a:gd name="csY6" fmla="*/ 0 h 1629143"/>
              <a:gd name="csX7" fmla="*/ 4104224 w 5276859"/>
              <a:gd name="csY7" fmla="*/ 0 h 1629143"/>
              <a:gd name="csX8" fmla="*/ 4743310 w 5276859"/>
              <a:gd name="csY8" fmla="*/ 0 h 1629143"/>
              <a:gd name="csX9" fmla="*/ 5276859 w 5276859"/>
              <a:gd name="csY9" fmla="*/ 0 h 1629143"/>
              <a:gd name="csX10" fmla="*/ 5276859 w 5276859"/>
              <a:gd name="csY10" fmla="*/ 526756 h 1629143"/>
              <a:gd name="csX11" fmla="*/ 5276859 w 5276859"/>
              <a:gd name="csY11" fmla="*/ 1053512 h 1629143"/>
              <a:gd name="csX12" fmla="*/ 5276859 w 5276859"/>
              <a:gd name="csY12" fmla="*/ 1629143 h 1629143"/>
              <a:gd name="csX13" fmla="*/ 4796079 w 5276859"/>
              <a:gd name="csY13" fmla="*/ 1629143 h 1629143"/>
              <a:gd name="csX14" fmla="*/ 4104224 w 5276859"/>
              <a:gd name="csY14" fmla="*/ 1629143 h 1629143"/>
              <a:gd name="csX15" fmla="*/ 3412369 w 5276859"/>
              <a:gd name="csY15" fmla="*/ 1629143 h 1629143"/>
              <a:gd name="csX16" fmla="*/ 2984357 w 5276859"/>
              <a:gd name="csY16" fmla="*/ 1629143 h 1629143"/>
              <a:gd name="csX17" fmla="*/ 2503576 w 5276859"/>
              <a:gd name="csY17" fmla="*/ 1629143 h 1629143"/>
              <a:gd name="csX18" fmla="*/ 1864490 w 5276859"/>
              <a:gd name="csY18" fmla="*/ 1629143 h 1629143"/>
              <a:gd name="csX19" fmla="*/ 1225404 w 5276859"/>
              <a:gd name="csY19" fmla="*/ 1629143 h 1629143"/>
              <a:gd name="csX20" fmla="*/ 797392 w 5276859"/>
              <a:gd name="csY20" fmla="*/ 1629143 h 1629143"/>
              <a:gd name="csX21" fmla="*/ 0 w 5276859"/>
              <a:gd name="csY21" fmla="*/ 1629143 h 1629143"/>
              <a:gd name="csX22" fmla="*/ 0 w 5276859"/>
              <a:gd name="csY22" fmla="*/ 1053512 h 1629143"/>
              <a:gd name="csX23" fmla="*/ 0 w 5276859"/>
              <a:gd name="csY23" fmla="*/ 494173 h 1629143"/>
              <a:gd name="csX24" fmla="*/ 0 w 5276859"/>
              <a:gd name="csY24" fmla="*/ 0 h 1629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276859" h="1629143" extrusionOk="0">
                <a:moveTo>
                  <a:pt x="0" y="0"/>
                </a:moveTo>
                <a:cubicBezTo>
                  <a:pt x="285188" y="-36529"/>
                  <a:pt x="441596" y="4313"/>
                  <a:pt x="639086" y="0"/>
                </a:cubicBezTo>
                <a:cubicBezTo>
                  <a:pt x="836576" y="-4313"/>
                  <a:pt x="1072583" y="11942"/>
                  <a:pt x="1278173" y="0"/>
                </a:cubicBezTo>
                <a:cubicBezTo>
                  <a:pt x="1483763" y="-11942"/>
                  <a:pt x="1593048" y="11789"/>
                  <a:pt x="1706184" y="0"/>
                </a:cubicBezTo>
                <a:cubicBezTo>
                  <a:pt x="1819320" y="-11789"/>
                  <a:pt x="2081206" y="74295"/>
                  <a:pt x="2345271" y="0"/>
                </a:cubicBezTo>
                <a:cubicBezTo>
                  <a:pt x="2609336" y="-74295"/>
                  <a:pt x="2793826" y="73496"/>
                  <a:pt x="2984357" y="0"/>
                </a:cubicBezTo>
                <a:cubicBezTo>
                  <a:pt x="3174888" y="-73496"/>
                  <a:pt x="3453975" y="27118"/>
                  <a:pt x="3623443" y="0"/>
                </a:cubicBezTo>
                <a:cubicBezTo>
                  <a:pt x="3792911" y="-27118"/>
                  <a:pt x="3975503" y="43984"/>
                  <a:pt x="4104224" y="0"/>
                </a:cubicBezTo>
                <a:cubicBezTo>
                  <a:pt x="4232945" y="-43984"/>
                  <a:pt x="4454580" y="14478"/>
                  <a:pt x="4743310" y="0"/>
                </a:cubicBezTo>
                <a:cubicBezTo>
                  <a:pt x="5032040" y="-14478"/>
                  <a:pt x="5109873" y="4696"/>
                  <a:pt x="5276859" y="0"/>
                </a:cubicBezTo>
                <a:cubicBezTo>
                  <a:pt x="5299136" y="244299"/>
                  <a:pt x="5218879" y="286944"/>
                  <a:pt x="5276859" y="526756"/>
                </a:cubicBezTo>
                <a:cubicBezTo>
                  <a:pt x="5334839" y="766568"/>
                  <a:pt x="5216173" y="866987"/>
                  <a:pt x="5276859" y="1053512"/>
                </a:cubicBezTo>
                <a:cubicBezTo>
                  <a:pt x="5337545" y="1240037"/>
                  <a:pt x="5232051" y="1507858"/>
                  <a:pt x="5276859" y="1629143"/>
                </a:cubicBezTo>
                <a:cubicBezTo>
                  <a:pt x="5068321" y="1657161"/>
                  <a:pt x="4995408" y="1602431"/>
                  <a:pt x="4796079" y="1629143"/>
                </a:cubicBezTo>
                <a:cubicBezTo>
                  <a:pt x="4596750" y="1655855"/>
                  <a:pt x="4342977" y="1594913"/>
                  <a:pt x="4104224" y="1629143"/>
                </a:cubicBezTo>
                <a:cubicBezTo>
                  <a:pt x="3865472" y="1663373"/>
                  <a:pt x="3718089" y="1590492"/>
                  <a:pt x="3412369" y="1629143"/>
                </a:cubicBezTo>
                <a:cubicBezTo>
                  <a:pt x="3106649" y="1667794"/>
                  <a:pt x="3123704" y="1606829"/>
                  <a:pt x="2984357" y="1629143"/>
                </a:cubicBezTo>
                <a:cubicBezTo>
                  <a:pt x="2845010" y="1651457"/>
                  <a:pt x="2610525" y="1579953"/>
                  <a:pt x="2503576" y="1629143"/>
                </a:cubicBezTo>
                <a:cubicBezTo>
                  <a:pt x="2396627" y="1678333"/>
                  <a:pt x="2002227" y="1577933"/>
                  <a:pt x="1864490" y="1629143"/>
                </a:cubicBezTo>
                <a:cubicBezTo>
                  <a:pt x="1726753" y="1680353"/>
                  <a:pt x="1372014" y="1594676"/>
                  <a:pt x="1225404" y="1629143"/>
                </a:cubicBezTo>
                <a:cubicBezTo>
                  <a:pt x="1078794" y="1663610"/>
                  <a:pt x="965609" y="1600143"/>
                  <a:pt x="797392" y="1629143"/>
                </a:cubicBezTo>
                <a:cubicBezTo>
                  <a:pt x="629175" y="1658143"/>
                  <a:pt x="235737" y="1614270"/>
                  <a:pt x="0" y="1629143"/>
                </a:cubicBezTo>
                <a:cubicBezTo>
                  <a:pt x="-24966" y="1413229"/>
                  <a:pt x="54536" y="1181419"/>
                  <a:pt x="0" y="1053512"/>
                </a:cubicBezTo>
                <a:cubicBezTo>
                  <a:pt x="-54536" y="925605"/>
                  <a:pt x="67052" y="724538"/>
                  <a:pt x="0" y="494173"/>
                </a:cubicBezTo>
                <a:cubicBezTo>
                  <a:pt x="-67052" y="263808"/>
                  <a:pt x="2425" y="237588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phic 7" descr="Badge Tick1 with solid fill">
            <a:extLst>
              <a:ext uri="{FF2B5EF4-FFF2-40B4-BE49-F238E27FC236}">
                <a16:creationId xmlns:a16="http://schemas.microsoft.com/office/drawing/2014/main" id="{3E9CB576-DF46-F582-86F5-7FEC5BC58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93728" y="2999848"/>
            <a:ext cx="429152" cy="42915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59D654C-2C36-88CE-C78A-A6329B867FC4}"/>
              </a:ext>
            </a:extLst>
          </p:cNvPr>
          <p:cNvSpPr/>
          <p:nvPr/>
        </p:nvSpPr>
        <p:spPr>
          <a:xfrm>
            <a:off x="765514" y="4005411"/>
            <a:ext cx="4958723" cy="1005565"/>
          </a:xfrm>
          <a:custGeom>
            <a:avLst/>
            <a:gdLst>
              <a:gd name="csX0" fmla="*/ 0 w 4958723"/>
              <a:gd name="csY0" fmla="*/ 0 h 1005565"/>
              <a:gd name="csX1" fmla="*/ 600556 w 4958723"/>
              <a:gd name="csY1" fmla="*/ 0 h 1005565"/>
              <a:gd name="csX2" fmla="*/ 1201113 w 4958723"/>
              <a:gd name="csY2" fmla="*/ 0 h 1005565"/>
              <a:gd name="csX3" fmla="*/ 1603320 w 4958723"/>
              <a:gd name="csY3" fmla="*/ 0 h 1005565"/>
              <a:gd name="csX4" fmla="*/ 2203877 w 4958723"/>
              <a:gd name="csY4" fmla="*/ 0 h 1005565"/>
              <a:gd name="csX5" fmla="*/ 2804433 w 4958723"/>
              <a:gd name="csY5" fmla="*/ 0 h 1005565"/>
              <a:gd name="csX6" fmla="*/ 3404990 w 4958723"/>
              <a:gd name="csY6" fmla="*/ 0 h 1005565"/>
              <a:gd name="csX7" fmla="*/ 3856785 w 4958723"/>
              <a:gd name="csY7" fmla="*/ 0 h 1005565"/>
              <a:gd name="csX8" fmla="*/ 4457341 w 4958723"/>
              <a:gd name="csY8" fmla="*/ 0 h 1005565"/>
              <a:gd name="csX9" fmla="*/ 4958723 w 4958723"/>
              <a:gd name="csY9" fmla="*/ 0 h 1005565"/>
              <a:gd name="csX10" fmla="*/ 4958723 w 4958723"/>
              <a:gd name="csY10" fmla="*/ 492727 h 1005565"/>
              <a:gd name="csX11" fmla="*/ 4958723 w 4958723"/>
              <a:gd name="csY11" fmla="*/ 1005565 h 1005565"/>
              <a:gd name="csX12" fmla="*/ 4358167 w 4958723"/>
              <a:gd name="csY12" fmla="*/ 1005565 h 1005565"/>
              <a:gd name="csX13" fmla="*/ 3955959 w 4958723"/>
              <a:gd name="csY13" fmla="*/ 1005565 h 1005565"/>
              <a:gd name="csX14" fmla="*/ 3305815 w 4958723"/>
              <a:gd name="csY14" fmla="*/ 1005565 h 1005565"/>
              <a:gd name="csX15" fmla="*/ 2655672 w 4958723"/>
              <a:gd name="csY15" fmla="*/ 1005565 h 1005565"/>
              <a:gd name="csX16" fmla="*/ 2253464 w 4958723"/>
              <a:gd name="csY16" fmla="*/ 1005565 h 1005565"/>
              <a:gd name="csX17" fmla="*/ 1801669 w 4958723"/>
              <a:gd name="csY17" fmla="*/ 1005565 h 1005565"/>
              <a:gd name="csX18" fmla="*/ 1201113 w 4958723"/>
              <a:gd name="csY18" fmla="*/ 1005565 h 1005565"/>
              <a:gd name="csX19" fmla="*/ 600556 w 4958723"/>
              <a:gd name="csY19" fmla="*/ 1005565 h 1005565"/>
              <a:gd name="csX20" fmla="*/ 0 w 4958723"/>
              <a:gd name="csY20" fmla="*/ 1005565 h 1005565"/>
              <a:gd name="csX21" fmla="*/ 0 w 4958723"/>
              <a:gd name="csY21" fmla="*/ 482671 h 1005565"/>
              <a:gd name="csX22" fmla="*/ 0 w 4958723"/>
              <a:gd name="csY22" fmla="*/ 0 h 1005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58723" h="1005565" extrusionOk="0">
                <a:moveTo>
                  <a:pt x="0" y="0"/>
                </a:moveTo>
                <a:cubicBezTo>
                  <a:pt x="205491" y="-29089"/>
                  <a:pt x="304338" y="71330"/>
                  <a:pt x="600556" y="0"/>
                </a:cubicBezTo>
                <a:cubicBezTo>
                  <a:pt x="896774" y="-71330"/>
                  <a:pt x="1030876" y="43287"/>
                  <a:pt x="1201113" y="0"/>
                </a:cubicBezTo>
                <a:cubicBezTo>
                  <a:pt x="1371350" y="-43287"/>
                  <a:pt x="1492337" y="34224"/>
                  <a:pt x="1603320" y="0"/>
                </a:cubicBezTo>
                <a:cubicBezTo>
                  <a:pt x="1714303" y="-34224"/>
                  <a:pt x="1916512" y="7038"/>
                  <a:pt x="2203877" y="0"/>
                </a:cubicBezTo>
                <a:cubicBezTo>
                  <a:pt x="2491242" y="-7038"/>
                  <a:pt x="2645682" y="63635"/>
                  <a:pt x="2804433" y="0"/>
                </a:cubicBezTo>
                <a:cubicBezTo>
                  <a:pt x="2963184" y="-63635"/>
                  <a:pt x="3210216" y="14961"/>
                  <a:pt x="3404990" y="0"/>
                </a:cubicBezTo>
                <a:cubicBezTo>
                  <a:pt x="3599764" y="-14961"/>
                  <a:pt x="3668962" y="21027"/>
                  <a:pt x="3856785" y="0"/>
                </a:cubicBezTo>
                <a:cubicBezTo>
                  <a:pt x="4044609" y="-21027"/>
                  <a:pt x="4320386" y="52555"/>
                  <a:pt x="4457341" y="0"/>
                </a:cubicBezTo>
                <a:cubicBezTo>
                  <a:pt x="4594296" y="-52555"/>
                  <a:pt x="4836285" y="10384"/>
                  <a:pt x="4958723" y="0"/>
                </a:cubicBezTo>
                <a:cubicBezTo>
                  <a:pt x="4998713" y="148189"/>
                  <a:pt x="4946090" y="254330"/>
                  <a:pt x="4958723" y="492727"/>
                </a:cubicBezTo>
                <a:cubicBezTo>
                  <a:pt x="4971356" y="731124"/>
                  <a:pt x="4943216" y="819877"/>
                  <a:pt x="4958723" y="1005565"/>
                </a:cubicBezTo>
                <a:cubicBezTo>
                  <a:pt x="4669246" y="1016563"/>
                  <a:pt x="4605158" y="988663"/>
                  <a:pt x="4358167" y="1005565"/>
                </a:cubicBezTo>
                <a:cubicBezTo>
                  <a:pt x="4111176" y="1022467"/>
                  <a:pt x="4125115" y="970657"/>
                  <a:pt x="3955959" y="1005565"/>
                </a:cubicBezTo>
                <a:cubicBezTo>
                  <a:pt x="3786803" y="1040473"/>
                  <a:pt x="3555194" y="955034"/>
                  <a:pt x="3305815" y="1005565"/>
                </a:cubicBezTo>
                <a:cubicBezTo>
                  <a:pt x="3056436" y="1056096"/>
                  <a:pt x="2807928" y="976909"/>
                  <a:pt x="2655672" y="1005565"/>
                </a:cubicBezTo>
                <a:cubicBezTo>
                  <a:pt x="2503416" y="1034221"/>
                  <a:pt x="2427217" y="963496"/>
                  <a:pt x="2253464" y="1005565"/>
                </a:cubicBezTo>
                <a:cubicBezTo>
                  <a:pt x="2079711" y="1047634"/>
                  <a:pt x="1981452" y="993800"/>
                  <a:pt x="1801669" y="1005565"/>
                </a:cubicBezTo>
                <a:cubicBezTo>
                  <a:pt x="1621886" y="1017330"/>
                  <a:pt x="1471809" y="967205"/>
                  <a:pt x="1201113" y="1005565"/>
                </a:cubicBezTo>
                <a:cubicBezTo>
                  <a:pt x="930417" y="1043925"/>
                  <a:pt x="870528" y="938309"/>
                  <a:pt x="600556" y="1005565"/>
                </a:cubicBezTo>
                <a:cubicBezTo>
                  <a:pt x="330584" y="1072821"/>
                  <a:pt x="288834" y="978128"/>
                  <a:pt x="0" y="1005565"/>
                </a:cubicBezTo>
                <a:cubicBezTo>
                  <a:pt x="-43875" y="832019"/>
                  <a:pt x="52136" y="638841"/>
                  <a:pt x="0" y="482671"/>
                </a:cubicBezTo>
                <a:cubicBezTo>
                  <a:pt x="-52136" y="326501"/>
                  <a:pt x="36843" y="236905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42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D41BEC-1BC9-A73D-5E5A-1C5704EAD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Bandwidth</a:t>
            </a:r>
            <a:r>
              <a:rPr lang="en-US" dirty="0"/>
              <a:t>: how many bits per cycle you could move</a:t>
            </a:r>
          </a:p>
          <a:p>
            <a:pPr lvl="1"/>
            <a:r>
              <a:rPr lang="en-US" dirty="0"/>
              <a:t>burst, wide bus, vector types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Reuse</a:t>
            </a:r>
            <a:r>
              <a:rPr lang="en-US" dirty="0"/>
              <a:t>: how many times you use data after paying to fetch it</a:t>
            </a:r>
          </a:p>
          <a:p>
            <a:pPr lvl="1"/>
            <a:r>
              <a:rPr lang="en-US" dirty="0"/>
              <a:t>local buffers, partitioning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Overlap</a:t>
            </a:r>
            <a:r>
              <a:rPr lang="en-US" dirty="0"/>
              <a:t>: whether compute waits for memory</a:t>
            </a:r>
          </a:p>
          <a:p>
            <a:pPr lvl="1"/>
            <a:r>
              <a:rPr lang="en-US" dirty="0"/>
              <a:t>double buffering, streaming, dataflow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CDFDB-7F59-3D16-E4E7-E16EABC67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39A723-AA97-B714-94DB-09826328B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Memory Performance: 3 knobs</a:t>
            </a:r>
          </a:p>
        </p:txBody>
      </p:sp>
    </p:spTree>
    <p:extLst>
      <p:ext uri="{BB962C8B-B14F-4D97-AF65-F5344CB8AC3E}">
        <p14:creationId xmlns:p14="http://schemas.microsoft.com/office/powerpoint/2010/main" val="1587549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accent1"/>
                </a:solidFill>
              </a:rPr>
              <a:t>Burst mode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Wide bus transaction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Double Buffer</a:t>
            </a:r>
          </a:p>
          <a:p>
            <a:pPr>
              <a:lnSpc>
                <a:spcPct val="150000"/>
              </a:lnSpc>
            </a:pPr>
            <a:r>
              <a:rPr lang="en-US" altLang="zh-CN" sz="3200" dirty="0"/>
              <a:t>Streaming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C/RTL Co-simulation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502349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9A94C7-C301-6512-49BA-F9ACB937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A5BF0C-6A77-F380-D0F5-F31B9A8C8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DRAM Data Access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660E4D-616E-EF0F-992C-9786D31C1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55" y="2240365"/>
            <a:ext cx="10690917" cy="3804623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8124C20-C73F-4A9A-329D-7E94CAC88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/>
          <a:lstStyle/>
          <a:p>
            <a:r>
              <a:rPr lang="en-US" dirty="0"/>
              <a:t>Large overhead (setup time) for each data access from/to DRAM</a:t>
            </a:r>
          </a:p>
          <a:p>
            <a:pPr lvl="1"/>
            <a:r>
              <a:rPr lang="en-US" dirty="0"/>
              <a:t>Co-sim shows 2 cycles (older version shows 16 cycles); on-FPGA can be even larger</a:t>
            </a:r>
          </a:p>
          <a:p>
            <a:pPr marL="457188" lvl="1" indent="0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4FA41-7C57-A5C1-4E7A-C733D4940B9E}"/>
              </a:ext>
            </a:extLst>
          </p:cNvPr>
          <p:cNvSpPr txBox="1"/>
          <p:nvPr/>
        </p:nvSpPr>
        <p:spPr>
          <a:xfrm>
            <a:off x="3977454" y="5963845"/>
            <a:ext cx="7871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Y. Y. Chew et al.: In-Depth Review and Comparative Analysis of DRAM-Based PUFs</a:t>
            </a:r>
          </a:p>
        </p:txBody>
      </p:sp>
    </p:spTree>
    <p:extLst>
      <p:ext uri="{BB962C8B-B14F-4D97-AF65-F5344CB8AC3E}">
        <p14:creationId xmlns:p14="http://schemas.microsoft.com/office/powerpoint/2010/main" val="3099800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751F55-BE40-1B5E-FA42-02D72297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A5CA97-F81E-3C73-C81D-FBF8728A7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Burst Mode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A0C71A7B-B79E-1195-D4C4-04D1743BE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/>
          <a:lstStyle/>
          <a:p>
            <a:r>
              <a:rPr lang="en-US" dirty="0"/>
              <a:t>Setup once, transfer multiple data chunks</a:t>
            </a:r>
          </a:p>
          <a:p>
            <a:pPr lvl="1"/>
            <a:r>
              <a:rPr lang="en-US" dirty="0"/>
              <a:t>The larger burst size, the better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926E50-44EF-F269-48A3-D49B539B4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09" t="44912" r="6870" b="44361"/>
          <a:stretch>
            <a:fillRect/>
          </a:stretch>
        </p:blipFill>
        <p:spPr>
          <a:xfrm>
            <a:off x="721264" y="3090004"/>
            <a:ext cx="10396317" cy="90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82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8A2303-196B-4B9B-A1B5-CBC4F5E8346E}"/>
              </a:ext>
            </a:extLst>
          </p:cNvPr>
          <p:cNvSpPr/>
          <p:nvPr/>
        </p:nvSpPr>
        <p:spPr>
          <a:xfrm>
            <a:off x="1610436" y="3370997"/>
            <a:ext cx="4849100" cy="15421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EB98B-D654-4760-B58D-F437EDDC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F3B7BE-67FA-4B89-8710-77FE692F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Burst Mode for Continuous Memory Access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EA6E1F-57BB-4321-BF9C-5F3856F1CA24}"/>
              </a:ext>
            </a:extLst>
          </p:cNvPr>
          <p:cNvSpPr txBox="1"/>
          <p:nvPr/>
        </p:nvSpPr>
        <p:spPr>
          <a:xfrm>
            <a:off x="1024824" y="1799234"/>
            <a:ext cx="9836523" cy="40626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test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 </a:t>
            </a:r>
            <a:r>
              <a:rPr lang="en-US" sz="2000" b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FIX_TYPE</a:t>
            </a:r>
            <a:r>
              <a:rPr lang="en-US" sz="20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A[100][100], ...) {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#pragma HLS interface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m_axi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port=A offset=slave bundle=mem</a:t>
            </a:r>
          </a:p>
          <a:p>
            <a:br>
              <a:rPr lang="en-US" sz="2000" b="0" dirty="0"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effectLst/>
                <a:latin typeface="Consolas" panose="020B0609020204030204" pitchFamily="49" charset="0"/>
              </a:rPr>
              <a:t>    FIX_TYPE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[100][100];</a:t>
            </a:r>
          </a:p>
          <a:p>
            <a:br>
              <a:rPr lang="en-US" sz="2000" b="0" dirty="0">
                <a:effectLst/>
                <a:latin typeface="Consolas" panose="020B0609020204030204" pitchFamily="49" charset="0"/>
              </a:rPr>
            </a:br>
            <a:r>
              <a:rPr lang="en-US" sz="2000" b="1" dirty="0">
                <a:effectLst/>
                <a:latin typeface="Consolas" panose="020B0609020204030204" pitchFamily="49" charset="0"/>
              </a:rPr>
              <a:t>    for(int i = 0; i &lt; 100; i++) {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for(int j = 0; j &lt; 100; 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j++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[i][j] = A[i][j];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	...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en-US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116DD5-39B6-4576-ABF8-AB62DDEC5921}"/>
              </a:ext>
            </a:extLst>
          </p:cNvPr>
          <p:cNvSpPr txBox="1"/>
          <p:nvPr/>
        </p:nvSpPr>
        <p:spPr>
          <a:xfrm>
            <a:off x="6785630" y="3673610"/>
            <a:ext cx="4760375" cy="830997"/>
          </a:xfrm>
          <a:prstGeom prst="rect">
            <a:avLst/>
          </a:prstGeom>
          <a:solidFill>
            <a:schemeClr val="accent4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Display" panose="020B0004020202020204" pitchFamily="34" charset="0"/>
              </a:rPr>
              <a:t>How do you like this design?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Display" panose="020B0004020202020204" pitchFamily="34" charset="0"/>
              </a:rPr>
              <a:t>What’s its best performance?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4A6C6B-15DA-EA4D-5312-4871605E6773}"/>
              </a:ext>
            </a:extLst>
          </p:cNvPr>
          <p:cNvSpPr txBox="1"/>
          <p:nvPr/>
        </p:nvSpPr>
        <p:spPr>
          <a:xfrm>
            <a:off x="1965278" y="1260312"/>
            <a:ext cx="2477068" cy="46166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ptos Display" panose="020B0004020202020204" pitchFamily="34" charset="0"/>
              </a:rPr>
              <a:t>Assume it’s 32-bit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3DB7D-7E2B-BB46-AD0E-40AF0018F69B}"/>
              </a:ext>
            </a:extLst>
          </p:cNvPr>
          <p:cNvSpPr/>
          <p:nvPr/>
        </p:nvSpPr>
        <p:spPr>
          <a:xfrm>
            <a:off x="2599899" y="1721977"/>
            <a:ext cx="1207826" cy="461665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0386B-4925-FFA9-4ADF-62514164B0EC}"/>
              </a:ext>
            </a:extLst>
          </p:cNvPr>
          <p:cNvSpPr txBox="1"/>
          <p:nvPr/>
        </p:nvSpPr>
        <p:spPr>
          <a:xfrm>
            <a:off x="7219667" y="4504607"/>
            <a:ext cx="2306470" cy="46166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32-bit per cycle</a:t>
            </a:r>
          </a:p>
        </p:txBody>
      </p:sp>
    </p:spTree>
    <p:extLst>
      <p:ext uri="{BB962C8B-B14F-4D97-AF65-F5344CB8AC3E}">
        <p14:creationId xmlns:p14="http://schemas.microsoft.com/office/powerpoint/2010/main" val="187550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/>
      <p:bldP spid="5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FC0A3-4195-77BE-68AE-B6657BA0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AB6369B-2BF8-B25A-A7D7-032807908ECA}"/>
              </a:ext>
            </a:extLst>
          </p:cNvPr>
          <p:cNvSpPr/>
          <p:nvPr/>
        </p:nvSpPr>
        <p:spPr>
          <a:xfrm>
            <a:off x="1610436" y="3370997"/>
            <a:ext cx="4849100" cy="15421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EBD321-FB6E-2BA2-94DB-F767EA552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8A831E-98AD-1924-0B2F-A8CFEC196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Burst Mode for Continuous Memory Access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F70C28-A173-73CD-318D-89D56198F6E8}"/>
              </a:ext>
            </a:extLst>
          </p:cNvPr>
          <p:cNvSpPr txBox="1"/>
          <p:nvPr/>
        </p:nvSpPr>
        <p:spPr>
          <a:xfrm>
            <a:off x="1024824" y="1799234"/>
            <a:ext cx="9836523" cy="40626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test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 </a:t>
            </a:r>
            <a:r>
              <a:rPr lang="en-US" sz="2000" b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FIX_TYPE</a:t>
            </a:r>
            <a:r>
              <a:rPr lang="en-US" sz="20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A[100][100], ...) {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#pragma HLS interface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m_axi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port=A offset=slave bundle=mem</a:t>
            </a:r>
          </a:p>
          <a:p>
            <a:br>
              <a:rPr lang="en-US" sz="2000" b="0" dirty="0"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effectLst/>
                <a:latin typeface="Consolas" panose="020B0609020204030204" pitchFamily="49" charset="0"/>
              </a:rPr>
              <a:t>    FIX_TYPE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[100][100];</a:t>
            </a:r>
          </a:p>
          <a:p>
            <a:br>
              <a:rPr lang="en-US" sz="2000" b="0" dirty="0">
                <a:effectLst/>
                <a:latin typeface="Consolas" panose="020B0609020204030204" pitchFamily="49" charset="0"/>
              </a:rPr>
            </a:br>
            <a:r>
              <a:rPr lang="en-US" sz="2000" b="1" dirty="0">
                <a:effectLst/>
                <a:latin typeface="Consolas" panose="020B0609020204030204" pitchFamily="49" charset="0"/>
              </a:rPr>
              <a:t>    for(int i = 0; i &lt; 100; i++) {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for(int j = 0; j &lt; 100; 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j++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[i][j] = A[i][j];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	...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en-US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5C5D6-D205-E729-0264-EF9F231A3906}"/>
              </a:ext>
            </a:extLst>
          </p:cNvPr>
          <p:cNvSpPr txBox="1"/>
          <p:nvPr/>
        </p:nvSpPr>
        <p:spPr>
          <a:xfrm>
            <a:off x="6697670" y="3634263"/>
            <a:ext cx="4986616" cy="923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Multiple burst reads of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length 10000</a:t>
            </a:r>
            <a:r>
              <a:rPr lang="en-US" b="1" dirty="0">
                <a:latin typeface="Consolas" panose="020B0609020204030204" pitchFamily="49" charset="0"/>
              </a:rPr>
              <a:t> and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bit width 32 </a:t>
            </a:r>
            <a:r>
              <a:rPr lang="en-US" b="1" dirty="0">
                <a:latin typeface="Consolas" panose="020B0609020204030204" pitchFamily="49" charset="0"/>
              </a:rPr>
              <a:t>in loop xxx has been inferred on port 'mem'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AA34EE-D0FF-C2FC-E6D3-CBD4847C7BDC}"/>
              </a:ext>
            </a:extLst>
          </p:cNvPr>
          <p:cNvSpPr txBox="1"/>
          <p:nvPr/>
        </p:nvSpPr>
        <p:spPr>
          <a:xfrm>
            <a:off x="6697670" y="4766047"/>
            <a:ext cx="4986616" cy="707886"/>
          </a:xfrm>
          <a:prstGeom prst="rect">
            <a:avLst/>
          </a:prstGeom>
          <a:solidFill>
            <a:schemeClr val="accent4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b="1" dirty="0">
                <a:latin typeface="Aptos Display" panose="020B0004020202020204" pitchFamily="34" charset="0"/>
              </a:rPr>
              <a:t>Enable burst mode whenever possible by using continuous memory access</a:t>
            </a:r>
          </a:p>
        </p:txBody>
      </p:sp>
    </p:spTree>
    <p:extLst>
      <p:ext uri="{BB962C8B-B14F-4D97-AF65-F5344CB8AC3E}">
        <p14:creationId xmlns:p14="http://schemas.microsoft.com/office/powerpoint/2010/main" val="370548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EB98B-D654-4760-B58D-F437EDDC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F3B7BE-67FA-4B89-8710-77FE692F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Bad 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EA6E1F-57BB-4321-BF9C-5F3856F1CA24}"/>
              </a:ext>
            </a:extLst>
          </p:cNvPr>
          <p:cNvSpPr txBox="1"/>
          <p:nvPr/>
        </p:nvSpPr>
        <p:spPr>
          <a:xfrm>
            <a:off x="967221" y="1401070"/>
            <a:ext cx="5386513" cy="163121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Consolas" panose="020B0609020204030204" pitchFamily="49" charset="0"/>
              </a:rPr>
              <a:t>for(int i = 0; i &lt; 100; i++) {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    for(int j = 0; j &lt; 100; </a:t>
            </a:r>
            <a:r>
              <a:rPr lang="en-US" sz="200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j+=2</a:t>
            </a:r>
            <a:r>
              <a:rPr lang="en-US" sz="2000" dirty="0"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dirty="0">
                <a:effectLst/>
                <a:latin typeface="Consolas" panose="020B0609020204030204" pitchFamily="49" charset="0"/>
              </a:rPr>
              <a:t>[i][j] = A[i][j];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E5AF02-4B80-4E5D-8F26-09EAE20550BE}"/>
              </a:ext>
            </a:extLst>
          </p:cNvPr>
          <p:cNvSpPr txBox="1"/>
          <p:nvPr/>
        </p:nvSpPr>
        <p:spPr>
          <a:xfrm>
            <a:off x="967221" y="3903747"/>
            <a:ext cx="5386513" cy="163121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Consolas" panose="020B0609020204030204" pitchFamily="49" charset="0"/>
              </a:rPr>
              <a:t>for(</a:t>
            </a:r>
            <a:r>
              <a:rPr lang="en-US" sz="200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 j = 0</a:t>
            </a:r>
            <a:r>
              <a:rPr lang="en-US" sz="2000" dirty="0">
                <a:effectLst/>
                <a:latin typeface="Consolas" panose="020B0609020204030204" pitchFamily="49" charset="0"/>
              </a:rPr>
              <a:t>; j &lt; 100; </a:t>
            </a:r>
            <a:r>
              <a:rPr lang="en-US" sz="2000" dirty="0" err="1">
                <a:effectLst/>
                <a:latin typeface="Consolas" panose="020B0609020204030204" pitchFamily="49" charset="0"/>
              </a:rPr>
              <a:t>j++</a:t>
            </a:r>
            <a:r>
              <a:rPr lang="en-US" sz="2000" dirty="0"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	for(</a:t>
            </a:r>
            <a:r>
              <a:rPr lang="en-US" sz="200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 i = 0</a:t>
            </a:r>
            <a:r>
              <a:rPr lang="en-US" sz="2000" dirty="0">
                <a:effectLst/>
                <a:latin typeface="Consolas" panose="020B0609020204030204" pitchFamily="49" charset="0"/>
              </a:rPr>
              <a:t>; i &lt; 100; i++) {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dirty="0">
                <a:effectLst/>
                <a:latin typeface="Consolas" panose="020B0609020204030204" pitchFamily="49" charset="0"/>
              </a:rPr>
              <a:t>[i][j] = A[i][j];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200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9BD557-87E8-4F38-9CE7-35FC9E86B894}"/>
              </a:ext>
            </a:extLst>
          </p:cNvPr>
          <p:cNvSpPr txBox="1"/>
          <p:nvPr/>
        </p:nvSpPr>
        <p:spPr>
          <a:xfrm>
            <a:off x="6977963" y="3147187"/>
            <a:ext cx="4448521" cy="95410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ptos Display" panose="020B0004020202020204" pitchFamily="34" charset="0"/>
              </a:rPr>
              <a:t>Do not burst because memory is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not continuous</a:t>
            </a:r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8149F84A-220A-4D71-B0D5-E6763FF10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5023" y="2251766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06AADE0-B03D-49B7-A153-2653DE8E150A}"/>
              </a:ext>
            </a:extLst>
          </p:cNvPr>
          <p:cNvSpPr txBox="1"/>
          <p:nvPr/>
        </p:nvSpPr>
        <p:spPr>
          <a:xfrm>
            <a:off x="1476934" y="3032286"/>
            <a:ext cx="4876800" cy="46166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&gt; </a:t>
            </a:r>
            <a:r>
              <a:rPr lang="en-US" sz="24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12000</a:t>
            </a:r>
            <a:r>
              <a:rPr lang="en-US" sz="2400" b="1" dirty="0">
                <a:latin typeface="Aptos Display" panose="020B0004020202020204" pitchFamily="34" charset="0"/>
              </a:rPr>
              <a:t> cycles (expected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5000</a:t>
            </a:r>
            <a:r>
              <a:rPr lang="en-US" sz="2400" b="1" dirty="0">
                <a:latin typeface="Aptos Display" panose="020B0004020202020204" pitchFamily="34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DBBA4A-CA38-4332-B014-689CBE8969FF}"/>
              </a:ext>
            </a:extLst>
          </p:cNvPr>
          <p:cNvSpPr txBox="1"/>
          <p:nvPr/>
        </p:nvSpPr>
        <p:spPr>
          <a:xfrm>
            <a:off x="1313659" y="5534963"/>
            <a:ext cx="4693636" cy="46166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latin typeface="Corbel" panose="020B0503020204020204" pitchFamily="34" charset="0"/>
              </a:defRPr>
            </a:lvl1pPr>
          </a:lstStyle>
          <a:p>
            <a:r>
              <a:rPr lang="en-US" dirty="0">
                <a:latin typeface="Aptos Display" panose="020B0004020202020204" pitchFamily="34" charset="0"/>
              </a:rPr>
              <a:t>&gt; </a:t>
            </a:r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</a:rPr>
              <a:t>20000</a:t>
            </a:r>
            <a:r>
              <a:rPr lang="en-US" dirty="0">
                <a:latin typeface="Aptos Display" panose="020B0004020202020204" pitchFamily="34" charset="0"/>
              </a:rPr>
              <a:t> cycles (expected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10000</a:t>
            </a:r>
            <a:r>
              <a:rPr lang="en-US" dirty="0">
                <a:latin typeface="Aptos Display" panose="020B00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1663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B6206-6A1F-3E12-3C88-2BA489D72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E09FFC-8210-0013-BAAB-936F4EC18ED0}"/>
              </a:ext>
            </a:extLst>
          </p:cNvPr>
          <p:cNvSpPr/>
          <p:nvPr/>
        </p:nvSpPr>
        <p:spPr>
          <a:xfrm>
            <a:off x="1610436" y="3370997"/>
            <a:ext cx="4849100" cy="15421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C062AE-0F19-4968-96E8-1885D21AB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55DD71-BE57-A960-6320-97A63AB2E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Wider Bus Transaction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E04291-5AE5-411D-868F-C35017E8A407}"/>
              </a:ext>
            </a:extLst>
          </p:cNvPr>
          <p:cNvSpPr txBox="1"/>
          <p:nvPr/>
        </p:nvSpPr>
        <p:spPr>
          <a:xfrm>
            <a:off x="1024824" y="1799234"/>
            <a:ext cx="9836523" cy="40626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test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 </a:t>
            </a:r>
            <a:r>
              <a:rPr lang="en-US" sz="2000" b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FIX_TYPE</a:t>
            </a:r>
            <a:r>
              <a:rPr lang="en-US" sz="20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A[100][100], ...) {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#pragma HLS interface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m_axi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port=A offset=slave bundle=mem</a:t>
            </a:r>
          </a:p>
          <a:p>
            <a:br>
              <a:rPr lang="en-US" sz="2000" b="0" dirty="0"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effectLst/>
                <a:latin typeface="Consolas" panose="020B0609020204030204" pitchFamily="49" charset="0"/>
              </a:rPr>
              <a:t>    FIX_TYPE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[100][100];</a:t>
            </a:r>
          </a:p>
          <a:p>
            <a:br>
              <a:rPr lang="en-US" sz="2000" b="0" dirty="0">
                <a:effectLst/>
                <a:latin typeface="Consolas" panose="020B0609020204030204" pitchFamily="49" charset="0"/>
              </a:rPr>
            </a:br>
            <a:r>
              <a:rPr lang="en-US" sz="2000" b="1" dirty="0">
                <a:effectLst/>
                <a:latin typeface="Consolas" panose="020B0609020204030204" pitchFamily="49" charset="0"/>
              </a:rPr>
              <a:t>    for(int i = 0; i &lt; 100; i++) {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for(int j = 0; j &lt; 100; 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j++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[i][j] = A[i][j];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2000" b="1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	...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en-US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2BA2A0-0BED-210A-9987-0C7EBD9C7628}"/>
              </a:ext>
            </a:extLst>
          </p:cNvPr>
          <p:cNvSpPr txBox="1"/>
          <p:nvPr/>
        </p:nvSpPr>
        <p:spPr>
          <a:xfrm>
            <a:off x="1965278" y="1260312"/>
            <a:ext cx="2477068" cy="46166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ptos Display" panose="020B0004020202020204" pitchFamily="34" charset="0"/>
              </a:rPr>
              <a:t>Assume it’s 32-bit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B74B8-65E8-143E-0619-E6067E89974B}"/>
              </a:ext>
            </a:extLst>
          </p:cNvPr>
          <p:cNvSpPr/>
          <p:nvPr/>
        </p:nvSpPr>
        <p:spPr>
          <a:xfrm>
            <a:off x="2599899" y="1721977"/>
            <a:ext cx="1207826" cy="461665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FE28B-0895-E40A-05A9-93B8107BEEBF}"/>
              </a:ext>
            </a:extLst>
          </p:cNvPr>
          <p:cNvSpPr txBox="1"/>
          <p:nvPr/>
        </p:nvSpPr>
        <p:spPr>
          <a:xfrm>
            <a:off x="7412567" y="3224476"/>
            <a:ext cx="2306470" cy="461665"/>
          </a:xfrm>
          <a:prstGeom prst="rect">
            <a:avLst/>
          </a:prstGeom>
          <a:noFill/>
          <a:ln w="28575"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32-bit per cycle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3C994-8076-B095-ADEF-3F8DC8E31D4E}"/>
              </a:ext>
            </a:extLst>
          </p:cNvPr>
          <p:cNvSpPr txBox="1"/>
          <p:nvPr/>
        </p:nvSpPr>
        <p:spPr>
          <a:xfrm>
            <a:off x="6674866" y="3713297"/>
            <a:ext cx="3906697" cy="461665"/>
          </a:xfrm>
          <a:prstGeom prst="rect">
            <a:avLst/>
          </a:prstGeom>
          <a:solidFill>
            <a:schemeClr val="accent4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 Display" panose="020B0004020202020204" pitchFamily="34" charset="0"/>
              </a:rPr>
              <a:t>Is this good enough?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B18A92-599F-29CF-14AF-352D536F69A1}"/>
              </a:ext>
            </a:extLst>
          </p:cNvPr>
          <p:cNvSpPr txBox="1"/>
          <p:nvPr/>
        </p:nvSpPr>
        <p:spPr>
          <a:xfrm>
            <a:off x="6666110" y="4346301"/>
            <a:ext cx="3915454" cy="8309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 Display" panose="020B0004020202020204" pitchFamily="34" charset="0"/>
              </a:rPr>
              <a:t>AXI bus is 512 bit wide – 15/16 bandwidth is wasted!</a:t>
            </a:r>
          </a:p>
        </p:txBody>
      </p:sp>
    </p:spTree>
    <p:extLst>
      <p:ext uri="{BB962C8B-B14F-4D97-AF65-F5344CB8AC3E}">
        <p14:creationId xmlns:p14="http://schemas.microsoft.com/office/powerpoint/2010/main" val="262802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914FC-CDCA-100F-99EC-6B412F391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E1178A-35B4-FAB3-2707-870AB2601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Burst mode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accent1"/>
                </a:solidFill>
              </a:rPr>
              <a:t>Wide bus transaction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Double Buffer</a:t>
            </a:r>
          </a:p>
          <a:p>
            <a:pPr>
              <a:lnSpc>
                <a:spcPct val="150000"/>
              </a:lnSpc>
            </a:pPr>
            <a:r>
              <a:rPr lang="en-US" altLang="zh-CN" sz="3200" dirty="0"/>
              <a:t>Streaming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C/RTL Co-simulation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83B719-BA03-0B46-2262-BAC3BBBE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A18712-7879-35B2-91C9-B8C570E1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841919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EB98B-D654-4760-B58D-F437EDDC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F3B7BE-67FA-4B89-8710-77FE692F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Wider Bus Transaction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F4CCD150-25B1-42E4-9B62-7662EAF22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611634"/>
              </p:ext>
            </p:extLst>
          </p:nvPr>
        </p:nvGraphicFramePr>
        <p:xfrm>
          <a:off x="1325880" y="1717885"/>
          <a:ext cx="9433560" cy="624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356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1609153966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3873216139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3259696465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3524570975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1250500907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3752082662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3176761839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480841777"/>
                    </a:ext>
                  </a:extLst>
                </a:gridCol>
                <a:gridCol w="943356">
                  <a:extLst>
                    <a:ext uri="{9D8B030D-6E8A-4147-A177-3AD203B41FA5}">
                      <a16:colId xmlns:a16="http://schemas.microsoft.com/office/drawing/2014/main" val="2953690730"/>
                    </a:ext>
                  </a:extLst>
                </a:gridCol>
              </a:tblGrid>
              <a:tr h="62442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</a:tbl>
          </a:graphicData>
        </a:graphic>
      </p:graphicFrame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50AD9E64-F821-4245-A649-E79185252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484271"/>
              </p:ext>
            </p:extLst>
          </p:nvPr>
        </p:nvGraphicFramePr>
        <p:xfrm>
          <a:off x="382118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136B6117-DC80-4F57-9AB9-D6E631DF9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381286"/>
              </p:ext>
            </p:extLst>
          </p:nvPr>
        </p:nvGraphicFramePr>
        <p:xfrm>
          <a:off x="1552896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84A0A1FA-455C-4B9E-AF52-59504EB79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463151"/>
              </p:ext>
            </p:extLst>
          </p:nvPr>
        </p:nvGraphicFramePr>
        <p:xfrm>
          <a:off x="2723674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20" name="Table 4">
            <a:extLst>
              <a:ext uri="{FF2B5EF4-FFF2-40B4-BE49-F238E27FC236}">
                <a16:creationId xmlns:a16="http://schemas.microsoft.com/office/drawing/2014/main" id="{4C4EBE07-6668-42B5-BFA3-4F1307B9C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312173"/>
              </p:ext>
            </p:extLst>
          </p:nvPr>
        </p:nvGraphicFramePr>
        <p:xfrm>
          <a:off x="3894452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24" name="Table 4">
            <a:extLst>
              <a:ext uri="{FF2B5EF4-FFF2-40B4-BE49-F238E27FC236}">
                <a16:creationId xmlns:a16="http://schemas.microsoft.com/office/drawing/2014/main" id="{2F824CA5-D5F0-4289-8C24-046D711EB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146004"/>
              </p:ext>
            </p:extLst>
          </p:nvPr>
        </p:nvGraphicFramePr>
        <p:xfrm>
          <a:off x="5065230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25" name="Table 4">
            <a:extLst>
              <a:ext uri="{FF2B5EF4-FFF2-40B4-BE49-F238E27FC236}">
                <a16:creationId xmlns:a16="http://schemas.microsoft.com/office/drawing/2014/main" id="{4CBA0B97-335B-4E6E-8EC4-9C9F50BCA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747304"/>
              </p:ext>
            </p:extLst>
          </p:nvPr>
        </p:nvGraphicFramePr>
        <p:xfrm>
          <a:off x="6236008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26" name="Table 4">
            <a:extLst>
              <a:ext uri="{FF2B5EF4-FFF2-40B4-BE49-F238E27FC236}">
                <a16:creationId xmlns:a16="http://schemas.microsoft.com/office/drawing/2014/main" id="{5C646D78-260B-4323-92B1-3D5A9CF0F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399983"/>
              </p:ext>
            </p:extLst>
          </p:nvPr>
        </p:nvGraphicFramePr>
        <p:xfrm>
          <a:off x="7406786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27" name="Table 4">
            <a:extLst>
              <a:ext uri="{FF2B5EF4-FFF2-40B4-BE49-F238E27FC236}">
                <a16:creationId xmlns:a16="http://schemas.microsoft.com/office/drawing/2014/main" id="{CB1AC8D9-92B8-47F0-A48D-A4DD88243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462282"/>
              </p:ext>
            </p:extLst>
          </p:nvPr>
        </p:nvGraphicFramePr>
        <p:xfrm>
          <a:off x="8577564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28" name="Table 4">
            <a:extLst>
              <a:ext uri="{FF2B5EF4-FFF2-40B4-BE49-F238E27FC236}">
                <a16:creationId xmlns:a16="http://schemas.microsoft.com/office/drawing/2014/main" id="{BF2568EE-D8AE-4246-93D2-FDC3BD1BC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338939"/>
              </p:ext>
            </p:extLst>
          </p:nvPr>
        </p:nvGraphicFramePr>
        <p:xfrm>
          <a:off x="9748342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graphicFrame>
        <p:nvGraphicFramePr>
          <p:cNvPr id="29" name="Table 4">
            <a:extLst>
              <a:ext uri="{FF2B5EF4-FFF2-40B4-BE49-F238E27FC236}">
                <a16:creationId xmlns:a16="http://schemas.microsoft.com/office/drawing/2014/main" id="{2EBD9970-EF12-4FFB-8B41-0411CFD2F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151112"/>
              </p:ext>
            </p:extLst>
          </p:nvPr>
        </p:nvGraphicFramePr>
        <p:xfrm>
          <a:off x="10919122" y="3116759"/>
          <a:ext cx="8541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15">
                  <a:extLst>
                    <a:ext uri="{9D8B030D-6E8A-4147-A177-3AD203B41FA5}">
                      <a16:colId xmlns:a16="http://schemas.microsoft.com/office/drawing/2014/main" val="3891180515"/>
                    </a:ext>
                  </a:extLst>
                </a:gridCol>
              </a:tblGrid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32b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16565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41552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831131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1814"/>
                  </a:ext>
                </a:extLst>
              </a:tr>
              <a:tr h="41305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6122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28DA39-1196-41E5-B695-5E76B541BC28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809175" y="2342310"/>
            <a:ext cx="1001743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D74689A-1767-4A3D-84F2-8F800ABEC842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1979953" y="2342310"/>
            <a:ext cx="790783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6104CED-1F79-4A4F-9CDA-F91D19633D2C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3150731" y="2342310"/>
            <a:ext cx="546616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5AF05D7-A896-4866-A71C-75FAEB1CC748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4321509" y="2342310"/>
            <a:ext cx="307499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61F28A-11EF-4B79-8CCE-F5EA8DFFA529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5492287" y="2342310"/>
            <a:ext cx="119559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C6442D5-92B7-4150-BBC9-F71CD5544D19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577871" y="2342310"/>
            <a:ext cx="85194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3A97DC8-96D4-4E11-94B1-461A92B84643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7526344" y="2342310"/>
            <a:ext cx="307499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2E52007-E454-4BBD-8707-7B2B71FFC539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8427720" y="2342310"/>
            <a:ext cx="576901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3A29F07-AE4E-4A1C-98B1-C7E99F0198FF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9248223" y="2342310"/>
            <a:ext cx="927176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765DB0F-8AC4-47E5-9F44-3EFD4328D318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10297200" y="2342310"/>
            <a:ext cx="1048979" cy="774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18029CD-22EB-411F-BC9C-C058426D02F4}"/>
              </a:ext>
            </a:extLst>
          </p:cNvPr>
          <p:cNvSpPr txBox="1"/>
          <p:nvPr/>
        </p:nvSpPr>
        <p:spPr>
          <a:xfrm>
            <a:off x="3894452" y="1245268"/>
            <a:ext cx="57260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effectLst/>
                <a:latin typeface="Aptos Display" panose="020B0004020202020204" pitchFamily="34" charset="0"/>
              </a:rPr>
              <a:t>320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effectLst/>
                <a:latin typeface="Aptos Display" panose="020B0004020202020204" pitchFamily="34" charset="0"/>
              </a:rPr>
              <a:t>-bit 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customized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effectLst/>
                <a:latin typeface="Aptos Display" panose="020B0004020202020204" pitchFamily="34" charset="0"/>
              </a:rPr>
              <a:t>datatype</a:t>
            </a:r>
            <a:endParaRPr lang="en-US" sz="2800" dirty="0">
              <a:latin typeface="Aptos Display" panose="020B00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C98CE3-BB32-44C0-BCC0-40E4D8E5DA39}"/>
              </a:ext>
            </a:extLst>
          </p:cNvPr>
          <p:cNvSpPr txBox="1"/>
          <p:nvPr/>
        </p:nvSpPr>
        <p:spPr>
          <a:xfrm>
            <a:off x="4320089" y="5707559"/>
            <a:ext cx="57260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Aptos Display" panose="020B0004020202020204" pitchFamily="34" charset="0"/>
              </a:rPr>
              <a:t>Partitioned local arrays</a:t>
            </a:r>
            <a:endParaRPr lang="en-US" sz="28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01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EB98B-D654-4760-B58D-F437EDDC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F3B7BE-67FA-4B89-8710-77FE692F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Wider Bus Transaction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80E5F6-44DB-4096-BB08-1C75E1980B58}"/>
              </a:ext>
            </a:extLst>
          </p:cNvPr>
          <p:cNvSpPr txBox="1"/>
          <p:nvPr/>
        </p:nvSpPr>
        <p:spPr>
          <a:xfrm>
            <a:off x="544536" y="1045798"/>
            <a:ext cx="10660968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typedef </a:t>
            </a:r>
            <a:r>
              <a:rPr lang="en-US" sz="2000" b="1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ap_uint</a:t>
            </a:r>
            <a:r>
              <a:rPr lang="en-US" sz="2000" b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&lt;320&gt; MEM_TYPE;</a:t>
            </a:r>
          </a:p>
          <a:p>
            <a:endParaRPr lang="en-US" sz="2000" b="0" dirty="0"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void test(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MEM_TYPE 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A[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100*10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], ...) {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#pragma HLS interface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m_axi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port=A offset=slave bundle=mem</a:t>
            </a:r>
          </a:p>
          <a:p>
            <a:endParaRPr lang="en-US" sz="2000" b="0" dirty="0"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    FIX_TYPE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[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100*100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#pragma HLS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array_partition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variable=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cyclic factor=10</a:t>
            </a:r>
          </a:p>
          <a:p>
            <a:endParaRPr lang="en-US" sz="2000" b="0" dirty="0"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    for(int i = 0; i &lt; 100*10; i++) {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#pragma HLS pipeline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MEM_TYPE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= A[i];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		for(int ii = 0; ii &lt; 10; ii++) {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			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A_local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[i*10 + ii] =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.range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(0 + (ii*32), 31 + (ii*32));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		} 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    }}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	...	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F822F0-DC24-496A-BF46-E30412CBC2C9}"/>
              </a:ext>
            </a:extLst>
          </p:cNvPr>
          <p:cNvSpPr txBox="1"/>
          <p:nvPr/>
        </p:nvSpPr>
        <p:spPr>
          <a:xfrm>
            <a:off x="5557642" y="987285"/>
            <a:ext cx="6425955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1">
                <a:latin typeface="Corbel" panose="020B0503020204020204" pitchFamily="34" charset="0"/>
              </a:defRPr>
            </a:lvl1pPr>
          </a:lstStyle>
          <a:p>
            <a:r>
              <a:rPr lang="en-US" sz="2400" dirty="0">
                <a:latin typeface="Aptos Display" panose="020B0004020202020204" pitchFamily="34" charset="0"/>
              </a:rPr>
              <a:t>Create a customized wide data type – 320 bit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3B98EB-A352-45D4-AC5D-522F3C29A4E0}"/>
              </a:ext>
            </a:extLst>
          </p:cNvPr>
          <p:cNvSpPr txBox="1"/>
          <p:nvPr/>
        </p:nvSpPr>
        <p:spPr>
          <a:xfrm>
            <a:off x="5435722" y="5254362"/>
            <a:ext cx="6153150" cy="83099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400" b="1">
                <a:latin typeface="Corbel" panose="020B0503020204020204" pitchFamily="34" charset="0"/>
              </a:defRPr>
            </a:lvl1pPr>
          </a:lstStyle>
          <a:p>
            <a:r>
              <a:rPr lang="en-US" dirty="0">
                <a:latin typeface="Aptos Display" panose="020B0004020202020204" pitchFamily="34" charset="0"/>
              </a:rPr>
              <a:t>[INFO] Multiple burst reads of </a:t>
            </a:r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</a:rPr>
              <a:t>length 1000 </a:t>
            </a:r>
            <a:r>
              <a:rPr lang="en-US" dirty="0">
                <a:latin typeface="Aptos Display" panose="020B0004020202020204" pitchFamily="34" charset="0"/>
              </a:rPr>
              <a:t>and </a:t>
            </a:r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</a:rPr>
              <a:t>bit width 512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6469E2-8444-4F36-911F-17BC84677B43}"/>
              </a:ext>
            </a:extLst>
          </p:cNvPr>
          <p:cNvSpPr txBox="1"/>
          <p:nvPr/>
        </p:nvSpPr>
        <p:spPr>
          <a:xfrm>
            <a:off x="5538592" y="2429744"/>
            <a:ext cx="3770091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1">
                <a:latin typeface="Corbel" panose="020B0503020204020204" pitchFamily="34" charset="0"/>
              </a:defRPr>
            </a:lvl1pPr>
          </a:lstStyle>
          <a:p>
            <a:r>
              <a:rPr lang="en-US" sz="2400" dirty="0">
                <a:latin typeface="Aptos Display" panose="020B0004020202020204" pitchFamily="34" charset="0"/>
              </a:rPr>
              <a:t>Reorganize into 1D array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E6A507-3B06-49B5-ACD4-E87D3020AC3E}"/>
              </a:ext>
            </a:extLst>
          </p:cNvPr>
          <p:cNvSpPr txBox="1"/>
          <p:nvPr/>
        </p:nvSpPr>
        <p:spPr>
          <a:xfrm>
            <a:off x="5195692" y="3938373"/>
            <a:ext cx="3770091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1">
                <a:latin typeface="Corbel" panose="020B0503020204020204" pitchFamily="34" charset="0"/>
              </a:defRPr>
            </a:lvl1pPr>
          </a:lstStyle>
          <a:p>
            <a:r>
              <a:rPr lang="en-US" sz="2400" dirty="0">
                <a:latin typeface="Aptos Display" panose="020B0004020202020204" pitchFamily="34" charset="0"/>
              </a:rPr>
              <a:t>Read 320 bit at each cycle</a:t>
            </a:r>
          </a:p>
        </p:txBody>
      </p:sp>
      <p:pic>
        <p:nvPicPr>
          <p:cNvPr id="9" name="Graphic 8" descr="Badge Tick1 with solid fill">
            <a:extLst>
              <a:ext uri="{FF2B5EF4-FFF2-40B4-BE49-F238E27FC236}">
                <a16:creationId xmlns:a16="http://schemas.microsoft.com/office/drawing/2014/main" id="{193E6F10-7936-4082-85BC-137EE579A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8492" y="5230487"/>
            <a:ext cx="914400" cy="9144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3DB0A1F-ED01-29D6-BFE6-21652F904ED1}"/>
              </a:ext>
            </a:extLst>
          </p:cNvPr>
          <p:cNvCxnSpPr>
            <a:cxnSpLocks/>
          </p:cNvCxnSpPr>
          <p:nvPr/>
        </p:nvCxnSpPr>
        <p:spPr>
          <a:xfrm flipH="1">
            <a:off x="4892040" y="1263838"/>
            <a:ext cx="665602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7D36A2-CF37-C3F7-FD5D-C7D70B5996B7}"/>
              </a:ext>
            </a:extLst>
          </p:cNvPr>
          <p:cNvCxnSpPr>
            <a:cxnSpLocks/>
          </p:cNvCxnSpPr>
          <p:nvPr/>
        </p:nvCxnSpPr>
        <p:spPr>
          <a:xfrm flipH="1">
            <a:off x="4862891" y="2772598"/>
            <a:ext cx="665602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A82069-A710-30E0-92AE-67F51C764949}"/>
              </a:ext>
            </a:extLst>
          </p:cNvPr>
          <p:cNvCxnSpPr>
            <a:cxnSpLocks/>
          </p:cNvCxnSpPr>
          <p:nvPr/>
        </p:nvCxnSpPr>
        <p:spPr>
          <a:xfrm flipH="1">
            <a:off x="4530090" y="4288978"/>
            <a:ext cx="665602" cy="0"/>
          </a:xfrm>
          <a:prstGeom prst="straightConnector1">
            <a:avLst/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8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4" grpId="0" animBg="1"/>
      <p:bldP spid="15" grpId="0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524217-C951-819F-FDF8-B6F7C617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5"/>
            <a:ext cx="4724400" cy="5262563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hls</a:t>
            </a:r>
            <a:r>
              <a:rPr lang="en-US" dirty="0">
                <a:solidFill>
                  <a:schemeClr val="accent1"/>
                </a:solidFill>
              </a:rPr>
              <a:t>::vector&lt;T, N&gt;</a:t>
            </a:r>
            <a:r>
              <a:rPr lang="en-US" dirty="0"/>
              <a:t>: to model and synthesize single instruction multiple data (SIMD) type operations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T</a:t>
            </a:r>
            <a:r>
              <a:rPr lang="en-US" dirty="0"/>
              <a:t>: The type of elements in the vector; can be a user-defined type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N</a:t>
            </a:r>
            <a:r>
              <a:rPr lang="en-US" dirty="0"/>
              <a:t>: The number of elements that the vector holds</a:t>
            </a:r>
          </a:p>
          <a:p>
            <a:pPr lvl="1"/>
            <a:r>
              <a:rPr lang="en-US" dirty="0"/>
              <a:t>The best performance is achieved when both the bit-width of T and N are integer powers of 2</a:t>
            </a:r>
          </a:p>
          <a:p>
            <a:pPr lvl="1"/>
            <a:endParaRPr lang="en-US" dirty="0"/>
          </a:p>
          <a:p>
            <a:r>
              <a:rPr lang="en-US" dirty="0"/>
              <a:t>HLS will reconfigure the </a:t>
            </a:r>
            <a:r>
              <a:rPr lang="en-US" dirty="0">
                <a:solidFill>
                  <a:schemeClr val="accent1"/>
                </a:solidFill>
              </a:rPr>
              <a:t>BRAM port width</a:t>
            </a:r>
            <a:r>
              <a:rPr lang="en-US" dirty="0"/>
              <a:t> to support a vector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FCE03E-FBA4-3310-55C1-D5E611583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6B7128-6252-4764-E510-AC6E51158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HLS Vector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97321-FA41-4712-47BF-879327E0A086}"/>
              </a:ext>
            </a:extLst>
          </p:cNvPr>
          <p:cNvSpPr txBox="1"/>
          <p:nvPr/>
        </p:nvSpPr>
        <p:spPr>
          <a:xfrm>
            <a:off x="5222781" y="1293583"/>
            <a:ext cx="6606537" cy="3785652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typedef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::vector&lt;</a:t>
            </a:r>
            <a:r>
              <a:rPr lang="en-US" sz="16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, 8&gt; int8Vec; </a:t>
            </a:r>
          </a:p>
          <a:p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int8Vec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intVectorA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intVectorB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solidFill>
                <a:srgbClr val="444444"/>
              </a:solidFill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processVecStream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::stream&lt;int8Vec&gt; &amp;inVecStream1,</a:t>
            </a:r>
          </a:p>
          <a:p>
            <a:r>
              <a:rPr lang="en-US" sz="1600" dirty="0">
                <a:solidFill>
                  <a:srgbClr val="444444"/>
                </a:solidFill>
                <a:latin typeface="Consolas" panose="020B0609020204030204" pitchFamily="49" charset="0"/>
              </a:rPr>
              <a:t>                     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::stream&lt;int8Vec&gt; &amp;inVecStream2, </a:t>
            </a:r>
          </a:p>
          <a:p>
            <a:r>
              <a:rPr lang="en-US" sz="1600" dirty="0">
                <a:solidFill>
                  <a:srgbClr val="444444"/>
                </a:solidFill>
                <a:latin typeface="Consolas" panose="020B0609020204030204" pitchFamily="49" charset="0"/>
              </a:rPr>
              <a:t>                     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::stream&lt;int8Vec&gt; &amp;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outVecStream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en-US" sz="1600" dirty="0">
                <a:solidFill>
                  <a:srgbClr val="444444"/>
                </a:solidFill>
                <a:latin typeface="Consolas" panose="020B0609020204030204" pitchFamily="49" charset="0"/>
              </a:rPr>
              <a:t>    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for(</a:t>
            </a:r>
            <a:r>
              <a:rPr lang="en-US" sz="16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i=</a:t>
            </a:r>
            <a:r>
              <a:rPr lang="en-US" sz="16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;i&lt;</a:t>
            </a:r>
            <a:r>
              <a:rPr lang="en-US" sz="16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;i++) { </a:t>
            </a:r>
          </a:p>
          <a:p>
            <a:r>
              <a:rPr lang="en-US" sz="1600" b="0" i="0" dirty="0">
                <a:solidFill>
                  <a:srgbClr val="1F7199"/>
                </a:solidFill>
                <a:effectLst/>
                <a:latin typeface="Consolas" panose="020B0609020204030204" pitchFamily="49" charset="0"/>
              </a:rPr>
              <a:t>#pragma HLS pipeline II=1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444444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t_int8Vec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aVec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= inVecStream1.</a:t>
            </a:r>
            <a:r>
              <a:rPr lang="en-US" sz="1600" b="0" i="0" dirty="0">
                <a:solidFill>
                  <a:srgbClr val="39730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r>
              <a:rPr lang="en-US" sz="1600" dirty="0">
                <a:solidFill>
                  <a:srgbClr val="444444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t_int8Vec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bVec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= inVecStream2.</a:t>
            </a:r>
            <a:r>
              <a:rPr lang="en-US" sz="1600" b="0" i="0" dirty="0">
                <a:solidFill>
                  <a:srgbClr val="39730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r>
              <a:rPr lang="en-US" sz="1600" dirty="0">
                <a:solidFill>
                  <a:srgbClr val="444444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t_int8Vec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cVec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aVec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bVec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sz="1600" dirty="0">
                <a:solidFill>
                  <a:srgbClr val="444444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outVecStream.</a:t>
            </a:r>
            <a:r>
              <a:rPr lang="en-US" sz="1600" b="0" i="0" dirty="0" err="1">
                <a:solidFill>
                  <a:srgbClr val="397300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cVec</a:t>
            </a:r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   } </a:t>
            </a:r>
          </a:p>
          <a:p>
            <a:r>
              <a:rPr lang="en-US" sz="1600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8798A4-76CF-53E3-290E-19F90914C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131091"/>
              </p:ext>
            </p:extLst>
          </p:nvPr>
        </p:nvGraphicFramePr>
        <p:xfrm>
          <a:off x="6150609" y="5207371"/>
          <a:ext cx="53936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211">
                  <a:extLst>
                    <a:ext uri="{9D8B030D-6E8A-4147-A177-3AD203B41FA5}">
                      <a16:colId xmlns:a16="http://schemas.microsoft.com/office/drawing/2014/main" val="3969972150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446657036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1221554479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3146531529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907739994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1170226208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3900247662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1631949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17465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C1903B9-B2BF-10AC-35C0-C8EB518D0026}"/>
              </a:ext>
            </a:extLst>
          </p:cNvPr>
          <p:cNvSpPr txBox="1"/>
          <p:nvPr/>
        </p:nvSpPr>
        <p:spPr>
          <a:xfrm>
            <a:off x="5493763" y="5207371"/>
            <a:ext cx="656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ptos Display" panose="020B0004020202020204" pitchFamily="34" charset="0"/>
              </a:rPr>
              <a:t>aVec</a:t>
            </a:r>
            <a:endParaRPr lang="en-US" b="1" dirty="0">
              <a:latin typeface="Aptos Display" panose="020B00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3D7A691-47A5-3D7A-42C6-CE0B7D9D4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819757"/>
              </p:ext>
            </p:extLst>
          </p:nvPr>
        </p:nvGraphicFramePr>
        <p:xfrm>
          <a:off x="6150609" y="5761813"/>
          <a:ext cx="53936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211">
                  <a:extLst>
                    <a:ext uri="{9D8B030D-6E8A-4147-A177-3AD203B41FA5}">
                      <a16:colId xmlns:a16="http://schemas.microsoft.com/office/drawing/2014/main" val="3969972150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446657036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1221554479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3146531529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907739994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1170226208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3900247662"/>
                    </a:ext>
                  </a:extLst>
                </a:gridCol>
                <a:gridCol w="674211">
                  <a:extLst>
                    <a:ext uri="{9D8B030D-6E8A-4147-A177-3AD203B41FA5}">
                      <a16:colId xmlns:a16="http://schemas.microsoft.com/office/drawing/2014/main" val="1631949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17465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FDE2AC2-E798-E9DA-EB8D-92283E6BF8E3}"/>
              </a:ext>
            </a:extLst>
          </p:cNvPr>
          <p:cNvSpPr txBox="1"/>
          <p:nvPr/>
        </p:nvSpPr>
        <p:spPr>
          <a:xfrm>
            <a:off x="5493763" y="5761813"/>
            <a:ext cx="666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ptos Display" panose="020B0004020202020204" pitchFamily="34" charset="0"/>
              </a:rPr>
              <a:t>bVec</a:t>
            </a:r>
            <a:endParaRPr lang="en-US" b="1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489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A199F-9C1E-29D3-CC64-783682BCD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B0C2B3-6627-AFCC-C5AA-708CBA54A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Burst mode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Wide bus transaction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accent1"/>
                </a:solidFill>
              </a:rPr>
              <a:t>Double Buffer</a:t>
            </a:r>
          </a:p>
          <a:p>
            <a:pPr>
              <a:lnSpc>
                <a:spcPct val="150000"/>
              </a:lnSpc>
            </a:pPr>
            <a:r>
              <a:rPr lang="en-US" altLang="zh-CN" sz="3200" dirty="0"/>
              <a:t>Streaming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C/RTL Co-simulation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932ABE-C04F-EF95-EBB0-350CA5E9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D85F21-7594-868E-3A6A-BD40D1047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061682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67AD5C-79DB-417F-95D9-322911AFC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89072"/>
          </a:xfrm>
        </p:spPr>
        <p:txBody>
          <a:bodyPr>
            <a:normAutofit/>
          </a:bodyPr>
          <a:lstStyle/>
          <a:p>
            <a:r>
              <a:rPr lang="en-US" sz="3200" dirty="0"/>
              <a:t>Read-Execute-Write create dependency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7257B4-6607-4B2E-B402-05AE0433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EF0DF7-A176-4813-AB3F-78D739B5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Buffer Limitation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809678-CC3F-4DF1-A3DE-2131A998D0E5}"/>
              </a:ext>
            </a:extLst>
          </p:cNvPr>
          <p:cNvGrpSpPr/>
          <p:nvPr/>
        </p:nvGrpSpPr>
        <p:grpSpPr>
          <a:xfrm>
            <a:off x="5354286" y="3194913"/>
            <a:ext cx="1709503" cy="1226825"/>
            <a:chOff x="5765213" y="3116575"/>
            <a:chExt cx="1709503" cy="12268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0BD0DB-C015-4718-B04B-CEA395E3990F}"/>
                </a:ext>
              </a:extLst>
            </p:cNvPr>
            <p:cNvSpPr/>
            <p:nvPr/>
          </p:nvSpPr>
          <p:spPr>
            <a:xfrm>
              <a:off x="5765213" y="3116575"/>
              <a:ext cx="1709503" cy="122682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 descr="Labor with solid fill">
              <a:extLst>
                <a:ext uri="{FF2B5EF4-FFF2-40B4-BE49-F238E27FC236}">
                  <a16:creationId xmlns:a16="http://schemas.microsoft.com/office/drawing/2014/main" id="{9ABE915D-A8C4-4D4D-81C9-92F5F90B3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62764" y="3272787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FBB7807-A8AB-4676-A37C-3CAD135400AD}"/>
              </a:ext>
            </a:extLst>
          </p:cNvPr>
          <p:cNvGrpSpPr>
            <a:grpSpLocks noChangeAspect="1"/>
          </p:cNvGrpSpPr>
          <p:nvPr/>
        </p:nvGrpSpPr>
        <p:grpSpPr>
          <a:xfrm>
            <a:off x="3998159" y="3082877"/>
            <a:ext cx="867357" cy="1450896"/>
            <a:chOff x="1977728" y="3055856"/>
            <a:chExt cx="963732" cy="161210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C1FA59-6698-4D88-B674-EF3E98CBC09F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Disk with solid fill">
              <a:extLst>
                <a:ext uri="{FF2B5EF4-FFF2-40B4-BE49-F238E27FC236}">
                  <a16:creationId xmlns:a16="http://schemas.microsoft.com/office/drawing/2014/main" id="{F8E16111-7B0E-4F6E-B414-8DCD6843B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A580D5A-CED6-4381-872A-59EB154C64FD}"/>
              </a:ext>
            </a:extLst>
          </p:cNvPr>
          <p:cNvGrpSpPr/>
          <p:nvPr/>
        </p:nvGrpSpPr>
        <p:grpSpPr>
          <a:xfrm>
            <a:off x="1191819" y="2481943"/>
            <a:ext cx="914400" cy="2652765"/>
            <a:chOff x="602111" y="2717978"/>
            <a:chExt cx="914400" cy="265276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1CBC1B7-B2C7-44BD-B7E5-4D2BEB59BED0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accent4"/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 descr="Database with solid fill">
              <a:extLst>
                <a:ext uri="{FF2B5EF4-FFF2-40B4-BE49-F238E27FC236}">
                  <a16:creationId xmlns:a16="http://schemas.microsoft.com/office/drawing/2014/main" id="{2532239E-4FF3-44C9-A2FB-FABA798AC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9673495-0A9E-4FFC-BAAC-5149BF4E47C5}"/>
              </a:ext>
            </a:extLst>
          </p:cNvPr>
          <p:cNvGrpSpPr/>
          <p:nvPr/>
        </p:nvGrpSpPr>
        <p:grpSpPr>
          <a:xfrm>
            <a:off x="10311858" y="2481943"/>
            <a:ext cx="914400" cy="2652765"/>
            <a:chOff x="602111" y="2717978"/>
            <a:chExt cx="914400" cy="265276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A10FF48-3C2A-4192-8850-A15B7C1198CC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accent4"/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Database with solid fill">
              <a:extLst>
                <a:ext uri="{FF2B5EF4-FFF2-40B4-BE49-F238E27FC236}">
                  <a16:creationId xmlns:a16="http://schemas.microsoft.com/office/drawing/2014/main" id="{A836040E-FE62-4423-B055-D7DA71593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FDBC811-9D01-4577-8204-5453612C7193}"/>
              </a:ext>
            </a:extLst>
          </p:cNvPr>
          <p:cNvGrpSpPr/>
          <p:nvPr/>
        </p:nvGrpSpPr>
        <p:grpSpPr>
          <a:xfrm>
            <a:off x="2594989" y="3285024"/>
            <a:ext cx="914400" cy="1046603"/>
            <a:chOff x="2996221" y="5044273"/>
            <a:chExt cx="914400" cy="104660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00572A-476D-4E5F-8FBD-139F64FEE166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Graphic 48" descr="Quill with solid fill">
              <a:extLst>
                <a:ext uri="{FF2B5EF4-FFF2-40B4-BE49-F238E27FC236}">
                  <a16:creationId xmlns:a16="http://schemas.microsoft.com/office/drawing/2014/main" id="{2A46E9E8-9244-4A74-946D-D9C97387D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DDD21D1-2FCE-4EE5-8056-99B236599CD1}"/>
              </a:ext>
            </a:extLst>
          </p:cNvPr>
          <p:cNvGrpSpPr>
            <a:grpSpLocks noChangeAspect="1"/>
          </p:cNvGrpSpPr>
          <p:nvPr/>
        </p:nvGrpSpPr>
        <p:grpSpPr>
          <a:xfrm>
            <a:off x="7552559" y="3082877"/>
            <a:ext cx="867357" cy="1450896"/>
            <a:chOff x="1977728" y="3055856"/>
            <a:chExt cx="963732" cy="1612108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CA48E52-2F2D-434E-B566-54AED6FCF333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8" name="Graphic 67" descr="Disk with solid fill">
              <a:extLst>
                <a:ext uri="{FF2B5EF4-FFF2-40B4-BE49-F238E27FC236}">
                  <a16:creationId xmlns:a16="http://schemas.microsoft.com/office/drawing/2014/main" id="{1A059768-4430-4B4F-BD72-CD51965EB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D14DFC9-AC63-482F-A278-794B5C5F2995}"/>
              </a:ext>
            </a:extLst>
          </p:cNvPr>
          <p:cNvGrpSpPr/>
          <p:nvPr/>
        </p:nvGrpSpPr>
        <p:grpSpPr>
          <a:xfrm>
            <a:off x="8908686" y="3285024"/>
            <a:ext cx="914400" cy="1046603"/>
            <a:chOff x="2996221" y="5044273"/>
            <a:chExt cx="914400" cy="104660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3073D6E-AC9A-4FD4-9C1C-B25B37F3B4C1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" name="Graphic 70" descr="Quill with solid fill">
              <a:extLst>
                <a:ext uri="{FF2B5EF4-FFF2-40B4-BE49-F238E27FC236}">
                  <a16:creationId xmlns:a16="http://schemas.microsoft.com/office/drawing/2014/main" id="{455E1C95-EA9B-4B85-99A4-A0BC685C2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16C67DE-0680-469D-A2C3-278940450D18}"/>
              </a:ext>
            </a:extLst>
          </p:cNvPr>
          <p:cNvCxnSpPr>
            <a:cxnSpLocks/>
          </p:cNvCxnSpPr>
          <p:nvPr/>
        </p:nvCxnSpPr>
        <p:spPr>
          <a:xfrm>
            <a:off x="2054892" y="3798277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22BC51F-E675-4877-B241-49C1ABB9C931}"/>
              </a:ext>
            </a:extLst>
          </p:cNvPr>
          <p:cNvCxnSpPr>
            <a:cxnSpLocks/>
          </p:cNvCxnSpPr>
          <p:nvPr/>
        </p:nvCxnSpPr>
        <p:spPr>
          <a:xfrm>
            <a:off x="345806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5590600-171F-4067-8042-8957D99E1E57}"/>
              </a:ext>
            </a:extLst>
          </p:cNvPr>
          <p:cNvCxnSpPr>
            <a:cxnSpLocks/>
          </p:cNvCxnSpPr>
          <p:nvPr/>
        </p:nvCxnSpPr>
        <p:spPr>
          <a:xfrm>
            <a:off x="48451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81DE29E-A931-45BB-9809-CB1C8CB71B0A}"/>
              </a:ext>
            </a:extLst>
          </p:cNvPr>
          <p:cNvCxnSpPr>
            <a:cxnSpLocks/>
          </p:cNvCxnSpPr>
          <p:nvPr/>
        </p:nvCxnSpPr>
        <p:spPr>
          <a:xfrm>
            <a:off x="7036487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45AFCC7-A80A-40EA-9817-C8CE54F83ABE}"/>
              </a:ext>
            </a:extLst>
          </p:cNvPr>
          <p:cNvCxnSpPr>
            <a:cxnSpLocks/>
          </p:cNvCxnSpPr>
          <p:nvPr/>
        </p:nvCxnSpPr>
        <p:spPr>
          <a:xfrm>
            <a:off x="83995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7BD40B2-0F3F-4166-829F-5E3F851F21CB}"/>
              </a:ext>
            </a:extLst>
          </p:cNvPr>
          <p:cNvCxnSpPr>
            <a:cxnSpLocks/>
          </p:cNvCxnSpPr>
          <p:nvPr/>
        </p:nvCxnSpPr>
        <p:spPr>
          <a:xfrm>
            <a:off x="9794780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itle 1">
            <a:extLst>
              <a:ext uri="{FF2B5EF4-FFF2-40B4-BE49-F238E27FC236}">
                <a16:creationId xmlns:a16="http://schemas.microsoft.com/office/drawing/2014/main" id="{2EA5F8CF-056B-459A-8F57-6DBC1DBEBB1C}"/>
              </a:ext>
            </a:extLst>
          </p:cNvPr>
          <p:cNvSpPr txBox="1">
            <a:spLocks/>
          </p:cNvSpPr>
          <p:nvPr/>
        </p:nvSpPr>
        <p:spPr>
          <a:xfrm>
            <a:off x="4827856" y="2197222"/>
            <a:ext cx="2695428" cy="10700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Execution 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PE</a:t>
            </a:r>
            <a:endParaRPr lang="en-US" sz="1600" i="1" dirty="0">
              <a:solidFill>
                <a:schemeClr val="accent6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951265EF-79CB-4A51-8842-7BEEB26429F4}"/>
              </a:ext>
            </a:extLst>
          </p:cNvPr>
          <p:cNvSpPr txBox="1">
            <a:spLocks/>
          </p:cNvSpPr>
          <p:nvPr/>
        </p:nvSpPr>
        <p:spPr>
          <a:xfrm>
            <a:off x="3039676" y="4557222"/>
            <a:ext cx="2888211" cy="13244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Aptos Display" panose="020B0004020202020204" pitchFamily="34" charset="0"/>
              </a:rPr>
              <a:t>Input Buffer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Aptos Display" panose="020B0004020202020204" pitchFamily="34" charset="0"/>
              </a:rPr>
              <a:t>(BRAM)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83" name="Title 1">
            <a:extLst>
              <a:ext uri="{FF2B5EF4-FFF2-40B4-BE49-F238E27FC236}">
                <a16:creationId xmlns:a16="http://schemas.microsoft.com/office/drawing/2014/main" id="{F9234400-6AA8-4C61-93CD-67D4121AD122}"/>
              </a:ext>
            </a:extLst>
          </p:cNvPr>
          <p:cNvSpPr txBox="1">
            <a:spLocks/>
          </p:cNvSpPr>
          <p:nvPr/>
        </p:nvSpPr>
        <p:spPr>
          <a:xfrm>
            <a:off x="1893400" y="2330989"/>
            <a:ext cx="2222298" cy="11686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1"/>
                </a:solidFill>
                <a:latin typeface="Aptos Display" panose="020B0004020202020204" pitchFamily="34" charset="0"/>
              </a:rPr>
              <a:t>Load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1"/>
                </a:solidFill>
                <a:latin typeface="Aptos Display" panose="020B0004020202020204" pitchFamily="34" charset="0"/>
              </a:rPr>
              <a:t>PE</a:t>
            </a:r>
            <a:endParaRPr lang="en-US" sz="1600" i="1" dirty="0">
              <a:solidFill>
                <a:schemeClr val="accent1"/>
              </a:solidFill>
              <a:latin typeface="Aptos Display" panose="020B0004020202020204" pitchFamily="34" charset="0"/>
            </a:endParaRPr>
          </a:p>
        </p:txBody>
      </p:sp>
      <p:sp>
        <p:nvSpPr>
          <p:cNvPr id="84" name="Title 1">
            <a:extLst>
              <a:ext uri="{FF2B5EF4-FFF2-40B4-BE49-F238E27FC236}">
                <a16:creationId xmlns:a16="http://schemas.microsoft.com/office/drawing/2014/main" id="{7892FAAB-758A-48FF-9D15-9A3234CF8D3D}"/>
              </a:ext>
            </a:extLst>
          </p:cNvPr>
          <p:cNvSpPr txBox="1">
            <a:spLocks/>
          </p:cNvSpPr>
          <p:nvPr/>
        </p:nvSpPr>
        <p:spPr>
          <a:xfrm>
            <a:off x="8159214" y="2274944"/>
            <a:ext cx="2222298" cy="11686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1"/>
                </a:solidFill>
                <a:latin typeface="Aptos Display" panose="020B0004020202020204" pitchFamily="34" charset="0"/>
              </a:rPr>
              <a:t>Store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1"/>
                </a:solidFill>
                <a:latin typeface="Aptos Display" panose="020B0004020202020204" pitchFamily="34" charset="0"/>
              </a:rPr>
              <a:t>PE</a:t>
            </a:r>
            <a:endParaRPr lang="en-US" sz="1600" i="1" dirty="0">
              <a:solidFill>
                <a:schemeClr val="accent1"/>
              </a:solidFill>
              <a:latin typeface="Aptos Display" panose="020B0004020202020204" pitchFamily="34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086A55D8-6DE9-420E-988E-1D67FD7A70AF}"/>
              </a:ext>
            </a:extLst>
          </p:cNvPr>
          <p:cNvSpPr txBox="1">
            <a:spLocks/>
          </p:cNvSpPr>
          <p:nvPr/>
        </p:nvSpPr>
        <p:spPr>
          <a:xfrm>
            <a:off x="861937" y="5211645"/>
            <a:ext cx="1573157" cy="5310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Aptos Display" panose="020B0004020202020204" pitchFamily="34" charset="0"/>
              </a:rPr>
              <a:t>DRAM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86" name="Title 1">
            <a:extLst>
              <a:ext uri="{FF2B5EF4-FFF2-40B4-BE49-F238E27FC236}">
                <a16:creationId xmlns:a16="http://schemas.microsoft.com/office/drawing/2014/main" id="{E791ACFC-64DE-4112-9C9A-F39252A28BEC}"/>
              </a:ext>
            </a:extLst>
          </p:cNvPr>
          <p:cNvSpPr txBox="1">
            <a:spLocks/>
          </p:cNvSpPr>
          <p:nvPr/>
        </p:nvSpPr>
        <p:spPr>
          <a:xfrm>
            <a:off x="9981976" y="5211644"/>
            <a:ext cx="1573157" cy="5310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Aptos Display" panose="020B0004020202020204" pitchFamily="34" charset="0"/>
              </a:rPr>
              <a:t>DRAM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87" name="Title 1">
            <a:extLst>
              <a:ext uri="{FF2B5EF4-FFF2-40B4-BE49-F238E27FC236}">
                <a16:creationId xmlns:a16="http://schemas.microsoft.com/office/drawing/2014/main" id="{4CA5D9ED-25A0-4CA3-A3C4-308B44CBBC04}"/>
              </a:ext>
            </a:extLst>
          </p:cNvPr>
          <p:cNvSpPr txBox="1">
            <a:spLocks/>
          </p:cNvSpPr>
          <p:nvPr/>
        </p:nvSpPr>
        <p:spPr>
          <a:xfrm>
            <a:off x="6569631" y="4527593"/>
            <a:ext cx="2888211" cy="13244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Aptos Display" panose="020B0004020202020204" pitchFamily="34" charset="0"/>
              </a:rPr>
              <a:t>Output Buffer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Aptos Display" panose="020B0004020202020204" pitchFamily="34" charset="0"/>
              </a:rPr>
              <a:t>(BRAM)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FEFE6356-7C35-4F28-B4B6-DE6BFCD81CCF}"/>
              </a:ext>
            </a:extLst>
          </p:cNvPr>
          <p:cNvSpPr txBox="1">
            <a:spLocks/>
          </p:cNvSpPr>
          <p:nvPr/>
        </p:nvSpPr>
        <p:spPr>
          <a:xfrm>
            <a:off x="290769" y="5994057"/>
            <a:ext cx="4393168" cy="396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2400" b="0" i="1" dirty="0">
                <a:solidFill>
                  <a:schemeClr val="tx1"/>
                </a:solidFill>
                <a:latin typeface="Aptos Display" panose="020B0004020202020204" pitchFamily="34" charset="0"/>
              </a:rPr>
              <a:t>*PE: processing element</a:t>
            </a:r>
            <a:endParaRPr lang="en-US" sz="1400" b="0" i="1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0B2001-207C-1407-7356-EEF4B12E2B98}"/>
              </a:ext>
            </a:extLst>
          </p:cNvPr>
          <p:cNvSpPr txBox="1"/>
          <p:nvPr/>
        </p:nvSpPr>
        <p:spPr>
          <a:xfrm>
            <a:off x="3965328" y="2491915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87C3B7-D477-5A9F-7BA5-7ABF8E3C63ED}"/>
              </a:ext>
            </a:extLst>
          </p:cNvPr>
          <p:cNvSpPr txBox="1"/>
          <p:nvPr/>
        </p:nvSpPr>
        <p:spPr>
          <a:xfrm>
            <a:off x="7411306" y="2489090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buf2</a:t>
            </a:r>
          </a:p>
        </p:txBody>
      </p:sp>
    </p:spTree>
    <p:extLst>
      <p:ext uri="{BB962C8B-B14F-4D97-AF65-F5344CB8AC3E}">
        <p14:creationId xmlns:p14="http://schemas.microsoft.com/office/powerpoint/2010/main" val="3868375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67AD5C-79DB-417F-95D9-322911AFC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89072"/>
          </a:xfrm>
        </p:spPr>
        <p:txBody>
          <a:bodyPr>
            <a:normAutofit/>
          </a:bodyPr>
          <a:lstStyle/>
          <a:p>
            <a:r>
              <a:rPr lang="en-US" sz="3200" dirty="0"/>
              <a:t>Read-Execute-Write create dependency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7257B4-6607-4B2E-B402-05AE0433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EF0DF7-A176-4813-AB3F-78D739B5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Buffer Limitation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809678-CC3F-4DF1-A3DE-2131A998D0E5}"/>
              </a:ext>
            </a:extLst>
          </p:cNvPr>
          <p:cNvGrpSpPr/>
          <p:nvPr/>
        </p:nvGrpSpPr>
        <p:grpSpPr>
          <a:xfrm>
            <a:off x="5354286" y="3194913"/>
            <a:ext cx="1709503" cy="1226825"/>
            <a:chOff x="5765213" y="3116575"/>
            <a:chExt cx="1709503" cy="12268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0BD0DB-C015-4718-B04B-CEA395E3990F}"/>
                </a:ext>
              </a:extLst>
            </p:cNvPr>
            <p:cNvSpPr/>
            <p:nvPr/>
          </p:nvSpPr>
          <p:spPr>
            <a:xfrm>
              <a:off x="5765213" y="3116575"/>
              <a:ext cx="1709503" cy="1226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 descr="Labor with solid fill">
              <a:extLst>
                <a:ext uri="{FF2B5EF4-FFF2-40B4-BE49-F238E27FC236}">
                  <a16:creationId xmlns:a16="http://schemas.microsoft.com/office/drawing/2014/main" id="{9ABE915D-A8C4-4D4D-81C9-92F5F90B3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62764" y="3272787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FBB7807-A8AB-4676-A37C-3CAD135400AD}"/>
              </a:ext>
            </a:extLst>
          </p:cNvPr>
          <p:cNvGrpSpPr>
            <a:grpSpLocks noChangeAspect="1"/>
          </p:cNvGrpSpPr>
          <p:nvPr/>
        </p:nvGrpSpPr>
        <p:grpSpPr>
          <a:xfrm>
            <a:off x="3998159" y="3082877"/>
            <a:ext cx="867357" cy="1450896"/>
            <a:chOff x="1977728" y="3055856"/>
            <a:chExt cx="963732" cy="161210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C1FA59-6698-4D88-B674-EF3E98CBC09F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Disk with solid fill">
              <a:extLst>
                <a:ext uri="{FF2B5EF4-FFF2-40B4-BE49-F238E27FC236}">
                  <a16:creationId xmlns:a16="http://schemas.microsoft.com/office/drawing/2014/main" id="{F8E16111-7B0E-4F6E-B414-8DCD6843B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A580D5A-CED6-4381-872A-59EB154C64FD}"/>
              </a:ext>
            </a:extLst>
          </p:cNvPr>
          <p:cNvGrpSpPr/>
          <p:nvPr/>
        </p:nvGrpSpPr>
        <p:grpSpPr>
          <a:xfrm>
            <a:off x="1191819" y="2481943"/>
            <a:ext cx="914400" cy="2652765"/>
            <a:chOff x="602111" y="2717978"/>
            <a:chExt cx="914400" cy="265276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1CBC1B7-B2C7-44BD-B7E5-4D2BEB59BED0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accent4"/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 descr="Database with solid fill">
              <a:extLst>
                <a:ext uri="{FF2B5EF4-FFF2-40B4-BE49-F238E27FC236}">
                  <a16:creationId xmlns:a16="http://schemas.microsoft.com/office/drawing/2014/main" id="{2532239E-4FF3-44C9-A2FB-FABA798AC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9673495-0A9E-4FFC-BAAC-5149BF4E47C5}"/>
              </a:ext>
            </a:extLst>
          </p:cNvPr>
          <p:cNvGrpSpPr/>
          <p:nvPr/>
        </p:nvGrpSpPr>
        <p:grpSpPr>
          <a:xfrm>
            <a:off x="10311858" y="2481943"/>
            <a:ext cx="914400" cy="2652765"/>
            <a:chOff x="602111" y="2717978"/>
            <a:chExt cx="914400" cy="265276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A10FF48-3C2A-4192-8850-A15B7C1198CC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Database with solid fill">
              <a:extLst>
                <a:ext uri="{FF2B5EF4-FFF2-40B4-BE49-F238E27FC236}">
                  <a16:creationId xmlns:a16="http://schemas.microsoft.com/office/drawing/2014/main" id="{A836040E-FE62-4423-B055-D7DA71593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FDBC811-9D01-4577-8204-5453612C7193}"/>
              </a:ext>
            </a:extLst>
          </p:cNvPr>
          <p:cNvGrpSpPr/>
          <p:nvPr/>
        </p:nvGrpSpPr>
        <p:grpSpPr>
          <a:xfrm>
            <a:off x="2594989" y="3285024"/>
            <a:ext cx="914400" cy="1046603"/>
            <a:chOff x="2996221" y="5044273"/>
            <a:chExt cx="914400" cy="104660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00572A-476D-4E5F-8FBD-139F64FEE166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Graphic 48" descr="Quill with solid fill">
              <a:extLst>
                <a:ext uri="{FF2B5EF4-FFF2-40B4-BE49-F238E27FC236}">
                  <a16:creationId xmlns:a16="http://schemas.microsoft.com/office/drawing/2014/main" id="{2A46E9E8-9244-4A74-946D-D9C97387D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DDD21D1-2FCE-4EE5-8056-99B236599CD1}"/>
              </a:ext>
            </a:extLst>
          </p:cNvPr>
          <p:cNvGrpSpPr>
            <a:grpSpLocks noChangeAspect="1"/>
          </p:cNvGrpSpPr>
          <p:nvPr/>
        </p:nvGrpSpPr>
        <p:grpSpPr>
          <a:xfrm>
            <a:off x="7552559" y="3082877"/>
            <a:ext cx="867357" cy="1450896"/>
            <a:chOff x="1977728" y="3055856"/>
            <a:chExt cx="963732" cy="1612108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CA48E52-2F2D-434E-B566-54AED6FCF333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8" name="Graphic 67" descr="Disk with solid fill">
              <a:extLst>
                <a:ext uri="{FF2B5EF4-FFF2-40B4-BE49-F238E27FC236}">
                  <a16:creationId xmlns:a16="http://schemas.microsoft.com/office/drawing/2014/main" id="{1A059768-4430-4B4F-BD72-CD51965EB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D14DFC9-AC63-482F-A278-794B5C5F2995}"/>
              </a:ext>
            </a:extLst>
          </p:cNvPr>
          <p:cNvGrpSpPr/>
          <p:nvPr/>
        </p:nvGrpSpPr>
        <p:grpSpPr>
          <a:xfrm>
            <a:off x="8908686" y="3285024"/>
            <a:ext cx="914400" cy="1046603"/>
            <a:chOff x="2996221" y="5044273"/>
            <a:chExt cx="914400" cy="104660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3073D6E-AC9A-4FD4-9C1C-B25B37F3B4C1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" name="Graphic 70" descr="Quill with solid fill">
              <a:extLst>
                <a:ext uri="{FF2B5EF4-FFF2-40B4-BE49-F238E27FC236}">
                  <a16:creationId xmlns:a16="http://schemas.microsoft.com/office/drawing/2014/main" id="{455E1C95-EA9B-4B85-99A4-A0BC685C2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16C67DE-0680-469D-A2C3-278940450D18}"/>
              </a:ext>
            </a:extLst>
          </p:cNvPr>
          <p:cNvCxnSpPr>
            <a:cxnSpLocks/>
          </p:cNvCxnSpPr>
          <p:nvPr/>
        </p:nvCxnSpPr>
        <p:spPr>
          <a:xfrm>
            <a:off x="2054892" y="3798277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22BC51F-E675-4877-B241-49C1ABB9C931}"/>
              </a:ext>
            </a:extLst>
          </p:cNvPr>
          <p:cNvCxnSpPr>
            <a:cxnSpLocks/>
          </p:cNvCxnSpPr>
          <p:nvPr/>
        </p:nvCxnSpPr>
        <p:spPr>
          <a:xfrm>
            <a:off x="345806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5590600-171F-4067-8042-8957D99E1E57}"/>
              </a:ext>
            </a:extLst>
          </p:cNvPr>
          <p:cNvCxnSpPr>
            <a:cxnSpLocks/>
          </p:cNvCxnSpPr>
          <p:nvPr/>
        </p:nvCxnSpPr>
        <p:spPr>
          <a:xfrm>
            <a:off x="48451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81DE29E-A931-45BB-9809-CB1C8CB71B0A}"/>
              </a:ext>
            </a:extLst>
          </p:cNvPr>
          <p:cNvCxnSpPr>
            <a:cxnSpLocks/>
          </p:cNvCxnSpPr>
          <p:nvPr/>
        </p:nvCxnSpPr>
        <p:spPr>
          <a:xfrm>
            <a:off x="7036487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45AFCC7-A80A-40EA-9817-C8CE54F83ABE}"/>
              </a:ext>
            </a:extLst>
          </p:cNvPr>
          <p:cNvCxnSpPr>
            <a:cxnSpLocks/>
          </p:cNvCxnSpPr>
          <p:nvPr/>
        </p:nvCxnSpPr>
        <p:spPr>
          <a:xfrm>
            <a:off x="83995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7BD40B2-0F3F-4166-829F-5E3F851F21CB}"/>
              </a:ext>
            </a:extLst>
          </p:cNvPr>
          <p:cNvCxnSpPr>
            <a:cxnSpLocks/>
          </p:cNvCxnSpPr>
          <p:nvPr/>
        </p:nvCxnSpPr>
        <p:spPr>
          <a:xfrm>
            <a:off x="9794780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1BBF89-D7EB-4BD0-BDCC-7FA7EF56C3F1}"/>
              </a:ext>
            </a:extLst>
          </p:cNvPr>
          <p:cNvSpPr/>
          <p:nvPr/>
        </p:nvSpPr>
        <p:spPr>
          <a:xfrm>
            <a:off x="1021918" y="2214472"/>
            <a:ext cx="4026346" cy="3371344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D9B592-E0B2-457A-9284-1094BF4AAD99}"/>
              </a:ext>
            </a:extLst>
          </p:cNvPr>
          <p:cNvSpPr txBox="1"/>
          <p:nvPr/>
        </p:nvSpPr>
        <p:spPr>
          <a:xfrm>
            <a:off x="2599179" y="5528266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Load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2AC1B9-70C7-0BB9-0334-535BB06FF9F5}"/>
              </a:ext>
            </a:extLst>
          </p:cNvPr>
          <p:cNvSpPr txBox="1"/>
          <p:nvPr/>
        </p:nvSpPr>
        <p:spPr>
          <a:xfrm>
            <a:off x="5385239" y="5079878"/>
            <a:ext cx="40263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ptos Display" panose="020B0004020202020204" pitchFamily="34" charset="0"/>
              </a:rPr>
              <a:t>Cannot execute on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buf1</a:t>
            </a:r>
            <a:r>
              <a:rPr lang="en-US" sz="2400" dirty="0">
                <a:latin typeface="Aptos Display" panose="020B0004020202020204" pitchFamily="34" charset="0"/>
              </a:rPr>
              <a:t> if the load function is unfinished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CC7864-2E2C-D3C0-C99D-549FFFA8E6D8}"/>
              </a:ext>
            </a:extLst>
          </p:cNvPr>
          <p:cNvSpPr txBox="1"/>
          <p:nvPr/>
        </p:nvSpPr>
        <p:spPr>
          <a:xfrm>
            <a:off x="3965328" y="2491915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84A877-F91B-3A0B-C945-F50C77ABBE51}"/>
              </a:ext>
            </a:extLst>
          </p:cNvPr>
          <p:cNvCxnSpPr>
            <a:cxnSpLocks/>
          </p:cNvCxnSpPr>
          <p:nvPr/>
        </p:nvCxnSpPr>
        <p:spPr>
          <a:xfrm flipV="1">
            <a:off x="6301740" y="4533773"/>
            <a:ext cx="0" cy="5461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610D0B5-94CF-48AB-D39A-793B39D1E7AE}"/>
              </a:ext>
            </a:extLst>
          </p:cNvPr>
          <p:cNvSpPr txBox="1"/>
          <p:nvPr/>
        </p:nvSpPr>
        <p:spPr>
          <a:xfrm>
            <a:off x="7411306" y="2489090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buf2</a:t>
            </a:r>
          </a:p>
        </p:txBody>
      </p:sp>
    </p:spTree>
    <p:extLst>
      <p:ext uri="{BB962C8B-B14F-4D97-AF65-F5344CB8AC3E}">
        <p14:creationId xmlns:p14="http://schemas.microsoft.com/office/powerpoint/2010/main" val="395795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E25D291-DE3A-4BB7-8635-12CB326541B1}"/>
              </a:ext>
            </a:extLst>
          </p:cNvPr>
          <p:cNvSpPr/>
          <p:nvPr/>
        </p:nvSpPr>
        <p:spPr>
          <a:xfrm>
            <a:off x="5354286" y="3194913"/>
            <a:ext cx="1709503" cy="12268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67AD5C-79DB-417F-95D9-322911AFC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89072"/>
          </a:xfrm>
        </p:spPr>
        <p:txBody>
          <a:bodyPr>
            <a:normAutofit/>
          </a:bodyPr>
          <a:lstStyle/>
          <a:p>
            <a:r>
              <a:rPr lang="en-US" sz="3200" dirty="0"/>
              <a:t>Read-Execute-Write create dependency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7257B4-6607-4B2E-B402-05AE0433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EF0DF7-A176-4813-AB3F-78D739B5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Buffer Limitation</a:t>
            </a:r>
          </a:p>
        </p:txBody>
      </p:sp>
      <p:pic>
        <p:nvPicPr>
          <p:cNvPr id="9" name="Graphic 8" descr="Labor with solid fill">
            <a:extLst>
              <a:ext uri="{FF2B5EF4-FFF2-40B4-BE49-F238E27FC236}">
                <a16:creationId xmlns:a16="http://schemas.microsoft.com/office/drawing/2014/main" id="{9ABE915D-A8C4-4D4D-81C9-92F5F90B3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1837" y="3351125"/>
            <a:ext cx="914400" cy="9144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FBB7807-A8AB-4676-A37C-3CAD135400AD}"/>
              </a:ext>
            </a:extLst>
          </p:cNvPr>
          <p:cNvGrpSpPr>
            <a:grpSpLocks noChangeAspect="1"/>
          </p:cNvGrpSpPr>
          <p:nvPr/>
        </p:nvGrpSpPr>
        <p:grpSpPr>
          <a:xfrm>
            <a:off x="3998159" y="3082877"/>
            <a:ext cx="867357" cy="1450896"/>
            <a:chOff x="1977728" y="3055856"/>
            <a:chExt cx="963732" cy="161210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C1FA59-6698-4D88-B674-EF3E98CBC09F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Disk with solid fill">
              <a:extLst>
                <a:ext uri="{FF2B5EF4-FFF2-40B4-BE49-F238E27FC236}">
                  <a16:creationId xmlns:a16="http://schemas.microsoft.com/office/drawing/2014/main" id="{F8E16111-7B0E-4F6E-B414-8DCD6843B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A580D5A-CED6-4381-872A-59EB154C64FD}"/>
              </a:ext>
            </a:extLst>
          </p:cNvPr>
          <p:cNvGrpSpPr/>
          <p:nvPr/>
        </p:nvGrpSpPr>
        <p:grpSpPr>
          <a:xfrm>
            <a:off x="1191819" y="2481943"/>
            <a:ext cx="914400" cy="2652765"/>
            <a:chOff x="602111" y="2717978"/>
            <a:chExt cx="914400" cy="265276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1CBC1B7-B2C7-44BD-B7E5-4D2BEB59BED0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 descr="Database with solid fill">
              <a:extLst>
                <a:ext uri="{FF2B5EF4-FFF2-40B4-BE49-F238E27FC236}">
                  <a16:creationId xmlns:a16="http://schemas.microsoft.com/office/drawing/2014/main" id="{2532239E-4FF3-44C9-A2FB-FABA798AC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9673495-0A9E-4FFC-BAAC-5149BF4E47C5}"/>
              </a:ext>
            </a:extLst>
          </p:cNvPr>
          <p:cNvGrpSpPr/>
          <p:nvPr/>
        </p:nvGrpSpPr>
        <p:grpSpPr>
          <a:xfrm>
            <a:off x="10311858" y="2481943"/>
            <a:ext cx="914400" cy="2652765"/>
            <a:chOff x="602111" y="2717978"/>
            <a:chExt cx="914400" cy="265276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A10FF48-3C2A-4192-8850-A15B7C1198CC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Database with solid fill">
              <a:extLst>
                <a:ext uri="{FF2B5EF4-FFF2-40B4-BE49-F238E27FC236}">
                  <a16:creationId xmlns:a16="http://schemas.microsoft.com/office/drawing/2014/main" id="{A836040E-FE62-4423-B055-D7DA71593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FDBC811-9D01-4577-8204-5453612C7193}"/>
              </a:ext>
            </a:extLst>
          </p:cNvPr>
          <p:cNvGrpSpPr/>
          <p:nvPr/>
        </p:nvGrpSpPr>
        <p:grpSpPr>
          <a:xfrm>
            <a:off x="2594989" y="3285024"/>
            <a:ext cx="914400" cy="1046603"/>
            <a:chOff x="2996221" y="5044273"/>
            <a:chExt cx="914400" cy="104660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00572A-476D-4E5F-8FBD-139F64FEE166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Graphic 48" descr="Quill with solid fill">
              <a:extLst>
                <a:ext uri="{FF2B5EF4-FFF2-40B4-BE49-F238E27FC236}">
                  <a16:creationId xmlns:a16="http://schemas.microsoft.com/office/drawing/2014/main" id="{2A46E9E8-9244-4A74-946D-D9C97387D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DDD21D1-2FCE-4EE5-8056-99B236599CD1}"/>
              </a:ext>
            </a:extLst>
          </p:cNvPr>
          <p:cNvGrpSpPr>
            <a:grpSpLocks noChangeAspect="1"/>
          </p:cNvGrpSpPr>
          <p:nvPr/>
        </p:nvGrpSpPr>
        <p:grpSpPr>
          <a:xfrm>
            <a:off x="7552559" y="3082877"/>
            <a:ext cx="867357" cy="1450896"/>
            <a:chOff x="1977728" y="3055856"/>
            <a:chExt cx="963732" cy="1612108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CA48E52-2F2D-434E-B566-54AED6FCF333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8" name="Graphic 67" descr="Disk with solid fill">
              <a:extLst>
                <a:ext uri="{FF2B5EF4-FFF2-40B4-BE49-F238E27FC236}">
                  <a16:creationId xmlns:a16="http://schemas.microsoft.com/office/drawing/2014/main" id="{1A059768-4430-4B4F-BD72-CD51965EB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D14DFC9-AC63-482F-A278-794B5C5F2995}"/>
              </a:ext>
            </a:extLst>
          </p:cNvPr>
          <p:cNvGrpSpPr/>
          <p:nvPr/>
        </p:nvGrpSpPr>
        <p:grpSpPr>
          <a:xfrm>
            <a:off x="8908686" y="3285024"/>
            <a:ext cx="914400" cy="1046603"/>
            <a:chOff x="2996221" y="5044273"/>
            <a:chExt cx="914400" cy="104660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3073D6E-AC9A-4FD4-9C1C-B25B37F3B4C1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" name="Graphic 70" descr="Quill with solid fill">
              <a:extLst>
                <a:ext uri="{FF2B5EF4-FFF2-40B4-BE49-F238E27FC236}">
                  <a16:creationId xmlns:a16="http://schemas.microsoft.com/office/drawing/2014/main" id="{455E1C95-EA9B-4B85-99A4-A0BC685C2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16C67DE-0680-469D-A2C3-278940450D18}"/>
              </a:ext>
            </a:extLst>
          </p:cNvPr>
          <p:cNvCxnSpPr>
            <a:cxnSpLocks/>
          </p:cNvCxnSpPr>
          <p:nvPr/>
        </p:nvCxnSpPr>
        <p:spPr>
          <a:xfrm>
            <a:off x="2054892" y="3798277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22BC51F-E675-4877-B241-49C1ABB9C931}"/>
              </a:ext>
            </a:extLst>
          </p:cNvPr>
          <p:cNvCxnSpPr>
            <a:cxnSpLocks/>
          </p:cNvCxnSpPr>
          <p:nvPr/>
        </p:nvCxnSpPr>
        <p:spPr>
          <a:xfrm>
            <a:off x="345806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5590600-171F-4067-8042-8957D99E1E57}"/>
              </a:ext>
            </a:extLst>
          </p:cNvPr>
          <p:cNvCxnSpPr>
            <a:cxnSpLocks/>
          </p:cNvCxnSpPr>
          <p:nvPr/>
        </p:nvCxnSpPr>
        <p:spPr>
          <a:xfrm>
            <a:off x="48451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81DE29E-A931-45BB-9809-CB1C8CB71B0A}"/>
              </a:ext>
            </a:extLst>
          </p:cNvPr>
          <p:cNvCxnSpPr>
            <a:cxnSpLocks/>
          </p:cNvCxnSpPr>
          <p:nvPr/>
        </p:nvCxnSpPr>
        <p:spPr>
          <a:xfrm>
            <a:off x="7036487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45AFCC7-A80A-40EA-9817-C8CE54F83ABE}"/>
              </a:ext>
            </a:extLst>
          </p:cNvPr>
          <p:cNvCxnSpPr>
            <a:cxnSpLocks/>
          </p:cNvCxnSpPr>
          <p:nvPr/>
        </p:nvCxnSpPr>
        <p:spPr>
          <a:xfrm>
            <a:off x="83995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7BD40B2-0F3F-4166-829F-5E3F851F21CB}"/>
              </a:ext>
            </a:extLst>
          </p:cNvPr>
          <p:cNvCxnSpPr>
            <a:cxnSpLocks/>
          </p:cNvCxnSpPr>
          <p:nvPr/>
        </p:nvCxnSpPr>
        <p:spPr>
          <a:xfrm>
            <a:off x="9794780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C5C7F53-659F-49BE-A894-6F0FAC44F85D}"/>
              </a:ext>
            </a:extLst>
          </p:cNvPr>
          <p:cNvSpPr txBox="1"/>
          <p:nvPr/>
        </p:nvSpPr>
        <p:spPr>
          <a:xfrm>
            <a:off x="5602215" y="5634616"/>
            <a:ext cx="1950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Execute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132B04-9BD4-422B-CA64-391204490340}"/>
              </a:ext>
            </a:extLst>
          </p:cNvPr>
          <p:cNvSpPr/>
          <p:nvPr/>
        </p:nvSpPr>
        <p:spPr>
          <a:xfrm>
            <a:off x="3909898" y="2214472"/>
            <a:ext cx="4647362" cy="3371344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81D699-CBD9-C115-CC9E-CC1417F35961}"/>
              </a:ext>
            </a:extLst>
          </p:cNvPr>
          <p:cNvSpPr txBox="1"/>
          <p:nvPr/>
        </p:nvSpPr>
        <p:spPr>
          <a:xfrm>
            <a:off x="3965328" y="2491915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0B0833-81DF-F3B7-7AE2-444926D66A94}"/>
              </a:ext>
            </a:extLst>
          </p:cNvPr>
          <p:cNvSpPr txBox="1"/>
          <p:nvPr/>
        </p:nvSpPr>
        <p:spPr>
          <a:xfrm>
            <a:off x="7411306" y="2489090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68CBEA-A31B-20B2-F70D-2F8CA7613400}"/>
              </a:ext>
            </a:extLst>
          </p:cNvPr>
          <p:cNvSpPr txBox="1"/>
          <p:nvPr/>
        </p:nvSpPr>
        <p:spPr>
          <a:xfrm>
            <a:off x="9004813" y="5174731"/>
            <a:ext cx="30576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ptos Display" panose="020B0004020202020204" pitchFamily="34" charset="0"/>
              </a:rPr>
              <a:t>Cannot write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buf2</a:t>
            </a:r>
            <a:r>
              <a:rPr lang="en-US" sz="2400" dirty="0">
                <a:latin typeface="Aptos Display" panose="020B0004020202020204" pitchFamily="34" charset="0"/>
              </a:rPr>
              <a:t> to DRAM if the execution function is unfinished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A16AB6-E03D-B410-BBC6-4D31234C99C2}"/>
              </a:ext>
            </a:extLst>
          </p:cNvPr>
          <p:cNvCxnSpPr>
            <a:cxnSpLocks/>
          </p:cNvCxnSpPr>
          <p:nvPr/>
        </p:nvCxnSpPr>
        <p:spPr>
          <a:xfrm flipV="1">
            <a:off x="9418320" y="4546197"/>
            <a:ext cx="0" cy="5461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04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67AD5C-79DB-417F-95D9-322911AFC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89072"/>
          </a:xfrm>
        </p:spPr>
        <p:txBody>
          <a:bodyPr>
            <a:normAutofit/>
          </a:bodyPr>
          <a:lstStyle/>
          <a:p>
            <a:r>
              <a:rPr lang="en-US" sz="3200" dirty="0"/>
              <a:t>Read-Execute-Write create dependency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7257B4-6607-4B2E-B402-05AE0433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EF0DF7-A176-4813-AB3F-78D739B5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Buffer Limitation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809678-CC3F-4DF1-A3DE-2131A998D0E5}"/>
              </a:ext>
            </a:extLst>
          </p:cNvPr>
          <p:cNvGrpSpPr/>
          <p:nvPr/>
        </p:nvGrpSpPr>
        <p:grpSpPr>
          <a:xfrm>
            <a:off x="5354286" y="3194913"/>
            <a:ext cx="1709503" cy="1226825"/>
            <a:chOff x="5765213" y="3116575"/>
            <a:chExt cx="1709503" cy="12268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0BD0DB-C015-4718-B04B-CEA395E3990F}"/>
                </a:ext>
              </a:extLst>
            </p:cNvPr>
            <p:cNvSpPr/>
            <p:nvPr/>
          </p:nvSpPr>
          <p:spPr>
            <a:xfrm>
              <a:off x="5765213" y="3116575"/>
              <a:ext cx="1709503" cy="1226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 descr="Labor with solid fill">
              <a:extLst>
                <a:ext uri="{FF2B5EF4-FFF2-40B4-BE49-F238E27FC236}">
                  <a16:creationId xmlns:a16="http://schemas.microsoft.com/office/drawing/2014/main" id="{9ABE915D-A8C4-4D4D-81C9-92F5F90B3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62764" y="3272787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FBB7807-A8AB-4676-A37C-3CAD135400AD}"/>
              </a:ext>
            </a:extLst>
          </p:cNvPr>
          <p:cNvGrpSpPr>
            <a:grpSpLocks noChangeAspect="1"/>
          </p:cNvGrpSpPr>
          <p:nvPr/>
        </p:nvGrpSpPr>
        <p:grpSpPr>
          <a:xfrm>
            <a:off x="3998159" y="3082877"/>
            <a:ext cx="867357" cy="1450896"/>
            <a:chOff x="1977728" y="3055856"/>
            <a:chExt cx="963732" cy="161210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C1FA59-6698-4D88-B674-EF3E98CBC09F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Disk with solid fill">
              <a:extLst>
                <a:ext uri="{FF2B5EF4-FFF2-40B4-BE49-F238E27FC236}">
                  <a16:creationId xmlns:a16="http://schemas.microsoft.com/office/drawing/2014/main" id="{F8E16111-7B0E-4F6E-B414-8DCD6843B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A580D5A-CED6-4381-872A-59EB154C64FD}"/>
              </a:ext>
            </a:extLst>
          </p:cNvPr>
          <p:cNvGrpSpPr/>
          <p:nvPr/>
        </p:nvGrpSpPr>
        <p:grpSpPr>
          <a:xfrm>
            <a:off x="1191819" y="2481943"/>
            <a:ext cx="914400" cy="2652765"/>
            <a:chOff x="602111" y="2717978"/>
            <a:chExt cx="914400" cy="265276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1CBC1B7-B2C7-44BD-B7E5-4D2BEB59BED0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 descr="Database with solid fill">
              <a:extLst>
                <a:ext uri="{FF2B5EF4-FFF2-40B4-BE49-F238E27FC236}">
                  <a16:creationId xmlns:a16="http://schemas.microsoft.com/office/drawing/2014/main" id="{2532239E-4FF3-44C9-A2FB-FABA798AC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9673495-0A9E-4FFC-BAAC-5149BF4E47C5}"/>
              </a:ext>
            </a:extLst>
          </p:cNvPr>
          <p:cNvGrpSpPr/>
          <p:nvPr/>
        </p:nvGrpSpPr>
        <p:grpSpPr>
          <a:xfrm>
            <a:off x="10311858" y="2481943"/>
            <a:ext cx="914400" cy="2652765"/>
            <a:chOff x="602111" y="2717978"/>
            <a:chExt cx="914400" cy="265276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A10FF48-3C2A-4192-8850-A15B7C1198CC}"/>
                </a:ext>
              </a:extLst>
            </p:cNvPr>
            <p:cNvSpPr/>
            <p:nvPr/>
          </p:nvSpPr>
          <p:spPr>
            <a:xfrm>
              <a:off x="625130" y="2717978"/>
              <a:ext cx="867357" cy="2652765"/>
            </a:xfrm>
            <a:prstGeom prst="rect">
              <a:avLst/>
            </a:prstGeom>
            <a:solidFill>
              <a:schemeClr val="accent4"/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Database with solid fill">
              <a:extLst>
                <a:ext uri="{FF2B5EF4-FFF2-40B4-BE49-F238E27FC236}">
                  <a16:creationId xmlns:a16="http://schemas.microsoft.com/office/drawing/2014/main" id="{A836040E-FE62-4423-B055-D7DA71593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11" y="3527631"/>
              <a:ext cx="914400" cy="9144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FDBC811-9D01-4577-8204-5453612C7193}"/>
              </a:ext>
            </a:extLst>
          </p:cNvPr>
          <p:cNvGrpSpPr/>
          <p:nvPr/>
        </p:nvGrpSpPr>
        <p:grpSpPr>
          <a:xfrm>
            <a:off x="2594989" y="3285024"/>
            <a:ext cx="914400" cy="1046603"/>
            <a:chOff x="2996221" y="5044273"/>
            <a:chExt cx="914400" cy="104660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00572A-476D-4E5F-8FBD-139F64FEE166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Graphic 48" descr="Quill with solid fill">
              <a:extLst>
                <a:ext uri="{FF2B5EF4-FFF2-40B4-BE49-F238E27FC236}">
                  <a16:creationId xmlns:a16="http://schemas.microsoft.com/office/drawing/2014/main" id="{2A46E9E8-9244-4A74-946D-D9C97387D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DDD21D1-2FCE-4EE5-8056-99B236599CD1}"/>
              </a:ext>
            </a:extLst>
          </p:cNvPr>
          <p:cNvGrpSpPr>
            <a:grpSpLocks noChangeAspect="1"/>
          </p:cNvGrpSpPr>
          <p:nvPr/>
        </p:nvGrpSpPr>
        <p:grpSpPr>
          <a:xfrm>
            <a:off x="7552559" y="3082877"/>
            <a:ext cx="867357" cy="1450896"/>
            <a:chOff x="1977728" y="3055856"/>
            <a:chExt cx="963732" cy="1612108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CA48E52-2F2D-434E-B566-54AED6FCF333}"/>
                </a:ext>
              </a:extLst>
            </p:cNvPr>
            <p:cNvSpPr/>
            <p:nvPr/>
          </p:nvSpPr>
          <p:spPr>
            <a:xfrm>
              <a:off x="1977728" y="3055856"/>
              <a:ext cx="963732" cy="161210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8" name="Graphic 67" descr="Disk with solid fill">
              <a:extLst>
                <a:ext uri="{FF2B5EF4-FFF2-40B4-BE49-F238E27FC236}">
                  <a16:creationId xmlns:a16="http://schemas.microsoft.com/office/drawing/2014/main" id="{1A059768-4430-4B4F-BD72-CD51965EB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4422" y="3371417"/>
              <a:ext cx="914400" cy="914400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D14DFC9-AC63-482F-A278-794B5C5F2995}"/>
              </a:ext>
            </a:extLst>
          </p:cNvPr>
          <p:cNvGrpSpPr/>
          <p:nvPr/>
        </p:nvGrpSpPr>
        <p:grpSpPr>
          <a:xfrm>
            <a:off x="8908686" y="3285024"/>
            <a:ext cx="914400" cy="1046603"/>
            <a:chOff x="2996221" y="5044273"/>
            <a:chExt cx="914400" cy="104660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3073D6E-AC9A-4FD4-9C1C-B25B37F3B4C1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" name="Graphic 70" descr="Quill with solid fill">
              <a:extLst>
                <a:ext uri="{FF2B5EF4-FFF2-40B4-BE49-F238E27FC236}">
                  <a16:creationId xmlns:a16="http://schemas.microsoft.com/office/drawing/2014/main" id="{455E1C95-EA9B-4B85-99A4-A0BC685C2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16C67DE-0680-469D-A2C3-278940450D18}"/>
              </a:ext>
            </a:extLst>
          </p:cNvPr>
          <p:cNvCxnSpPr>
            <a:cxnSpLocks/>
          </p:cNvCxnSpPr>
          <p:nvPr/>
        </p:nvCxnSpPr>
        <p:spPr>
          <a:xfrm>
            <a:off x="2054892" y="3798277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22BC51F-E675-4877-B241-49C1ABB9C931}"/>
              </a:ext>
            </a:extLst>
          </p:cNvPr>
          <p:cNvCxnSpPr>
            <a:cxnSpLocks/>
          </p:cNvCxnSpPr>
          <p:nvPr/>
        </p:nvCxnSpPr>
        <p:spPr>
          <a:xfrm>
            <a:off x="345806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5590600-171F-4067-8042-8957D99E1E57}"/>
              </a:ext>
            </a:extLst>
          </p:cNvPr>
          <p:cNvCxnSpPr>
            <a:cxnSpLocks/>
          </p:cNvCxnSpPr>
          <p:nvPr/>
        </p:nvCxnSpPr>
        <p:spPr>
          <a:xfrm>
            <a:off x="48451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81DE29E-A931-45BB-9809-CB1C8CB71B0A}"/>
              </a:ext>
            </a:extLst>
          </p:cNvPr>
          <p:cNvCxnSpPr>
            <a:cxnSpLocks/>
          </p:cNvCxnSpPr>
          <p:nvPr/>
        </p:nvCxnSpPr>
        <p:spPr>
          <a:xfrm>
            <a:off x="7036487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45AFCC7-A80A-40EA-9817-C8CE54F83ABE}"/>
              </a:ext>
            </a:extLst>
          </p:cNvPr>
          <p:cNvCxnSpPr>
            <a:cxnSpLocks/>
          </p:cNvCxnSpPr>
          <p:nvPr/>
        </p:nvCxnSpPr>
        <p:spPr>
          <a:xfrm>
            <a:off x="8399542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7BD40B2-0F3F-4166-829F-5E3F851F21CB}"/>
              </a:ext>
            </a:extLst>
          </p:cNvPr>
          <p:cNvCxnSpPr>
            <a:cxnSpLocks/>
          </p:cNvCxnSpPr>
          <p:nvPr/>
        </p:nvCxnSpPr>
        <p:spPr>
          <a:xfrm>
            <a:off x="9794780" y="3820049"/>
            <a:ext cx="54009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DA588D6-76B9-450D-B560-63BAE6D4903A}"/>
              </a:ext>
            </a:extLst>
          </p:cNvPr>
          <p:cNvSpPr txBox="1"/>
          <p:nvPr/>
        </p:nvSpPr>
        <p:spPr>
          <a:xfrm>
            <a:off x="8929089" y="5634616"/>
            <a:ext cx="14672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Store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037876-03F2-BD00-7979-94B4F735C62B}"/>
              </a:ext>
            </a:extLst>
          </p:cNvPr>
          <p:cNvSpPr/>
          <p:nvPr/>
        </p:nvSpPr>
        <p:spPr>
          <a:xfrm>
            <a:off x="7326486" y="2214472"/>
            <a:ext cx="4187334" cy="3371344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23F55-6478-1CEA-90DA-9F70F70A921B}"/>
              </a:ext>
            </a:extLst>
          </p:cNvPr>
          <p:cNvSpPr txBox="1"/>
          <p:nvPr/>
        </p:nvSpPr>
        <p:spPr>
          <a:xfrm>
            <a:off x="3965328" y="2491915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1C24FA-5C67-010A-16F7-D65367F36FB1}"/>
              </a:ext>
            </a:extLst>
          </p:cNvPr>
          <p:cNvSpPr txBox="1"/>
          <p:nvPr/>
        </p:nvSpPr>
        <p:spPr>
          <a:xfrm>
            <a:off x="7411306" y="2489090"/>
            <a:ext cx="1149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buf2</a:t>
            </a:r>
          </a:p>
        </p:txBody>
      </p:sp>
    </p:spTree>
    <p:extLst>
      <p:ext uri="{BB962C8B-B14F-4D97-AF65-F5344CB8AC3E}">
        <p14:creationId xmlns:p14="http://schemas.microsoft.com/office/powerpoint/2010/main" val="2092677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B830BD-58A3-D52E-1D64-B27844310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211448"/>
          </a:xfrm>
        </p:spPr>
        <p:txBody>
          <a:bodyPr/>
          <a:lstStyle/>
          <a:p>
            <a:r>
              <a:rPr lang="en-US" dirty="0"/>
              <a:t>Single buffer forces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serialization</a:t>
            </a:r>
          </a:p>
          <a:p>
            <a:endParaRPr lang="en-US" dirty="0"/>
          </a:p>
          <a:p>
            <a:r>
              <a:rPr lang="en-US" dirty="0"/>
              <a:t>The compiler must assume that buffer is a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random-access</a:t>
            </a:r>
            <a:r>
              <a:rPr lang="en-US" dirty="0"/>
              <a:t> array; therefore, any element may be:</a:t>
            </a:r>
          </a:p>
          <a:p>
            <a:pPr lvl="1"/>
            <a:r>
              <a:rPr lang="en-US" dirty="0"/>
              <a:t>read at any time</a:t>
            </a:r>
          </a:p>
          <a:p>
            <a:pPr lvl="1"/>
            <a:r>
              <a:rPr lang="en-US" dirty="0"/>
              <a:t>overwritten at any time</a:t>
            </a:r>
          </a:p>
          <a:p>
            <a:endParaRPr lang="en-US" dirty="0"/>
          </a:p>
          <a:p>
            <a:r>
              <a:rPr lang="en-US" dirty="0"/>
              <a:t>Consequence:</a:t>
            </a:r>
          </a:p>
          <a:p>
            <a:pPr lvl="1"/>
            <a:r>
              <a:rPr lang="en-US" dirty="0"/>
              <a:t>Compute cannot start until </a:t>
            </a:r>
            <a:r>
              <a:rPr lang="en-US" i="1" dirty="0"/>
              <a:t>all</a:t>
            </a:r>
            <a:r>
              <a:rPr lang="en-US" dirty="0"/>
              <a:t> reads finish</a:t>
            </a:r>
          </a:p>
          <a:p>
            <a:pPr lvl="1"/>
            <a:r>
              <a:rPr lang="en-US" dirty="0"/>
              <a:t>Store cannot start until </a:t>
            </a:r>
            <a:r>
              <a:rPr lang="en-US" i="1" dirty="0"/>
              <a:t>all</a:t>
            </a:r>
            <a:r>
              <a:rPr lang="en-US" dirty="0"/>
              <a:t> writes finish</a:t>
            </a:r>
          </a:p>
          <a:p>
            <a:pPr lvl="1"/>
            <a:r>
              <a:rPr lang="en-US" dirty="0"/>
              <a:t>Operations are forced to run sequentially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CC5C70-3E6F-B839-603D-C770637CC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7EE75C-089D-D43E-2CE7-B7604D13F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Buffer Limitation: Read-After-Write</a:t>
            </a:r>
          </a:p>
        </p:txBody>
      </p:sp>
    </p:spTree>
    <p:extLst>
      <p:ext uri="{BB962C8B-B14F-4D97-AF65-F5344CB8AC3E}">
        <p14:creationId xmlns:p14="http://schemas.microsoft.com/office/powerpoint/2010/main" val="415453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4280A-1F48-96CF-41AE-4685459D5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3C8824-1EEE-2509-F147-246C83A8B203}"/>
              </a:ext>
            </a:extLst>
          </p:cNvPr>
          <p:cNvSpPr/>
          <p:nvPr/>
        </p:nvSpPr>
        <p:spPr>
          <a:xfrm>
            <a:off x="7902963" y="2345989"/>
            <a:ext cx="823064" cy="37640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D89E472-7EC4-44AF-4C54-8200B34D111D}"/>
              </a:ext>
            </a:extLst>
          </p:cNvPr>
          <p:cNvSpPr/>
          <p:nvPr/>
        </p:nvSpPr>
        <p:spPr>
          <a:xfrm>
            <a:off x="9118555" y="2022116"/>
            <a:ext cx="823064" cy="376401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1BD181-F915-B9C2-4E01-E95CF39C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BA8D64-26FD-3841-BC90-7EE3F5698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Overlap Read and Write (Pre-fetching)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8AB2F-7B36-A27C-C15F-685087F27625}"/>
              </a:ext>
            </a:extLst>
          </p:cNvPr>
          <p:cNvSpPr txBox="1"/>
          <p:nvPr/>
        </p:nvSpPr>
        <p:spPr>
          <a:xfrm>
            <a:off x="637323" y="1394709"/>
            <a:ext cx="4134465" cy="163121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for(int i = 0; i &lt; N; i++)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load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</a:t>
            </a:r>
            <a:r>
              <a:rPr lang="en-US" sz="2000" dirty="0">
                <a:latin typeface="Consolas" panose="020B0609020204030204" pitchFamily="49" charset="0"/>
              </a:rPr>
              <a:t>, i);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buf_B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store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buf_B</a:t>
            </a:r>
            <a:r>
              <a:rPr lang="en-US" sz="2000" dirty="0">
                <a:latin typeface="Consolas" panose="020B0609020204030204" pitchFamily="49" charset="0"/>
              </a:rPr>
              <a:t>, i);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511BA3-D9E5-5010-B4F1-DD89F68E3024}"/>
              </a:ext>
            </a:extLst>
          </p:cNvPr>
          <p:cNvSpPr/>
          <p:nvPr/>
        </p:nvSpPr>
        <p:spPr>
          <a:xfrm>
            <a:off x="1581111" y="3620653"/>
            <a:ext cx="1451717" cy="4185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</a:rPr>
              <a:t>Load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2BC89B-B747-1C6D-F6A7-E68831BA210E}"/>
              </a:ext>
            </a:extLst>
          </p:cNvPr>
          <p:cNvSpPr/>
          <p:nvPr/>
        </p:nvSpPr>
        <p:spPr>
          <a:xfrm>
            <a:off x="1581111" y="4422490"/>
            <a:ext cx="1451717" cy="6992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</a:rPr>
              <a:t>Execute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0FE32E-80C6-8925-A1A2-905C7EF85FBC}"/>
              </a:ext>
            </a:extLst>
          </p:cNvPr>
          <p:cNvSpPr/>
          <p:nvPr/>
        </p:nvSpPr>
        <p:spPr>
          <a:xfrm>
            <a:off x="1581110" y="5505039"/>
            <a:ext cx="1451717" cy="4185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</a:rPr>
              <a:t>Store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6E3B949-247C-A04F-6B1A-C85D237150BF}"/>
              </a:ext>
            </a:extLst>
          </p:cNvPr>
          <p:cNvCxnSpPr>
            <a:cxnSpLocks/>
            <a:stCxn id="11" idx="2"/>
            <a:endCxn id="28" idx="0"/>
          </p:cNvCxnSpPr>
          <p:nvPr/>
        </p:nvCxnSpPr>
        <p:spPr>
          <a:xfrm>
            <a:off x="2306970" y="4039185"/>
            <a:ext cx="0" cy="3833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7765C2-11BE-8B6E-E4D7-50FBD5B0CF49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 flipH="1">
            <a:off x="2306969" y="5121734"/>
            <a:ext cx="1" cy="3833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B9F1A197-4404-0261-5BCE-57373E9E54DA}"/>
              </a:ext>
            </a:extLst>
          </p:cNvPr>
          <p:cNvCxnSpPr>
            <a:cxnSpLocks/>
            <a:stCxn id="29" idx="2"/>
            <a:endCxn id="11" idx="0"/>
          </p:cNvCxnSpPr>
          <p:nvPr/>
        </p:nvCxnSpPr>
        <p:spPr>
          <a:xfrm rot="5400000" flipH="1" flipV="1">
            <a:off x="1155510" y="4772111"/>
            <a:ext cx="2302918" cy="1"/>
          </a:xfrm>
          <a:prstGeom prst="bentConnector5">
            <a:avLst>
              <a:gd name="adj1" fmla="val -9927"/>
              <a:gd name="adj2" fmla="val 95445900000"/>
              <a:gd name="adj3" fmla="val 109927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C9BB3E70-50AC-691A-5E23-1DE6CA20471C}"/>
              </a:ext>
            </a:extLst>
          </p:cNvPr>
          <p:cNvGrpSpPr/>
          <p:nvPr/>
        </p:nvGrpSpPr>
        <p:grpSpPr>
          <a:xfrm>
            <a:off x="6096000" y="1394709"/>
            <a:ext cx="5212079" cy="4528862"/>
            <a:chOff x="6096000" y="1394709"/>
            <a:chExt cx="5212079" cy="452886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BB5C77-7B80-91C0-DAB4-265B16F660FC}"/>
                </a:ext>
              </a:extLst>
            </p:cNvPr>
            <p:cNvSpPr txBox="1"/>
            <p:nvPr/>
          </p:nvSpPr>
          <p:spPr>
            <a:xfrm>
              <a:off x="6548224" y="1394709"/>
              <a:ext cx="4759855" cy="193899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load</a:t>
              </a:r>
              <a:r>
                <a:rPr lang="en-US" sz="2000" dirty="0">
                  <a:latin typeface="Consolas" panose="020B0609020204030204" pitchFamily="49" charset="0"/>
                </a:rPr>
                <a:t>(</a:t>
              </a:r>
              <a:r>
                <a:rPr lang="en-US" sz="2000" dirty="0" err="1">
                  <a:latin typeface="Consolas" panose="020B0609020204030204" pitchFamily="49" charset="0"/>
                </a:rPr>
                <a:t>buf_A</a:t>
              </a:r>
              <a:r>
                <a:rPr lang="en-US" sz="2000" dirty="0">
                  <a:latin typeface="Consolas" panose="020B0609020204030204" pitchFamily="49" charset="0"/>
                </a:rPr>
                <a:t>, i);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for(int i = 0; i &lt; N; i++) {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	</a:t>
              </a:r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rPr>
                <a:t>execute</a:t>
              </a:r>
              <a:r>
                <a:rPr lang="en-US" sz="2000" dirty="0">
                  <a:latin typeface="Consolas" panose="020B0609020204030204" pitchFamily="49" charset="0"/>
                </a:rPr>
                <a:t>(</a:t>
              </a:r>
              <a:r>
                <a:rPr lang="en-US" sz="2000" dirty="0" err="1">
                  <a:latin typeface="Consolas" panose="020B0609020204030204" pitchFamily="49" charset="0"/>
                </a:rPr>
                <a:t>buf_A</a:t>
              </a:r>
              <a:r>
                <a:rPr lang="en-US" sz="2000" dirty="0">
                  <a:latin typeface="Consolas" panose="020B0609020204030204" pitchFamily="49" charset="0"/>
                </a:rPr>
                <a:t>, </a:t>
              </a:r>
              <a:r>
                <a:rPr lang="en-US" sz="2000" dirty="0" err="1">
                  <a:latin typeface="Consolas" panose="020B0609020204030204" pitchFamily="49" charset="0"/>
                </a:rPr>
                <a:t>buf_B</a:t>
              </a:r>
              <a:r>
                <a:rPr lang="en-US" sz="2000" dirty="0"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	</a:t>
              </a:r>
              <a:r>
                <a:rPr lang="en-US" sz="2000" b="1" dirty="0">
                  <a:solidFill>
                    <a:schemeClr val="accent4">
                      <a:lumMod val="75000"/>
                    </a:schemeClr>
                  </a:solidFill>
                  <a:latin typeface="Consolas" panose="020B0609020204030204" pitchFamily="49" charset="0"/>
                </a:rPr>
                <a:t>store</a:t>
              </a:r>
              <a:r>
                <a:rPr lang="en-US" sz="2000" dirty="0">
                  <a:latin typeface="Consolas" panose="020B0609020204030204" pitchFamily="49" charset="0"/>
                </a:rPr>
                <a:t>(</a:t>
              </a:r>
              <a:r>
                <a:rPr lang="en-US" sz="2000" dirty="0" err="1">
                  <a:latin typeface="Consolas" panose="020B0609020204030204" pitchFamily="49" charset="0"/>
                </a:rPr>
                <a:t>buf_B</a:t>
              </a:r>
              <a:r>
                <a:rPr lang="en-US" sz="2000" dirty="0">
                  <a:latin typeface="Consolas" panose="020B0609020204030204" pitchFamily="49" charset="0"/>
                </a:rPr>
                <a:t>, i);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	if(i &lt; N-1) </a:t>
              </a:r>
              <a:r>
                <a:rPr lang="en-US" sz="20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load</a:t>
              </a:r>
              <a:r>
                <a:rPr lang="en-US" sz="2000" dirty="0">
                  <a:latin typeface="Consolas" panose="020B0609020204030204" pitchFamily="49" charset="0"/>
                </a:rPr>
                <a:t>(</a:t>
              </a:r>
              <a:r>
                <a:rPr lang="en-US" sz="2000" dirty="0" err="1">
                  <a:latin typeface="Consolas" panose="020B0609020204030204" pitchFamily="49" charset="0"/>
                </a:rPr>
                <a:t>buf_A</a:t>
              </a:r>
              <a:r>
                <a:rPr lang="en-US" sz="2000" dirty="0">
                  <a:latin typeface="Consolas" panose="020B0609020204030204" pitchFamily="49" charset="0"/>
                </a:rPr>
                <a:t>, i+1);</a:t>
              </a:r>
            </a:p>
            <a:p>
              <a:r>
                <a:rPr lang="en-US" sz="2000" dirty="0"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DD9A2E0-10AC-40D5-C470-8C726F6098CF}"/>
                </a:ext>
              </a:extLst>
            </p:cNvPr>
            <p:cNvSpPr/>
            <p:nvPr/>
          </p:nvSpPr>
          <p:spPr>
            <a:xfrm>
              <a:off x="7790185" y="3677236"/>
              <a:ext cx="1451717" cy="4185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Load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F77C20-6E90-6490-80C1-DCE028157D05}"/>
                </a:ext>
              </a:extLst>
            </p:cNvPr>
            <p:cNvSpPr/>
            <p:nvPr/>
          </p:nvSpPr>
          <p:spPr>
            <a:xfrm>
              <a:off x="7790185" y="4512089"/>
              <a:ext cx="1451717" cy="6992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Execute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93B6A4D-E8AF-C3E0-EDBB-37DD62618BFF}"/>
                </a:ext>
              </a:extLst>
            </p:cNvPr>
            <p:cNvSpPr/>
            <p:nvPr/>
          </p:nvSpPr>
          <p:spPr>
            <a:xfrm>
              <a:off x="7790184" y="5505039"/>
              <a:ext cx="1451717" cy="4185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Store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08647F8-902C-A27A-3525-457FDF4DABED}"/>
                </a:ext>
              </a:extLst>
            </p:cNvPr>
            <p:cNvCxnSpPr>
              <a:cxnSpLocks/>
              <a:stCxn id="20" idx="2"/>
              <a:endCxn id="21" idx="0"/>
            </p:cNvCxnSpPr>
            <p:nvPr/>
          </p:nvCxnSpPr>
          <p:spPr>
            <a:xfrm>
              <a:off x="8516044" y="4095768"/>
              <a:ext cx="0" cy="41632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AE63B83-6722-4DE6-38AE-42C7C2C8E31C}"/>
                </a:ext>
              </a:extLst>
            </p:cNvPr>
            <p:cNvCxnSpPr>
              <a:cxnSpLocks/>
              <a:stCxn id="21" idx="2"/>
              <a:endCxn id="22" idx="0"/>
            </p:cNvCxnSpPr>
            <p:nvPr/>
          </p:nvCxnSpPr>
          <p:spPr>
            <a:xfrm flipH="1">
              <a:off x="8516043" y="5211333"/>
              <a:ext cx="1" cy="29370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821B15FA-6CB7-20FE-A45F-DBF93776592C}"/>
                </a:ext>
              </a:extLst>
            </p:cNvPr>
            <p:cNvCxnSpPr>
              <a:cxnSpLocks/>
              <a:stCxn id="22" idx="2"/>
              <a:endCxn id="21" idx="0"/>
            </p:cNvCxnSpPr>
            <p:nvPr/>
          </p:nvCxnSpPr>
          <p:spPr>
            <a:xfrm rot="5400000" flipH="1" flipV="1">
              <a:off x="7810302" y="5217829"/>
              <a:ext cx="1411482" cy="1"/>
            </a:xfrm>
            <a:prstGeom prst="bentConnector5">
              <a:avLst>
                <a:gd name="adj1" fmla="val -16196"/>
                <a:gd name="adj2" fmla="val 95445900000"/>
                <a:gd name="adj3" fmla="val 116196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F955D47-219D-567C-C425-D285BC8BF7AE}"/>
                </a:ext>
              </a:extLst>
            </p:cNvPr>
            <p:cNvSpPr/>
            <p:nvPr/>
          </p:nvSpPr>
          <p:spPr>
            <a:xfrm>
              <a:off x="6096000" y="5505039"/>
              <a:ext cx="1451717" cy="418532"/>
            </a:xfrm>
            <a:prstGeom prst="rect">
              <a:avLst/>
            </a:prstGeom>
            <a:pattFill prst="wdUpDiag">
              <a:fgClr>
                <a:schemeClr val="accent5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Load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FDA97A7-D356-3BC9-7170-F851CF114FB3}"/>
              </a:ext>
            </a:extLst>
          </p:cNvPr>
          <p:cNvSpPr txBox="1"/>
          <p:nvPr/>
        </p:nvSpPr>
        <p:spPr>
          <a:xfrm>
            <a:off x="4240835" y="4638578"/>
            <a:ext cx="3710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Load</a:t>
            </a:r>
            <a:r>
              <a:rPr lang="en-US" sz="2400" b="1" dirty="0">
                <a:latin typeface="Aptos Display" panose="020B0004020202020204" pitchFamily="34" charset="0"/>
              </a:rPr>
              <a:t> latency is hidden by overlapping with </a:t>
            </a:r>
            <a:r>
              <a:rPr lang="en-US" sz="2400" b="1" dirty="0">
                <a:solidFill>
                  <a:srgbClr val="BF9000"/>
                </a:solidFill>
                <a:latin typeface="Aptos Display" panose="020B0004020202020204" pitchFamily="34" charset="0"/>
              </a:rPr>
              <a:t>Store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8B3200-1B4B-CED7-D293-4CE68071E4A3}"/>
              </a:ext>
            </a:extLst>
          </p:cNvPr>
          <p:cNvSpPr txBox="1"/>
          <p:nvPr/>
        </p:nvSpPr>
        <p:spPr>
          <a:xfrm>
            <a:off x="9530087" y="5287516"/>
            <a:ext cx="23692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But what about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ptos Display" panose="020B0004020202020204" pitchFamily="34" charset="0"/>
              </a:rPr>
              <a:t>Store</a:t>
            </a:r>
            <a:r>
              <a:rPr lang="en-US" sz="2400" b="1" dirty="0">
                <a:latin typeface="Aptos Display" panose="020B0004020202020204" pitchFamily="34" charset="0"/>
              </a:rPr>
              <a:t> latency?</a:t>
            </a:r>
          </a:p>
        </p:txBody>
      </p:sp>
    </p:spTree>
    <p:extLst>
      <p:ext uri="{BB962C8B-B14F-4D97-AF65-F5344CB8AC3E}">
        <p14:creationId xmlns:p14="http://schemas.microsoft.com/office/powerpoint/2010/main" val="351814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2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E7DDC4-B46F-44C0-A7EE-23D124FE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EB3E8A-3D18-4583-A081-FA98E849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Double Buffer (Ping-Pong Buffer)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210487C-F943-473F-9C24-0F8640583CFA}"/>
              </a:ext>
            </a:extLst>
          </p:cNvPr>
          <p:cNvGrpSpPr/>
          <p:nvPr/>
        </p:nvGrpSpPr>
        <p:grpSpPr>
          <a:xfrm>
            <a:off x="984919" y="1253745"/>
            <a:ext cx="4619468" cy="4678170"/>
            <a:chOff x="809659" y="1192785"/>
            <a:chExt cx="4619468" cy="467817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10D5DB5-0CCE-4E5E-9F7D-EB16E1E706A6}"/>
                </a:ext>
              </a:extLst>
            </p:cNvPr>
            <p:cNvGrpSpPr/>
            <p:nvPr/>
          </p:nvGrpSpPr>
          <p:grpSpPr>
            <a:xfrm>
              <a:off x="809659" y="1192785"/>
              <a:ext cx="4619468" cy="4678170"/>
              <a:chOff x="3215095" y="1137083"/>
              <a:chExt cx="5290737" cy="5009752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CEC3195-0B66-4379-8E31-4AD281635881}"/>
                  </a:ext>
                </a:extLst>
              </p:cNvPr>
              <p:cNvSpPr/>
              <p:nvPr/>
            </p:nvSpPr>
            <p:spPr>
              <a:xfrm>
                <a:off x="5134767" y="2233229"/>
                <a:ext cx="1451717" cy="41853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Aptos Display" panose="020B0004020202020204" pitchFamily="34" charset="0"/>
                  </a:rPr>
                  <a:t>Load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24D0FF3-AF5F-43DD-B5A5-38482231FD51}"/>
                  </a:ext>
                </a:extLst>
              </p:cNvPr>
              <p:cNvSpPr/>
              <p:nvPr/>
            </p:nvSpPr>
            <p:spPr>
              <a:xfrm>
                <a:off x="5220382" y="4743551"/>
                <a:ext cx="1451717" cy="69924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Aptos Display" panose="020B0004020202020204" pitchFamily="34" charset="0"/>
                  </a:rPr>
                  <a:t>Execute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0097DEA1-31C4-4EA5-A51D-170C25029E98}"/>
                  </a:ext>
                </a:extLst>
              </p:cNvPr>
              <p:cNvGrpSpPr/>
              <p:nvPr/>
            </p:nvGrpSpPr>
            <p:grpSpPr>
              <a:xfrm>
                <a:off x="3215095" y="1137083"/>
                <a:ext cx="5290737" cy="765056"/>
                <a:chOff x="625130" y="3581867"/>
                <a:chExt cx="5290737" cy="765056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81402351-A206-44B3-BBD1-9054001FCFC2}"/>
                    </a:ext>
                  </a:extLst>
                </p:cNvPr>
                <p:cNvSpPr/>
                <p:nvPr/>
              </p:nvSpPr>
              <p:spPr>
                <a:xfrm>
                  <a:off x="625130" y="3581867"/>
                  <a:ext cx="5290737" cy="76505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81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5" name="Graphic 14" descr="Database with solid fill">
                  <a:extLst>
                    <a:ext uri="{FF2B5EF4-FFF2-40B4-BE49-F238E27FC236}">
                      <a16:creationId xmlns:a16="http://schemas.microsoft.com/office/drawing/2014/main" id="{F9C767CC-ECEA-4A1D-9822-AC28218D86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07568" y="3586326"/>
                  <a:ext cx="725859" cy="725859"/>
                </a:xfrm>
                <a:prstGeom prst="rect">
                  <a:avLst/>
                </a:prstGeom>
              </p:spPr>
            </p:pic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FA62625F-24C6-4A64-937D-E5884ADB552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59574" y="3267144"/>
                <a:ext cx="1797900" cy="839042"/>
                <a:chOff x="1977728" y="3055856"/>
                <a:chExt cx="1997671" cy="932270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0A2F83DF-C72F-4A29-8266-C0EA140C07B4}"/>
                    </a:ext>
                  </a:extLst>
                </p:cNvPr>
                <p:cNvSpPr/>
                <p:nvPr/>
              </p:nvSpPr>
              <p:spPr>
                <a:xfrm>
                  <a:off x="1977728" y="3055856"/>
                  <a:ext cx="1997671" cy="93227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381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9" name="Graphic 18" descr="Disk with solid fill">
                  <a:extLst>
                    <a:ext uri="{FF2B5EF4-FFF2-40B4-BE49-F238E27FC236}">
                      <a16:creationId xmlns:a16="http://schemas.microsoft.com/office/drawing/2014/main" id="{EA3C18BE-D7E0-4679-B45F-651C2B73AE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19364" y="3064790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30FAC5E-0ABF-4966-AB8D-13BA58AA96CF}"/>
                  </a:ext>
                </a:extLst>
              </p:cNvPr>
              <p:cNvSpPr/>
              <p:nvPr/>
            </p:nvSpPr>
            <p:spPr>
              <a:xfrm>
                <a:off x="4303514" y="5728303"/>
                <a:ext cx="3285451" cy="4185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Aptos Display" panose="020B0004020202020204" pitchFamily="34" charset="0"/>
                  </a:rPr>
                  <a:t>Store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B676F980-27DF-4C09-9A35-C34B1F77EA45}"/>
                  </a:ext>
                </a:extLst>
              </p:cNvPr>
              <p:cNvCxnSpPr>
                <a:cxnSpLocks/>
                <a:stCxn id="14" idx="2"/>
                <a:endCxn id="5" idx="0"/>
              </p:cNvCxnSpPr>
              <p:nvPr/>
            </p:nvCxnSpPr>
            <p:spPr>
              <a:xfrm>
                <a:off x="5860463" y="1902139"/>
                <a:ext cx="163" cy="33109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Connector: Elbow 25">
                <a:extLst>
                  <a:ext uri="{FF2B5EF4-FFF2-40B4-BE49-F238E27FC236}">
                    <a16:creationId xmlns:a16="http://schemas.microsoft.com/office/drawing/2014/main" id="{D5FAE674-0CD2-46D8-B70D-B1C21C4201A4}"/>
                  </a:ext>
                </a:extLst>
              </p:cNvPr>
              <p:cNvCxnSpPr>
                <a:cxnSpLocks/>
                <a:stCxn id="31" idx="2"/>
                <a:endCxn id="6" idx="0"/>
              </p:cNvCxnSpPr>
              <p:nvPr/>
            </p:nvCxnSpPr>
            <p:spPr>
              <a:xfrm rot="5400000">
                <a:off x="6318580" y="3731507"/>
                <a:ext cx="639705" cy="1384382"/>
              </a:xfrm>
              <a:prstGeom prst="bentConnector3">
                <a:avLst>
                  <a:gd name="adj1" fmla="val 50000"/>
                </a:avLst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7771DC0-F768-40C4-9A46-16ADBAF4131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431673" y="3264804"/>
                <a:ext cx="1797900" cy="839042"/>
                <a:chOff x="1977728" y="3055856"/>
                <a:chExt cx="1997671" cy="932270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5484A64D-5239-453C-99C4-DB59F5CAD120}"/>
                    </a:ext>
                  </a:extLst>
                </p:cNvPr>
                <p:cNvSpPr/>
                <p:nvPr/>
              </p:nvSpPr>
              <p:spPr>
                <a:xfrm>
                  <a:off x="1977728" y="3055856"/>
                  <a:ext cx="1997671" cy="93227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381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32" name="Graphic 31" descr="Disk with solid fill">
                  <a:extLst>
                    <a:ext uri="{FF2B5EF4-FFF2-40B4-BE49-F238E27FC236}">
                      <a16:creationId xmlns:a16="http://schemas.microsoft.com/office/drawing/2014/main" id="{93B4417C-A1BD-427D-AB67-1B05AD9E81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19364" y="3064790"/>
                  <a:ext cx="914400" cy="914400"/>
                </a:xfrm>
                <a:prstGeom prst="rect">
                  <a:avLst/>
                </a:prstGeom>
              </p:spPr>
            </p:pic>
          </p:grp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46C18D84-CAAD-4B8F-A32D-C153D94D5AAC}"/>
                  </a:ext>
                </a:extLst>
              </p:cNvPr>
              <p:cNvCxnSpPr>
                <a:cxnSpLocks/>
                <a:stCxn id="6" idx="2"/>
                <a:endCxn id="25" idx="0"/>
              </p:cNvCxnSpPr>
              <p:nvPr/>
            </p:nvCxnSpPr>
            <p:spPr>
              <a:xfrm flipH="1">
                <a:off x="5946240" y="5442795"/>
                <a:ext cx="1" cy="28550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74F01944-C673-40A4-B6CE-AA5BF1374A4D}"/>
                </a:ext>
              </a:extLst>
            </p:cNvPr>
            <p:cNvCxnSpPr>
              <a:cxnSpLocks/>
              <a:stCxn id="5" idx="2"/>
              <a:endCxn id="18" idx="0"/>
            </p:cNvCxnSpPr>
            <p:nvPr/>
          </p:nvCxnSpPr>
          <p:spPr>
            <a:xfrm rot="5400000">
              <a:off x="2176449" y="2238776"/>
              <a:ext cx="574653" cy="1311520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AA7D131-E330-4E49-B18B-BE2AA3F903B6}"/>
              </a:ext>
            </a:extLst>
          </p:cNvPr>
          <p:cNvGrpSpPr/>
          <p:nvPr/>
        </p:nvGrpSpPr>
        <p:grpSpPr>
          <a:xfrm>
            <a:off x="7034156" y="1253745"/>
            <a:ext cx="4619468" cy="4678170"/>
            <a:chOff x="809659" y="1192785"/>
            <a:chExt cx="4619468" cy="467817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94CCCE34-2BAA-41A7-81B7-8C0160C51B06}"/>
                </a:ext>
              </a:extLst>
            </p:cNvPr>
            <p:cNvGrpSpPr/>
            <p:nvPr/>
          </p:nvGrpSpPr>
          <p:grpSpPr>
            <a:xfrm>
              <a:off x="809659" y="1192785"/>
              <a:ext cx="4619468" cy="4678170"/>
              <a:chOff x="3215095" y="1137083"/>
              <a:chExt cx="5290737" cy="5009752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FC02475D-9C13-4826-B145-C09909670BD0}"/>
                  </a:ext>
                </a:extLst>
              </p:cNvPr>
              <p:cNvSpPr/>
              <p:nvPr/>
            </p:nvSpPr>
            <p:spPr>
              <a:xfrm>
                <a:off x="5134767" y="2233229"/>
                <a:ext cx="1451717" cy="418531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Aptos Display" panose="020B0004020202020204" pitchFamily="34" charset="0"/>
                  </a:rPr>
                  <a:t>Load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6852E3B4-2CC3-49A8-8C6A-9E131FD40190}"/>
                  </a:ext>
                </a:extLst>
              </p:cNvPr>
              <p:cNvSpPr/>
              <p:nvPr/>
            </p:nvSpPr>
            <p:spPr>
              <a:xfrm>
                <a:off x="5220382" y="4743551"/>
                <a:ext cx="1451717" cy="69924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Aptos Display" panose="020B0004020202020204" pitchFamily="34" charset="0"/>
                  </a:rPr>
                  <a:t>Execute</a:t>
                </a:r>
              </a:p>
            </p:txBody>
          </p: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EED2E2AC-A05D-4B3E-9227-82C3A275C3FA}"/>
                  </a:ext>
                </a:extLst>
              </p:cNvPr>
              <p:cNvGrpSpPr/>
              <p:nvPr/>
            </p:nvGrpSpPr>
            <p:grpSpPr>
              <a:xfrm>
                <a:off x="3215095" y="1137083"/>
                <a:ext cx="5290737" cy="765056"/>
                <a:chOff x="625130" y="3581867"/>
                <a:chExt cx="5290737" cy="765056"/>
              </a:xfrm>
            </p:grpSpPr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1666A04C-3832-4F94-B3B6-2B8CF9725CDB}"/>
                    </a:ext>
                  </a:extLst>
                </p:cNvPr>
                <p:cNvSpPr/>
                <p:nvPr/>
              </p:nvSpPr>
              <p:spPr>
                <a:xfrm>
                  <a:off x="625130" y="3581867"/>
                  <a:ext cx="5290737" cy="76505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81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91" name="Graphic 90" descr="Database with solid fill">
                  <a:extLst>
                    <a:ext uri="{FF2B5EF4-FFF2-40B4-BE49-F238E27FC236}">
                      <a16:creationId xmlns:a16="http://schemas.microsoft.com/office/drawing/2014/main" id="{7E1CA824-E86E-4C03-82CC-635D7AA9DE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07568" y="3586326"/>
                  <a:ext cx="725859" cy="725859"/>
                </a:xfrm>
                <a:prstGeom prst="rect">
                  <a:avLst/>
                </a:prstGeom>
              </p:spPr>
            </p:pic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998FF8FF-0237-454A-86A1-9DCA0D7CC14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59574" y="3267144"/>
                <a:ext cx="1797900" cy="839042"/>
                <a:chOff x="1977728" y="3055856"/>
                <a:chExt cx="1997671" cy="932270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20D2F2D4-762C-438C-B09C-9D090E963129}"/>
                    </a:ext>
                  </a:extLst>
                </p:cNvPr>
                <p:cNvSpPr/>
                <p:nvPr/>
              </p:nvSpPr>
              <p:spPr>
                <a:xfrm>
                  <a:off x="1977728" y="3055856"/>
                  <a:ext cx="1997671" cy="93227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381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89" name="Graphic 88" descr="Disk with solid fill">
                  <a:extLst>
                    <a:ext uri="{FF2B5EF4-FFF2-40B4-BE49-F238E27FC236}">
                      <a16:creationId xmlns:a16="http://schemas.microsoft.com/office/drawing/2014/main" id="{64D2D295-BA88-4F72-8E37-671FFCE104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19364" y="3064790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D9EAFD64-4409-4244-A67D-A8D6DFEE1B5C}"/>
                  </a:ext>
                </a:extLst>
              </p:cNvPr>
              <p:cNvSpPr/>
              <p:nvPr/>
            </p:nvSpPr>
            <p:spPr>
              <a:xfrm>
                <a:off x="4303514" y="5728303"/>
                <a:ext cx="3285451" cy="4185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Aptos Display" panose="020B0004020202020204" pitchFamily="34" charset="0"/>
                  </a:rPr>
                  <a:t>Store</a:t>
                </a:r>
              </a:p>
            </p:txBody>
          </p: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1B789256-CFB6-4891-8F09-44CEC9697488}"/>
                  </a:ext>
                </a:extLst>
              </p:cNvPr>
              <p:cNvCxnSpPr>
                <a:cxnSpLocks/>
                <a:stCxn id="90" idx="2"/>
                <a:endCxn id="75" idx="0"/>
              </p:cNvCxnSpPr>
              <p:nvPr/>
            </p:nvCxnSpPr>
            <p:spPr>
              <a:xfrm>
                <a:off x="5860463" y="1902139"/>
                <a:ext cx="163" cy="33109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Connector: Elbow 80">
                <a:extLst>
                  <a:ext uri="{FF2B5EF4-FFF2-40B4-BE49-F238E27FC236}">
                    <a16:creationId xmlns:a16="http://schemas.microsoft.com/office/drawing/2014/main" id="{816E1D6B-9B01-4C8D-8179-46AAB47F8D44}"/>
                  </a:ext>
                </a:extLst>
              </p:cNvPr>
              <p:cNvCxnSpPr>
                <a:cxnSpLocks/>
                <a:stCxn id="89" idx="2"/>
                <a:endCxn id="76" idx="0"/>
              </p:cNvCxnSpPr>
              <p:nvPr/>
            </p:nvCxnSpPr>
            <p:spPr>
              <a:xfrm rot="16200000" flipH="1">
                <a:off x="4829679" y="3626989"/>
                <a:ext cx="645408" cy="1587717"/>
              </a:xfrm>
              <a:prstGeom prst="bentConnector3">
                <a:avLst>
                  <a:gd name="adj1" fmla="val 50000"/>
                </a:avLst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50269BC8-3303-464B-BADD-613DF2C0ACF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431673" y="3264804"/>
                <a:ext cx="1797900" cy="839042"/>
                <a:chOff x="1977728" y="3055856"/>
                <a:chExt cx="1997671" cy="932270"/>
              </a:xfrm>
            </p:grpSpPr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327654BD-0F25-40FE-B9E7-6A579A83F9F7}"/>
                    </a:ext>
                  </a:extLst>
                </p:cNvPr>
                <p:cNvSpPr/>
                <p:nvPr/>
              </p:nvSpPr>
              <p:spPr>
                <a:xfrm>
                  <a:off x="1977728" y="3055856"/>
                  <a:ext cx="1997671" cy="93227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381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87" name="Graphic 86" descr="Disk with solid fill">
                  <a:extLst>
                    <a:ext uri="{FF2B5EF4-FFF2-40B4-BE49-F238E27FC236}">
                      <a16:creationId xmlns:a16="http://schemas.microsoft.com/office/drawing/2014/main" id="{83B874D1-D125-4E7F-BA61-367C1DC0C6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19364" y="3064790"/>
                  <a:ext cx="914400" cy="914400"/>
                </a:xfrm>
                <a:prstGeom prst="rect">
                  <a:avLst/>
                </a:prstGeom>
              </p:spPr>
            </p:pic>
          </p:grp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2FC0535F-30BF-4B19-83FA-30DD7F9709FA}"/>
                  </a:ext>
                </a:extLst>
              </p:cNvPr>
              <p:cNvCxnSpPr>
                <a:cxnSpLocks/>
                <a:stCxn id="76" idx="2"/>
                <a:endCxn id="79" idx="0"/>
              </p:cNvCxnSpPr>
              <p:nvPr/>
            </p:nvCxnSpPr>
            <p:spPr>
              <a:xfrm flipH="1">
                <a:off x="5946240" y="5442795"/>
                <a:ext cx="1" cy="28550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Connector: Elbow 73">
              <a:extLst>
                <a:ext uri="{FF2B5EF4-FFF2-40B4-BE49-F238E27FC236}">
                  <a16:creationId xmlns:a16="http://schemas.microsoft.com/office/drawing/2014/main" id="{7094A510-D98F-4A2F-91EF-C94C397B855F}"/>
                </a:ext>
              </a:extLst>
            </p:cNvPr>
            <p:cNvCxnSpPr>
              <a:cxnSpLocks/>
              <a:stCxn id="75" idx="2"/>
              <a:endCxn id="87" idx="0"/>
            </p:cNvCxnSpPr>
            <p:nvPr/>
          </p:nvCxnSpPr>
          <p:spPr>
            <a:xfrm rot="16200000" flipH="1">
              <a:off x="3471292" y="2255453"/>
              <a:ext cx="579976" cy="1283490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4CBD2BBB-77D3-89E3-7062-B3C4651F0344}"/>
              </a:ext>
            </a:extLst>
          </p:cNvPr>
          <p:cNvSpPr/>
          <p:nvPr/>
        </p:nvSpPr>
        <p:spPr>
          <a:xfrm rot="3447810">
            <a:off x="1795837" y="1162035"/>
            <a:ext cx="1483030" cy="3895664"/>
          </a:xfrm>
          <a:prstGeom prst="ellipse">
            <a:avLst/>
          </a:prstGeom>
          <a:noFill/>
          <a:ln w="571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2E2D37-E3D0-536E-4BFE-9844E3661CCE}"/>
              </a:ext>
            </a:extLst>
          </p:cNvPr>
          <p:cNvSpPr/>
          <p:nvPr/>
        </p:nvSpPr>
        <p:spPr>
          <a:xfrm rot="3447810">
            <a:off x="3338176" y="2214865"/>
            <a:ext cx="1483030" cy="3895664"/>
          </a:xfrm>
          <a:prstGeom prst="ellipse">
            <a:avLst/>
          </a:prstGeom>
          <a:noFill/>
          <a:ln w="571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57E294-16CC-0FF8-F0A7-5D5A40B92F0E}"/>
              </a:ext>
            </a:extLst>
          </p:cNvPr>
          <p:cNvSpPr/>
          <p:nvPr/>
        </p:nvSpPr>
        <p:spPr>
          <a:xfrm rot="18452054">
            <a:off x="9462165" y="1292805"/>
            <a:ext cx="1483030" cy="3895664"/>
          </a:xfrm>
          <a:prstGeom prst="ellipse">
            <a:avLst/>
          </a:prstGeom>
          <a:noFill/>
          <a:ln w="571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146876-F93E-B313-2226-743312201DF6}"/>
              </a:ext>
            </a:extLst>
          </p:cNvPr>
          <p:cNvSpPr/>
          <p:nvPr/>
        </p:nvSpPr>
        <p:spPr>
          <a:xfrm rot="18452054">
            <a:off x="7966855" y="2299625"/>
            <a:ext cx="1483030" cy="3895664"/>
          </a:xfrm>
          <a:prstGeom prst="ellipse">
            <a:avLst/>
          </a:prstGeom>
          <a:noFill/>
          <a:ln w="571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DD7300-1A5A-2446-3388-8D0F8580E886}"/>
              </a:ext>
            </a:extLst>
          </p:cNvPr>
          <p:cNvSpPr txBox="1"/>
          <p:nvPr/>
        </p:nvSpPr>
        <p:spPr>
          <a:xfrm>
            <a:off x="5008155" y="4462223"/>
            <a:ext cx="2769285" cy="1323439"/>
          </a:xfrm>
          <a:prstGeom prst="rect">
            <a:avLst/>
          </a:prstGeom>
          <a:solidFill>
            <a:schemeClr val="accent4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ptos Display" panose="020B0004020202020204" pitchFamily="34" charset="0"/>
              </a:rPr>
              <a:t>Now Load and Execute can work in parallel even though they have dependencies</a:t>
            </a:r>
          </a:p>
        </p:txBody>
      </p:sp>
    </p:spTree>
    <p:extLst>
      <p:ext uri="{BB962C8B-B14F-4D97-AF65-F5344CB8AC3E}">
        <p14:creationId xmlns:p14="http://schemas.microsoft.com/office/powerpoint/2010/main" val="219983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E7DDC4-B46F-44C0-A7EE-23D124FE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EB3E8A-3D18-4583-A081-FA98E849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Double Buffer (Ping-Pong Buffer)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C406A3-5D04-46C5-AED7-CE2864F5A02C}"/>
              </a:ext>
            </a:extLst>
          </p:cNvPr>
          <p:cNvSpPr txBox="1"/>
          <p:nvPr/>
        </p:nvSpPr>
        <p:spPr>
          <a:xfrm>
            <a:off x="4152833" y="1394099"/>
            <a:ext cx="6217988" cy="44012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load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buf_A_Ping</a:t>
            </a:r>
            <a:r>
              <a:rPr lang="en-US" sz="2000" dirty="0">
                <a:latin typeface="Consolas" panose="020B0609020204030204" pitchFamily="49" charset="0"/>
              </a:rPr>
              <a:t>, i);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for(int i = 0; i &lt; N; i++)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if( i % 2 == 0 )	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if( i &lt; N-1 )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load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buf_A_Pong</a:t>
            </a:r>
            <a:r>
              <a:rPr lang="en-US" sz="2000" dirty="0">
                <a:latin typeface="Consolas" panose="020B0609020204030204" pitchFamily="49" charset="0"/>
              </a:rPr>
              <a:t>, i+1);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buf_A_Ping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buf_B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store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buf_B</a:t>
            </a:r>
            <a:r>
              <a:rPr lang="en-US" sz="2000" dirty="0">
                <a:latin typeface="Consolas" panose="020B0609020204030204" pitchFamily="49" charset="0"/>
              </a:rPr>
              <a:t>, i);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else if (i % 2 == 1)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if( i &lt; N-1 )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load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buf_A_Ping</a:t>
            </a:r>
            <a:r>
              <a:rPr lang="en-US" sz="2000" dirty="0">
                <a:latin typeface="Consolas" panose="020B0609020204030204" pitchFamily="49" charset="0"/>
              </a:rPr>
              <a:t>, i+1);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buf_A_Pong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buf_B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store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buf_B</a:t>
            </a:r>
            <a:r>
              <a:rPr lang="en-US" sz="2000" dirty="0">
                <a:latin typeface="Consolas" panose="020B0609020204030204" pitchFamily="49" charset="0"/>
              </a:rPr>
              <a:t>, i);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4194D-2989-3311-81C1-B9490EB588E5}"/>
              </a:ext>
            </a:extLst>
          </p:cNvPr>
          <p:cNvSpPr txBox="1"/>
          <p:nvPr/>
        </p:nvSpPr>
        <p:spPr>
          <a:xfrm>
            <a:off x="768358" y="2647172"/>
            <a:ext cx="4341585" cy="707886"/>
          </a:xfrm>
          <a:prstGeom prst="rect">
            <a:avLst/>
          </a:prstGeom>
          <a:solidFill>
            <a:schemeClr val="accent4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ptos Display" panose="020B0004020202020204" pitchFamily="34" charset="0"/>
              </a:rPr>
              <a:t>Load and Execute can work in parallel by using two different buffers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158DA8-CBD4-B31C-EE7B-2A19B7B0FE9D}"/>
              </a:ext>
            </a:extLst>
          </p:cNvPr>
          <p:cNvSpPr txBox="1"/>
          <p:nvPr/>
        </p:nvSpPr>
        <p:spPr>
          <a:xfrm>
            <a:off x="768357" y="4221238"/>
            <a:ext cx="4341585" cy="707886"/>
          </a:xfrm>
          <a:prstGeom prst="rect">
            <a:avLst/>
          </a:prstGeom>
          <a:solidFill>
            <a:schemeClr val="accent4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ptos Display" panose="020B0004020202020204" pitchFamily="34" charset="0"/>
              </a:rPr>
              <a:t>Load and Execute can work in parallel by using two different buffers</a:t>
            </a:r>
          </a:p>
        </p:txBody>
      </p:sp>
    </p:spTree>
    <p:extLst>
      <p:ext uri="{BB962C8B-B14F-4D97-AF65-F5344CB8AC3E}">
        <p14:creationId xmlns:p14="http://schemas.microsoft.com/office/powerpoint/2010/main" val="313911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E7DDC4-B46F-44C0-A7EE-23D124FE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EB3E8A-3D18-4583-A081-FA98E849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Double Buffer (Ping-Pong Buffer)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C406A3-5D04-46C5-AED7-CE2864F5A02C}"/>
              </a:ext>
            </a:extLst>
          </p:cNvPr>
          <p:cNvSpPr txBox="1"/>
          <p:nvPr/>
        </p:nvSpPr>
        <p:spPr>
          <a:xfrm>
            <a:off x="5090092" y="1793315"/>
            <a:ext cx="6157028" cy="37856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for(int i = 0; i &lt; N; i++)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if( i % 2 == 0 )	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buf_A_Ping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buf_B_Ping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if( i &gt; 0 )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store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buf_B_Pong</a:t>
            </a:r>
            <a:r>
              <a:rPr lang="en-US" sz="2000" dirty="0">
                <a:latin typeface="Consolas" panose="020B0609020204030204" pitchFamily="49" charset="0"/>
              </a:rPr>
              <a:t>, i-1);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if( i &lt; N-1 )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load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buf_A_Pong</a:t>
            </a:r>
            <a:r>
              <a:rPr lang="en-US" sz="2000" dirty="0">
                <a:latin typeface="Consolas" panose="020B0609020204030204" pitchFamily="49" charset="0"/>
              </a:rPr>
              <a:t>, i+1);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else if (i % 2 == 1)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buf_A_Pong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buf_B_Pong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if( i &gt; 0 )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store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buf_B_Ping</a:t>
            </a:r>
            <a:r>
              <a:rPr lang="en-US" sz="2000" dirty="0">
                <a:latin typeface="Consolas" panose="020B0609020204030204" pitchFamily="49" charset="0"/>
              </a:rPr>
              <a:t>, i-1);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if( i &lt; N-1 )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load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buf_A_Ping</a:t>
            </a:r>
            <a:r>
              <a:rPr lang="en-US" sz="2000" dirty="0">
                <a:latin typeface="Consolas" panose="020B0609020204030204" pitchFamily="49" charset="0"/>
              </a:rPr>
              <a:t>, i+1);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1F3E5A-6BB0-4119-BA5D-11969A9F3A4A}"/>
              </a:ext>
            </a:extLst>
          </p:cNvPr>
          <p:cNvSpPr txBox="1"/>
          <p:nvPr/>
        </p:nvSpPr>
        <p:spPr>
          <a:xfrm>
            <a:off x="902017" y="1797447"/>
            <a:ext cx="3807143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read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buf_A_Ping</a:t>
            </a:r>
            <a:r>
              <a:rPr lang="en-US" sz="2000" dirty="0">
                <a:latin typeface="Consolas" panose="020B0609020204030204" pitchFamily="49" charset="0"/>
              </a:rPr>
              <a:t>, i);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916592-2F43-4666-9034-EE98A119B6F7}"/>
              </a:ext>
            </a:extLst>
          </p:cNvPr>
          <p:cNvSpPr txBox="1"/>
          <p:nvPr/>
        </p:nvSpPr>
        <p:spPr>
          <a:xfrm>
            <a:off x="902017" y="4255528"/>
            <a:ext cx="3807143" cy="132343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if( xxx )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store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buf_B_Ping</a:t>
            </a:r>
            <a:r>
              <a:rPr lang="en-US" sz="2000" dirty="0">
                <a:latin typeface="Consolas" panose="020B0609020204030204" pitchFamily="49" charset="0"/>
              </a:rPr>
              <a:t>, i);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else </a:t>
            </a:r>
          </a:p>
          <a:p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store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buf_B_Pong</a:t>
            </a:r>
            <a:r>
              <a:rPr lang="en-US" sz="2000" dirty="0">
                <a:latin typeface="Consolas" panose="020B0609020204030204" pitchFamily="49" charset="0"/>
              </a:rPr>
              <a:t>; i);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394B7B6-7DF7-446F-BB66-98F705EB2EAF}"/>
              </a:ext>
            </a:extLst>
          </p:cNvPr>
          <p:cNvSpPr/>
          <p:nvPr/>
        </p:nvSpPr>
        <p:spPr>
          <a:xfrm>
            <a:off x="4762500" y="1793315"/>
            <a:ext cx="297112" cy="46166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10A978D-CD49-479D-888A-006926AD99AA}"/>
              </a:ext>
            </a:extLst>
          </p:cNvPr>
          <p:cNvSpPr/>
          <p:nvPr/>
        </p:nvSpPr>
        <p:spPr>
          <a:xfrm rot="10800000">
            <a:off x="4751070" y="4686414"/>
            <a:ext cx="297112" cy="46166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433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AC467A-2633-4FC9-96FD-4383B9C0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Pros</a:t>
            </a:r>
          </a:p>
          <a:p>
            <a:pPr lvl="1"/>
            <a:r>
              <a:rPr lang="en-US" sz="2800" dirty="0"/>
              <a:t>Overlapped execution – shorter latency</a:t>
            </a:r>
          </a:p>
          <a:p>
            <a:endParaRPr lang="en-US" sz="3200" dirty="0"/>
          </a:p>
          <a:p>
            <a:r>
              <a:rPr lang="en-US" sz="3200" dirty="0"/>
              <a:t>Cons</a:t>
            </a:r>
          </a:p>
          <a:p>
            <a:pPr lvl="1"/>
            <a:r>
              <a:rPr lang="en-US" sz="2800" dirty="0"/>
              <a:t>Memory overhead (2x)</a:t>
            </a:r>
          </a:p>
          <a:p>
            <a:pPr lvl="1"/>
            <a:r>
              <a:rPr lang="en-US" sz="2800" dirty="0"/>
              <a:t>Programmer’s effort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78A824-E11F-4B6E-B23B-D5F9ABBB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FEEE3F-9ECE-41C9-8C00-AE85E3EE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Ping-Pong Buffer Pros and Cons</a:t>
            </a:r>
          </a:p>
        </p:txBody>
      </p:sp>
    </p:spTree>
    <p:extLst>
      <p:ext uri="{BB962C8B-B14F-4D97-AF65-F5344CB8AC3E}">
        <p14:creationId xmlns:p14="http://schemas.microsoft.com/office/powerpoint/2010/main" val="248595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53F075-6A75-6574-91EF-D7C3225A1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Ping-pong still assumes array-style memory semantics</a:t>
            </a:r>
          </a:p>
          <a:p>
            <a:pPr lvl="1"/>
            <a:r>
              <a:rPr lang="en-US" dirty="0"/>
              <a:t>Buffers are treated as random-access arrays</a:t>
            </a:r>
          </a:p>
          <a:p>
            <a:pPr marL="457188" lvl="1" indent="0">
              <a:buNone/>
            </a:pPr>
            <a:endParaRPr lang="en-US" dirty="0"/>
          </a:p>
          <a:p>
            <a:r>
              <a:rPr lang="en-US" dirty="0"/>
              <a:t>Compiler assumes:</a:t>
            </a:r>
          </a:p>
          <a:p>
            <a:pPr lvl="1"/>
            <a:r>
              <a:rPr lang="en-US" dirty="0"/>
              <a:t>Any element may be read at any time</a:t>
            </a:r>
          </a:p>
          <a:p>
            <a:pPr lvl="1"/>
            <a:r>
              <a:rPr lang="en-US" dirty="0"/>
              <a:t>Any element may be overwritten at any time</a:t>
            </a:r>
          </a:p>
          <a:p>
            <a:pPr lvl="1"/>
            <a:endParaRPr lang="en-US" dirty="0"/>
          </a:p>
          <a:p>
            <a:r>
              <a:rPr lang="en-US" dirty="0"/>
              <a:t>Therefore:</a:t>
            </a:r>
          </a:p>
          <a:p>
            <a:pPr lvl="1"/>
            <a:r>
              <a:rPr lang="en-US" dirty="0"/>
              <a:t>Full buffer must be written </a:t>
            </a:r>
            <a:r>
              <a:rPr lang="en-US" b="1" dirty="0"/>
              <a:t>before</a:t>
            </a:r>
            <a:r>
              <a:rPr lang="en-US" dirty="0"/>
              <a:t> it is safe to read</a:t>
            </a:r>
          </a:p>
          <a:p>
            <a:pPr lvl="1"/>
            <a:r>
              <a:rPr lang="en-US" dirty="0"/>
              <a:t>Full buffer must be read </a:t>
            </a:r>
            <a:r>
              <a:rPr lang="en-US" b="1" dirty="0"/>
              <a:t>before</a:t>
            </a:r>
            <a:r>
              <a:rPr lang="en-US" dirty="0"/>
              <a:t> it is safe to overwrite</a:t>
            </a:r>
          </a:p>
          <a:p>
            <a:pPr lvl="1"/>
            <a:endParaRPr lang="en-US" dirty="0"/>
          </a:p>
          <a:p>
            <a:r>
              <a:rPr lang="en-US" dirty="0"/>
              <a:t>Consequence:</a:t>
            </a:r>
          </a:p>
          <a:p>
            <a:pPr lvl="1"/>
            <a:r>
              <a:rPr lang="en-US" dirty="0"/>
              <a:t>Dependencies are conservative</a:t>
            </a:r>
          </a:p>
          <a:p>
            <a:pPr lvl="1"/>
            <a:r>
              <a:rPr lang="en-US" dirty="0"/>
              <a:t>Scheduling is rigid</a:t>
            </a:r>
          </a:p>
          <a:p>
            <a:pPr lvl="1"/>
            <a:r>
              <a:rPr lang="en-US" dirty="0"/>
              <a:t>Programmer effort increases quickly with more stages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D1765-2048-362B-288F-1059874E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8205DB-6F22-121A-70A4-AAD62306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Hidden Assumption Behind Ping-Pong</a:t>
            </a:r>
          </a:p>
        </p:txBody>
      </p:sp>
    </p:spTree>
    <p:extLst>
      <p:ext uri="{BB962C8B-B14F-4D97-AF65-F5344CB8AC3E}">
        <p14:creationId xmlns:p14="http://schemas.microsoft.com/office/powerpoint/2010/main" val="1671763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6B8666-7DBF-E7FD-ADFC-BB981BC22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designs don’t need full arrays at all; data is often</a:t>
            </a:r>
          </a:p>
          <a:p>
            <a:pPr lvl="1"/>
            <a:r>
              <a:rPr lang="en-US" dirty="0"/>
              <a:t>produced in order</a:t>
            </a:r>
          </a:p>
          <a:p>
            <a:pPr lvl="1"/>
            <a:r>
              <a:rPr lang="en-US" dirty="0"/>
              <a:t>consumed in order</a:t>
            </a:r>
          </a:p>
          <a:p>
            <a:pPr lvl="1"/>
            <a:r>
              <a:rPr lang="en-US" dirty="0"/>
              <a:t>never revisited</a:t>
            </a:r>
          </a:p>
          <a:p>
            <a:pPr lvl="1"/>
            <a:endParaRPr lang="en-US" dirty="0"/>
          </a:p>
          <a:p>
            <a:r>
              <a:rPr lang="en-US" dirty="0"/>
              <a:t>This is not memory — this is a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stream</a:t>
            </a:r>
          </a:p>
          <a:p>
            <a:endParaRPr lang="en-US" dirty="0"/>
          </a:p>
          <a:p>
            <a:r>
              <a:rPr lang="en-US" dirty="0"/>
              <a:t>If access order is fixed:</a:t>
            </a:r>
          </a:p>
          <a:p>
            <a:pPr lvl="1"/>
            <a:r>
              <a:rPr lang="en-US" dirty="0"/>
              <a:t>compiler does </a:t>
            </a:r>
            <a:r>
              <a:rPr lang="en-US" i="1" dirty="0"/>
              <a:t>not</a:t>
            </a:r>
            <a:r>
              <a:rPr lang="en-US" dirty="0"/>
              <a:t> need to wait for “all writes”</a:t>
            </a:r>
          </a:p>
          <a:p>
            <a:pPr lvl="1"/>
            <a:endParaRPr lang="en-US" dirty="0"/>
          </a:p>
          <a:p>
            <a:r>
              <a:rPr lang="en-US" dirty="0"/>
              <a:t>If order is fixed, correctness can be enforced by ordering, not completion.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EF23C9-BF3D-C2BD-5CAC-6C010341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8F2640-F824-9F13-49DB-C4920625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 We Really Need Random Access?</a:t>
            </a:r>
          </a:p>
        </p:txBody>
      </p:sp>
    </p:spTree>
    <p:extLst>
      <p:ext uri="{BB962C8B-B14F-4D97-AF65-F5344CB8AC3E}">
        <p14:creationId xmlns:p14="http://schemas.microsoft.com/office/powerpoint/2010/main" val="1882946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C8857-298D-5D19-143F-C1465BA9E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17498C-E9A0-6148-9F91-250164FAD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792974"/>
          </a:xfrm>
        </p:spPr>
        <p:txBody>
          <a:bodyPr>
            <a:normAutofit/>
          </a:bodyPr>
          <a:lstStyle/>
          <a:p>
            <a:r>
              <a:rPr lang="en-US" sz="3200" dirty="0"/>
              <a:t>Is there a better way? </a:t>
            </a:r>
            <a:r>
              <a:rPr lang="en-US" sz="3200" dirty="0">
                <a:sym typeface="Wingdings" panose="05000000000000000000" pitchFamily="2" charset="2"/>
              </a:rPr>
              <a:t> Why is the dependency enforced?</a:t>
            </a:r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Key assumption is the write and read can be </a:t>
            </a:r>
            <a:r>
              <a:rPr lang="en-US" sz="3200" dirty="0">
                <a:solidFill>
                  <a:schemeClr val="accent1"/>
                </a:solidFill>
              </a:rPr>
              <a:t>random order</a:t>
            </a:r>
          </a:p>
          <a:p>
            <a:pPr lvl="1"/>
            <a:r>
              <a:rPr lang="en-US" sz="2800" dirty="0"/>
              <a:t>To ensure correctness, function_2 cannot touch </a:t>
            </a:r>
            <a:r>
              <a:rPr lang="en-US" sz="2800" dirty="0" err="1"/>
              <a:t>array_A</a:t>
            </a:r>
            <a:r>
              <a:rPr lang="en-US" sz="2800" dirty="0"/>
              <a:t> unless all writes are done</a:t>
            </a:r>
          </a:p>
          <a:p>
            <a:pPr lvl="1"/>
            <a:endParaRPr lang="en-US" sz="2800" dirty="0"/>
          </a:p>
          <a:p>
            <a:r>
              <a:rPr lang="en-US" sz="3200" dirty="0"/>
              <a:t>What if the design only need a fixed order?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2B347E-EECE-335D-304B-3AB3FF5E1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19D029-32EB-A11D-D10A-67290933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Break the Dependency using FIFOs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FC8438F-9A6C-3376-9882-EE89BC483FDA}"/>
              </a:ext>
            </a:extLst>
          </p:cNvPr>
          <p:cNvGrpSpPr/>
          <p:nvPr/>
        </p:nvGrpSpPr>
        <p:grpSpPr>
          <a:xfrm>
            <a:off x="1036357" y="2249069"/>
            <a:ext cx="9840536" cy="733663"/>
            <a:chOff x="1036357" y="2249069"/>
            <a:chExt cx="9840536" cy="7336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CCA1296-1181-D383-1D39-C9D97CEF1FFC}"/>
                </a:ext>
              </a:extLst>
            </p:cNvPr>
            <p:cNvSpPr/>
            <p:nvPr/>
          </p:nvSpPr>
          <p:spPr>
            <a:xfrm>
              <a:off x="1036357" y="2387300"/>
              <a:ext cx="1828800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function_1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8A3B95-E129-4C9B-9EDC-6F5679782C38}"/>
                </a:ext>
              </a:extLst>
            </p:cNvPr>
            <p:cNvSpPr/>
            <p:nvPr/>
          </p:nvSpPr>
          <p:spPr>
            <a:xfrm>
              <a:off x="5042225" y="2387300"/>
              <a:ext cx="1828800" cy="457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E7B7F63-1D35-6F46-EC55-C06A9E28A3C3}"/>
                </a:ext>
              </a:extLst>
            </p:cNvPr>
            <p:cNvSpPr/>
            <p:nvPr/>
          </p:nvSpPr>
          <p:spPr>
            <a:xfrm>
              <a:off x="9048093" y="2387300"/>
              <a:ext cx="1828800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function_3</a:t>
              </a:r>
            </a:p>
          </p:txBody>
        </p:sp>
        <p:sp>
          <p:nvSpPr>
            <p:cNvPr id="8" name="Flowchart: Magnetic Disk 7">
              <a:extLst>
                <a:ext uri="{FF2B5EF4-FFF2-40B4-BE49-F238E27FC236}">
                  <a16:creationId xmlns:a16="http://schemas.microsoft.com/office/drawing/2014/main" id="{C362245B-8FC1-3A15-C389-B0B7891BF64B}"/>
                </a:ext>
              </a:extLst>
            </p:cNvPr>
            <p:cNvSpPr/>
            <p:nvPr/>
          </p:nvSpPr>
          <p:spPr>
            <a:xfrm>
              <a:off x="3397545" y="2249069"/>
              <a:ext cx="1112292" cy="733663"/>
            </a:xfrm>
            <a:prstGeom prst="flowChartMagneticDisk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</a:rPr>
                <a:t>array</a:t>
              </a:r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_A</a:t>
              </a:r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Flowchart: Magnetic Disk 8">
              <a:extLst>
                <a:ext uri="{FF2B5EF4-FFF2-40B4-BE49-F238E27FC236}">
                  <a16:creationId xmlns:a16="http://schemas.microsoft.com/office/drawing/2014/main" id="{071F0E59-7A18-5B81-B2A7-9AB10541A8BA}"/>
                </a:ext>
              </a:extLst>
            </p:cNvPr>
            <p:cNvSpPr/>
            <p:nvPr/>
          </p:nvSpPr>
          <p:spPr>
            <a:xfrm>
              <a:off x="7403413" y="2249069"/>
              <a:ext cx="1112292" cy="733663"/>
            </a:xfrm>
            <a:prstGeom prst="flowChartMagneticDisk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</a:rPr>
                <a:t>array</a:t>
              </a:r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_B</a:t>
              </a:r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2114043-AAFF-CC39-41C7-7DC7D07C48AE}"/>
                </a:ext>
              </a:extLst>
            </p:cNvPr>
            <p:cNvCxnSpPr>
              <a:cxnSpLocks/>
              <a:stCxn id="5" idx="3"/>
              <a:endCxn id="8" idx="2"/>
            </p:cNvCxnSpPr>
            <p:nvPr/>
          </p:nvCxnSpPr>
          <p:spPr>
            <a:xfrm>
              <a:off x="2865157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33EDD92-350E-637D-D873-7BDD44C1C6E1}"/>
                </a:ext>
              </a:extLst>
            </p:cNvPr>
            <p:cNvCxnSpPr>
              <a:cxnSpLocks/>
              <a:stCxn id="8" idx="4"/>
              <a:endCxn id="6" idx="1"/>
            </p:cNvCxnSpPr>
            <p:nvPr/>
          </p:nvCxnSpPr>
          <p:spPr>
            <a:xfrm flipV="1">
              <a:off x="4509837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DEA969C-2D6C-CEE0-C0DB-8C0C2FCC833B}"/>
                </a:ext>
              </a:extLst>
            </p:cNvPr>
            <p:cNvCxnSpPr>
              <a:cxnSpLocks/>
              <a:stCxn id="6" idx="3"/>
              <a:endCxn id="9" idx="2"/>
            </p:cNvCxnSpPr>
            <p:nvPr/>
          </p:nvCxnSpPr>
          <p:spPr>
            <a:xfrm>
              <a:off x="6871025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C35A1A2-A3AB-A9AE-8D20-9760E165CC75}"/>
                </a:ext>
              </a:extLst>
            </p:cNvPr>
            <p:cNvCxnSpPr>
              <a:cxnSpLocks/>
              <a:stCxn id="9" idx="4"/>
              <a:endCxn id="7" idx="1"/>
            </p:cNvCxnSpPr>
            <p:nvPr/>
          </p:nvCxnSpPr>
          <p:spPr>
            <a:xfrm flipV="1">
              <a:off x="8515705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81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9D484-1813-43B0-AC4B-F7368C9E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780AAC-6010-4B56-9C2D-9E904D298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Producer-Consumer Paradigm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4DCF22-5D09-4809-9DC8-6DECCE18DE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47"/>
          <a:stretch/>
        </p:blipFill>
        <p:spPr bwMode="auto">
          <a:xfrm>
            <a:off x="2986253" y="1504410"/>
            <a:ext cx="6043447" cy="4476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7592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69843D-DF4E-47BE-8FE1-CBAB2E680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273591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/>
              <a:t>Enabled by </a:t>
            </a:r>
            <a:r>
              <a:rPr lang="en-US" sz="3200" dirty="0">
                <a:solidFill>
                  <a:schemeClr val="accent1"/>
                </a:solidFill>
              </a:rPr>
              <a:t>FIFO (first-in first-out)</a:t>
            </a:r>
            <a:r>
              <a:rPr lang="en-US" sz="3200" dirty="0"/>
              <a:t> buffers</a:t>
            </a:r>
          </a:p>
          <a:p>
            <a:pPr lvl="1"/>
            <a:r>
              <a:rPr lang="en-US" sz="2800" dirty="0"/>
              <a:t>The consumer process can start accessing the data inside the FIFO buffer as soon as the producer inserts the data into the buffer</a:t>
            </a:r>
          </a:p>
          <a:p>
            <a:pPr lvl="1"/>
            <a:r>
              <a:rPr lang="en-US" sz="2800" dirty="0"/>
              <a:t>If the buffer is full/empty, automatically stalls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6DEB7A-1B0A-4C79-8E08-54FB29CBC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DBF4A2-9F38-4F53-9435-6C2A1C92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Streaming for Producer-Consumer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D78E60-FBB5-7360-D44D-CD033B375008}"/>
              </a:ext>
            </a:extLst>
          </p:cNvPr>
          <p:cNvGrpSpPr/>
          <p:nvPr/>
        </p:nvGrpSpPr>
        <p:grpSpPr>
          <a:xfrm>
            <a:off x="1100175" y="3526190"/>
            <a:ext cx="9840536" cy="733663"/>
            <a:chOff x="1036357" y="2249069"/>
            <a:chExt cx="9840536" cy="7336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1FC3CCC-CD08-A59E-2C2C-7AE3123A0D48}"/>
                </a:ext>
              </a:extLst>
            </p:cNvPr>
            <p:cNvSpPr/>
            <p:nvPr/>
          </p:nvSpPr>
          <p:spPr>
            <a:xfrm>
              <a:off x="1036357" y="2387300"/>
              <a:ext cx="1828800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5ADD7A0-8E8D-57F3-B608-07A0C321ADE5}"/>
                </a:ext>
              </a:extLst>
            </p:cNvPr>
            <p:cNvSpPr/>
            <p:nvPr/>
          </p:nvSpPr>
          <p:spPr>
            <a:xfrm>
              <a:off x="5042225" y="2387300"/>
              <a:ext cx="1828800" cy="457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function_2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5B9C28A-C794-F831-9B7B-D788F2BC6DFF}"/>
                </a:ext>
              </a:extLst>
            </p:cNvPr>
            <p:cNvSpPr/>
            <p:nvPr/>
          </p:nvSpPr>
          <p:spPr>
            <a:xfrm>
              <a:off x="9048093" y="2387300"/>
              <a:ext cx="1828800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function_3</a:t>
              </a:r>
            </a:p>
          </p:txBody>
        </p:sp>
        <p:sp>
          <p:nvSpPr>
            <p:cNvPr id="23" name="Flowchart: Magnetic Disk 22">
              <a:extLst>
                <a:ext uri="{FF2B5EF4-FFF2-40B4-BE49-F238E27FC236}">
                  <a16:creationId xmlns:a16="http://schemas.microsoft.com/office/drawing/2014/main" id="{0B7D6CB0-D72C-A727-5958-5BFDE4B207C3}"/>
                </a:ext>
              </a:extLst>
            </p:cNvPr>
            <p:cNvSpPr/>
            <p:nvPr/>
          </p:nvSpPr>
          <p:spPr>
            <a:xfrm>
              <a:off x="3397545" y="2249069"/>
              <a:ext cx="1112292" cy="733663"/>
            </a:xfrm>
            <a:prstGeom prst="flowChartMagneticDisk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</a:rPr>
                <a:t>array</a:t>
              </a:r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_A</a:t>
              </a:r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6" name="Flowchart: Magnetic Disk 25">
              <a:extLst>
                <a:ext uri="{FF2B5EF4-FFF2-40B4-BE49-F238E27FC236}">
                  <a16:creationId xmlns:a16="http://schemas.microsoft.com/office/drawing/2014/main" id="{5789C383-DBB3-C38C-D91D-62599FB96CBB}"/>
                </a:ext>
              </a:extLst>
            </p:cNvPr>
            <p:cNvSpPr/>
            <p:nvPr/>
          </p:nvSpPr>
          <p:spPr>
            <a:xfrm>
              <a:off x="7403413" y="2249069"/>
              <a:ext cx="1112292" cy="733663"/>
            </a:xfrm>
            <a:prstGeom prst="flowChartMagneticDisk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</a:rPr>
                <a:t>array</a:t>
              </a:r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_B</a:t>
              </a:r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6246490-C693-6D38-38F1-2F9DD4E77192}"/>
                </a:ext>
              </a:extLst>
            </p:cNvPr>
            <p:cNvCxnSpPr>
              <a:cxnSpLocks/>
              <a:stCxn id="18" idx="3"/>
              <a:endCxn id="23" idx="2"/>
            </p:cNvCxnSpPr>
            <p:nvPr/>
          </p:nvCxnSpPr>
          <p:spPr>
            <a:xfrm>
              <a:off x="2865157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1C767F1-82AE-F84B-BFAE-0E07ED60B199}"/>
                </a:ext>
              </a:extLst>
            </p:cNvPr>
            <p:cNvCxnSpPr>
              <a:cxnSpLocks/>
              <a:stCxn id="23" idx="4"/>
              <a:endCxn id="19" idx="1"/>
            </p:cNvCxnSpPr>
            <p:nvPr/>
          </p:nvCxnSpPr>
          <p:spPr>
            <a:xfrm flipV="1">
              <a:off x="4509837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1C8C6CC-8270-6040-42CF-07A166C497A4}"/>
                </a:ext>
              </a:extLst>
            </p:cNvPr>
            <p:cNvCxnSpPr>
              <a:cxnSpLocks/>
              <a:stCxn id="19" idx="3"/>
              <a:endCxn id="26" idx="2"/>
            </p:cNvCxnSpPr>
            <p:nvPr/>
          </p:nvCxnSpPr>
          <p:spPr>
            <a:xfrm>
              <a:off x="6871025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CCFF95C-228A-B48E-1519-CF7405058619}"/>
                </a:ext>
              </a:extLst>
            </p:cNvPr>
            <p:cNvCxnSpPr>
              <a:cxnSpLocks/>
              <a:stCxn id="26" idx="4"/>
              <a:endCxn id="21" idx="1"/>
            </p:cNvCxnSpPr>
            <p:nvPr/>
          </p:nvCxnSpPr>
          <p:spPr>
            <a:xfrm flipV="1">
              <a:off x="8515705" y="2615900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879E318-7B90-4918-BE4D-0E3B6BDBD3DD}"/>
              </a:ext>
            </a:extLst>
          </p:cNvPr>
          <p:cNvGrpSpPr/>
          <p:nvPr/>
        </p:nvGrpSpPr>
        <p:grpSpPr>
          <a:xfrm>
            <a:off x="1103990" y="4478306"/>
            <a:ext cx="9840536" cy="1199071"/>
            <a:chOff x="1103990" y="4478306"/>
            <a:chExt cx="9840536" cy="1199071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85D1C5E-B7EE-4BFD-B0FD-FAEE602EA3CE}"/>
                </a:ext>
              </a:extLst>
            </p:cNvPr>
            <p:cNvSpPr txBox="1"/>
            <p:nvPr/>
          </p:nvSpPr>
          <p:spPr>
            <a:xfrm>
              <a:off x="3302703" y="4478306"/>
              <a:ext cx="15048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  <a:latin typeface="Aptos Display" panose="020B0004020202020204" pitchFamily="34" charset="0"/>
                </a:rPr>
                <a:t>FIFO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81B7ADA-3C44-412A-80C1-E26E71A40291}"/>
                </a:ext>
              </a:extLst>
            </p:cNvPr>
            <p:cNvGrpSpPr/>
            <p:nvPr/>
          </p:nvGrpSpPr>
          <p:grpSpPr>
            <a:xfrm>
              <a:off x="3587882" y="4983957"/>
              <a:ext cx="914400" cy="693420"/>
              <a:chOff x="2514645" y="5372107"/>
              <a:chExt cx="1226820" cy="693420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D2DB83D-E782-4846-B95C-2EF731C367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537210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8A68422-5A05-434A-A0FE-697AE8D6B1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606552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C1E0BEA-D5BC-40C9-AE89-08EA2C29A2CE}"/>
                  </a:ext>
                </a:extLst>
              </p:cNvPr>
              <p:cNvSpPr/>
              <p:nvPr/>
            </p:nvSpPr>
            <p:spPr>
              <a:xfrm>
                <a:off x="2606039" y="5433060"/>
                <a:ext cx="1036321" cy="5791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E4F00F7-0A14-4206-A67A-7854B65D610B}"/>
                </a:ext>
              </a:extLst>
            </p:cNvPr>
            <p:cNvGrpSpPr/>
            <p:nvPr/>
          </p:nvGrpSpPr>
          <p:grpSpPr>
            <a:xfrm>
              <a:off x="7611316" y="4982931"/>
              <a:ext cx="914400" cy="693420"/>
              <a:chOff x="2514645" y="5372107"/>
              <a:chExt cx="1226820" cy="693420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6DC795E-19BA-447D-A591-B4ED452D6B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537210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05A8339-20CF-44C6-9EB1-72391E284F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606552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EACCF8D-A6A5-49B0-B73D-5650DD27EFCE}"/>
                  </a:ext>
                </a:extLst>
              </p:cNvPr>
              <p:cNvSpPr/>
              <p:nvPr/>
            </p:nvSpPr>
            <p:spPr>
              <a:xfrm>
                <a:off x="2606039" y="5433060"/>
                <a:ext cx="1036321" cy="5791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0C722BF-0797-4FAE-A48B-8EA504BC63AA}"/>
                </a:ext>
              </a:extLst>
            </p:cNvPr>
            <p:cNvSpPr txBox="1"/>
            <p:nvPr/>
          </p:nvSpPr>
          <p:spPr>
            <a:xfrm>
              <a:off x="7344707" y="4514701"/>
              <a:ext cx="15048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  <a:latin typeface="Aptos Display" panose="020B0004020202020204" pitchFamily="34" charset="0"/>
                </a:rPr>
                <a:t>FIFO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1AF25FC-FD6E-4D1E-AD80-4F74916B5980}"/>
                </a:ext>
              </a:extLst>
            </p:cNvPr>
            <p:cNvSpPr/>
            <p:nvPr/>
          </p:nvSpPr>
          <p:spPr>
            <a:xfrm>
              <a:off x="4280647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9A6671E-D4B3-4382-9D6D-E69CDE3E3973}"/>
                </a:ext>
              </a:extLst>
            </p:cNvPr>
            <p:cNvSpPr/>
            <p:nvPr/>
          </p:nvSpPr>
          <p:spPr>
            <a:xfrm>
              <a:off x="4183605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B5112CF-278C-4D6C-AAD5-EEFAF6F9DA83}"/>
                </a:ext>
              </a:extLst>
            </p:cNvPr>
            <p:cNvSpPr/>
            <p:nvPr/>
          </p:nvSpPr>
          <p:spPr>
            <a:xfrm>
              <a:off x="4086564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4B99AD1-A581-4D08-B730-98BFBB841D20}"/>
                </a:ext>
              </a:extLst>
            </p:cNvPr>
            <p:cNvSpPr/>
            <p:nvPr/>
          </p:nvSpPr>
          <p:spPr>
            <a:xfrm>
              <a:off x="3989523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4C22172-6506-4923-8165-41EE541B915A}"/>
                </a:ext>
              </a:extLst>
            </p:cNvPr>
            <p:cNvSpPr/>
            <p:nvPr/>
          </p:nvSpPr>
          <p:spPr>
            <a:xfrm>
              <a:off x="7890993" y="5042242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0B0DBFB-53E2-439D-A8F5-C9764CC1B97C}"/>
                </a:ext>
              </a:extLst>
            </p:cNvPr>
            <p:cNvSpPr/>
            <p:nvPr/>
          </p:nvSpPr>
          <p:spPr>
            <a:xfrm>
              <a:off x="7793952" y="5042242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FEE7BC2-7C1F-DD0F-247C-2306A73E03B6}"/>
                </a:ext>
              </a:extLst>
            </p:cNvPr>
            <p:cNvSpPr/>
            <p:nvPr/>
          </p:nvSpPr>
          <p:spPr>
            <a:xfrm>
              <a:off x="1103990" y="5035742"/>
              <a:ext cx="1828800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3D845E8-712F-ACEC-8DD6-95F49AEE7320}"/>
                </a:ext>
              </a:extLst>
            </p:cNvPr>
            <p:cNvSpPr/>
            <p:nvPr/>
          </p:nvSpPr>
          <p:spPr>
            <a:xfrm>
              <a:off x="5109858" y="5035742"/>
              <a:ext cx="1828800" cy="457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function_2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1CD7565-125A-1FDF-E50B-6140F93DEFA5}"/>
                </a:ext>
              </a:extLst>
            </p:cNvPr>
            <p:cNvSpPr/>
            <p:nvPr/>
          </p:nvSpPr>
          <p:spPr>
            <a:xfrm>
              <a:off x="9115726" y="5035742"/>
              <a:ext cx="1828800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function_3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CF4554D3-EA4F-3E1E-3C5D-3AC56C0C7314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2932790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B7ED4DF2-FEF8-11A9-D605-87745292ABA3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 flipV="1">
              <a:off x="4577470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9848E6A-A7FA-752E-4951-5BB68C33567E}"/>
                </a:ext>
              </a:extLst>
            </p:cNvPr>
            <p:cNvCxnSpPr>
              <a:cxnSpLocks/>
              <a:stCxn id="47" idx="3"/>
            </p:cNvCxnSpPr>
            <p:nvPr/>
          </p:nvCxnSpPr>
          <p:spPr>
            <a:xfrm>
              <a:off x="6938658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F23B812D-BFDD-45AF-0B13-3D6321EC7DE9}"/>
                </a:ext>
              </a:extLst>
            </p:cNvPr>
            <p:cNvCxnSpPr>
              <a:cxnSpLocks/>
              <a:endCxn id="51" idx="1"/>
            </p:cNvCxnSpPr>
            <p:nvPr/>
          </p:nvCxnSpPr>
          <p:spPr>
            <a:xfrm flipV="1">
              <a:off x="8583338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220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5CF5A-D2EF-D390-418E-147A07BAC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47296A-5763-69D1-7C1D-7E0F7716D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273591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/>
              <a:t>Enabled by </a:t>
            </a:r>
            <a:r>
              <a:rPr lang="en-US" sz="3200" dirty="0">
                <a:solidFill>
                  <a:schemeClr val="accent1"/>
                </a:solidFill>
              </a:rPr>
              <a:t>FIFO (first-in first-out)</a:t>
            </a:r>
            <a:r>
              <a:rPr lang="en-US" sz="3200" dirty="0"/>
              <a:t> buffers</a:t>
            </a:r>
          </a:p>
          <a:p>
            <a:pPr lvl="1"/>
            <a:r>
              <a:rPr lang="en-US" sz="2800" dirty="0"/>
              <a:t>The consumer process can start accessing the data inside the FIFO buffer as soon as the producer inserts the data into the buffer</a:t>
            </a:r>
          </a:p>
          <a:p>
            <a:pPr lvl="1"/>
            <a:r>
              <a:rPr lang="en-US" sz="2800" dirty="0"/>
              <a:t>If the buffer is full/empty, automatically stalls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5EEBB7-5D94-0FD5-D0F7-A31B7E386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C56AC7-0992-F3FE-631F-4A67EC930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Streaming for Producer-Consumer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138E068-3234-6E55-524C-43B6D957627E}"/>
              </a:ext>
            </a:extLst>
          </p:cNvPr>
          <p:cNvGrpSpPr/>
          <p:nvPr/>
        </p:nvGrpSpPr>
        <p:grpSpPr>
          <a:xfrm>
            <a:off x="1103990" y="4478306"/>
            <a:ext cx="9840536" cy="1199071"/>
            <a:chOff x="1103990" y="4478306"/>
            <a:chExt cx="9840536" cy="1199071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3C5CECC-8C5D-F3C1-33D4-6EDE095708AF}"/>
                </a:ext>
              </a:extLst>
            </p:cNvPr>
            <p:cNvSpPr txBox="1"/>
            <p:nvPr/>
          </p:nvSpPr>
          <p:spPr>
            <a:xfrm>
              <a:off x="3302703" y="4478306"/>
              <a:ext cx="15048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  <a:latin typeface="Aptos Display" panose="020B0004020202020204" pitchFamily="34" charset="0"/>
                </a:rPr>
                <a:t>FIFO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DF44BDE-F1C1-94BF-2D2F-4588247D7984}"/>
                </a:ext>
              </a:extLst>
            </p:cNvPr>
            <p:cNvGrpSpPr/>
            <p:nvPr/>
          </p:nvGrpSpPr>
          <p:grpSpPr>
            <a:xfrm>
              <a:off x="3587882" y="4983957"/>
              <a:ext cx="914400" cy="693420"/>
              <a:chOff x="2514645" y="5372107"/>
              <a:chExt cx="1226820" cy="693420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4D23A60-4A4A-21E4-C830-59955CDC4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537210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8E65C51-C69D-E95B-AE7C-3D4EF36BA0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606552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3EFFE25-A0E4-4924-8D7C-5B5807D53B02}"/>
                  </a:ext>
                </a:extLst>
              </p:cNvPr>
              <p:cNvSpPr/>
              <p:nvPr/>
            </p:nvSpPr>
            <p:spPr>
              <a:xfrm>
                <a:off x="2606039" y="5433060"/>
                <a:ext cx="1036321" cy="5791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9B19A24-5A80-1D96-FAF8-E91DDE4CC863}"/>
                </a:ext>
              </a:extLst>
            </p:cNvPr>
            <p:cNvGrpSpPr/>
            <p:nvPr/>
          </p:nvGrpSpPr>
          <p:grpSpPr>
            <a:xfrm>
              <a:off x="7611316" y="4982931"/>
              <a:ext cx="914400" cy="693420"/>
              <a:chOff x="2514645" y="5372107"/>
              <a:chExt cx="1226820" cy="693420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6E471DA-0DD9-5431-F358-2BB1F84256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537210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7468BF8-3D28-66B4-5A54-4088E44660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606552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D0DE15D-FDBB-623D-3FC4-5AAB1D6045E1}"/>
                  </a:ext>
                </a:extLst>
              </p:cNvPr>
              <p:cNvSpPr/>
              <p:nvPr/>
            </p:nvSpPr>
            <p:spPr>
              <a:xfrm>
                <a:off x="2606039" y="5433060"/>
                <a:ext cx="1036321" cy="5791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7482ED4-0390-CC25-3D76-DF946F39F310}"/>
                </a:ext>
              </a:extLst>
            </p:cNvPr>
            <p:cNvSpPr txBox="1"/>
            <p:nvPr/>
          </p:nvSpPr>
          <p:spPr>
            <a:xfrm>
              <a:off x="7344707" y="4514701"/>
              <a:ext cx="15048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  <a:latin typeface="Aptos Display" panose="020B0004020202020204" pitchFamily="34" charset="0"/>
                </a:rPr>
                <a:t>FIFO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A6A69C8-16CA-6A53-956F-F292F96700D3}"/>
                </a:ext>
              </a:extLst>
            </p:cNvPr>
            <p:cNvSpPr/>
            <p:nvPr/>
          </p:nvSpPr>
          <p:spPr>
            <a:xfrm>
              <a:off x="4280647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4F407F4-A7AA-702B-5630-B415C9BCEDC7}"/>
                </a:ext>
              </a:extLst>
            </p:cNvPr>
            <p:cNvSpPr/>
            <p:nvPr/>
          </p:nvSpPr>
          <p:spPr>
            <a:xfrm>
              <a:off x="4183605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31A8EB9-1363-B8FC-20DD-27413EDD790F}"/>
                </a:ext>
              </a:extLst>
            </p:cNvPr>
            <p:cNvSpPr/>
            <p:nvPr/>
          </p:nvSpPr>
          <p:spPr>
            <a:xfrm>
              <a:off x="4086564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5606ED0-703B-54CD-0B07-0EA03495BA3D}"/>
                </a:ext>
              </a:extLst>
            </p:cNvPr>
            <p:cNvSpPr/>
            <p:nvPr/>
          </p:nvSpPr>
          <p:spPr>
            <a:xfrm>
              <a:off x="3989523" y="5043271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8119C9E-6319-3B5C-74C3-6AAD050EFA5E}"/>
                </a:ext>
              </a:extLst>
            </p:cNvPr>
            <p:cNvSpPr/>
            <p:nvPr/>
          </p:nvSpPr>
          <p:spPr>
            <a:xfrm>
              <a:off x="7890993" y="5042242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02A245A-51DA-D4A2-10AC-15E149DF1C17}"/>
                </a:ext>
              </a:extLst>
            </p:cNvPr>
            <p:cNvSpPr/>
            <p:nvPr/>
          </p:nvSpPr>
          <p:spPr>
            <a:xfrm>
              <a:off x="7793952" y="5042242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2760009-9A7A-7DD9-A2D5-1E389425BD38}"/>
                </a:ext>
              </a:extLst>
            </p:cNvPr>
            <p:cNvSpPr/>
            <p:nvPr/>
          </p:nvSpPr>
          <p:spPr>
            <a:xfrm>
              <a:off x="1103990" y="5035742"/>
              <a:ext cx="1828800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8096827-DD9A-80D3-0485-88F0BE354BDA}"/>
                </a:ext>
              </a:extLst>
            </p:cNvPr>
            <p:cNvSpPr/>
            <p:nvPr/>
          </p:nvSpPr>
          <p:spPr>
            <a:xfrm>
              <a:off x="5109858" y="5035742"/>
              <a:ext cx="1828800" cy="457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function_2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478DF5C-D24F-AF9E-39B2-E1FFEC16C3E5}"/>
                </a:ext>
              </a:extLst>
            </p:cNvPr>
            <p:cNvSpPr/>
            <p:nvPr/>
          </p:nvSpPr>
          <p:spPr>
            <a:xfrm>
              <a:off x="9115726" y="5035742"/>
              <a:ext cx="1828800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function_3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9D10AFC7-8DC1-B9D2-EE51-381CA4D71A97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2932790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F71F59CF-3664-653C-A7CF-112E23419BA2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 flipV="1">
              <a:off x="4577470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0F6B88AD-DAE4-567D-503C-464B13874E4A}"/>
                </a:ext>
              </a:extLst>
            </p:cNvPr>
            <p:cNvCxnSpPr>
              <a:cxnSpLocks/>
              <a:stCxn id="47" idx="3"/>
            </p:cNvCxnSpPr>
            <p:nvPr/>
          </p:nvCxnSpPr>
          <p:spPr>
            <a:xfrm>
              <a:off x="6938658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96B335B6-3675-6274-9774-A84743937AA3}"/>
                </a:ext>
              </a:extLst>
            </p:cNvPr>
            <p:cNvCxnSpPr>
              <a:cxnSpLocks/>
              <a:endCxn id="51" idx="1"/>
            </p:cNvCxnSpPr>
            <p:nvPr/>
          </p:nvCxnSpPr>
          <p:spPr>
            <a:xfrm flipV="1">
              <a:off x="8583338" y="5264342"/>
              <a:ext cx="53238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9AD61E6-A8C4-196F-C341-2CBC6A4AC2C2}"/>
              </a:ext>
            </a:extLst>
          </p:cNvPr>
          <p:cNvSpPr/>
          <p:nvPr/>
        </p:nvSpPr>
        <p:spPr>
          <a:xfrm>
            <a:off x="1821180" y="3635871"/>
            <a:ext cx="8549640" cy="523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</a:rPr>
              <a:t>To be more general, this is called Task Level Parallelism (TLP)</a:t>
            </a:r>
          </a:p>
        </p:txBody>
      </p:sp>
    </p:spTree>
    <p:extLst>
      <p:ext uri="{BB962C8B-B14F-4D97-AF65-F5344CB8AC3E}">
        <p14:creationId xmlns:p14="http://schemas.microsoft.com/office/powerpoint/2010/main" val="35992113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ECE4E-6B37-2EBC-D1BE-DB991C449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B2F804-C59C-2C19-B860-7EC8CA5F1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Burst mode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Wide bus transaction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Double Buffer</a:t>
            </a:r>
          </a:p>
          <a:p>
            <a:pPr>
              <a:lnSpc>
                <a:spcPct val="150000"/>
              </a:lnSpc>
            </a:pPr>
            <a:r>
              <a:rPr lang="en-US" altLang="zh-CN" sz="3200" dirty="0"/>
              <a:t>Streaming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accent1"/>
                </a:solidFill>
              </a:rPr>
              <a:t>C/RTL Co-simulation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B3271A-A461-CBEF-7EAB-644AB8F2E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46B395-A5CF-44AC-7BB1-522DE037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30714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3BB6AA-1444-488D-AA2C-83BF61BB7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5"/>
            <a:ext cx="11486417" cy="3832855"/>
          </a:xfrm>
        </p:spPr>
        <p:txBody>
          <a:bodyPr>
            <a:normAutofit/>
          </a:bodyPr>
          <a:lstStyle/>
          <a:p>
            <a:r>
              <a:rPr lang="en-US" sz="2800" dirty="0"/>
              <a:t>Resource utilization (DSP, LUT, BRAM) and latency value</a:t>
            </a:r>
          </a:p>
          <a:p>
            <a:pPr lvl="1"/>
            <a:r>
              <a:rPr lang="en-US" sz="2400" dirty="0"/>
              <a:t>These are only </a:t>
            </a:r>
            <a:r>
              <a:rPr lang="en-US" sz="2400" b="1" dirty="0">
                <a:solidFill>
                  <a:schemeClr val="accent1"/>
                </a:solidFill>
              </a:rPr>
              <a:t>estimation</a:t>
            </a:r>
            <a:r>
              <a:rPr lang="en-US" sz="2400" dirty="0"/>
              <a:t> by Vitis HLS – </a:t>
            </a:r>
            <a:r>
              <a:rPr lang="en-US" sz="2400" b="1" dirty="0">
                <a:solidFill>
                  <a:schemeClr val="accent1"/>
                </a:solidFill>
              </a:rPr>
              <a:t>not reliable</a:t>
            </a:r>
            <a:r>
              <a:rPr lang="en-US" sz="2400" dirty="0"/>
              <a:t>! </a:t>
            </a:r>
          </a:p>
          <a:p>
            <a:pPr lvl="2"/>
            <a:r>
              <a:rPr lang="en-US" sz="2400" dirty="0"/>
              <a:t>I’m surprised by how inaccurate the estimation could be… (they used to be fine at least for DSPs…)</a:t>
            </a:r>
          </a:p>
          <a:p>
            <a:pPr lvl="2"/>
            <a:endParaRPr lang="en-US" sz="2400" dirty="0"/>
          </a:p>
          <a:p>
            <a:r>
              <a:rPr lang="en-US" sz="2800" b="1" dirty="0">
                <a:solidFill>
                  <a:schemeClr val="accent1"/>
                </a:solidFill>
              </a:rPr>
              <a:t>What to do?! </a:t>
            </a: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C/RTL co-simulation or LightningSim </a:t>
            </a:r>
            <a:r>
              <a:rPr lang="en-US" sz="2600" b="1" dirty="0"/>
              <a:t>– to get actual cycle counts</a:t>
            </a:r>
          </a:p>
          <a:p>
            <a:pPr lvl="1"/>
            <a:r>
              <a:rPr lang="en-US" sz="2600" b="1" dirty="0"/>
              <a:t>Apply </a:t>
            </a:r>
            <a:r>
              <a:rPr lang="en-US" sz="2600" b="1" dirty="0">
                <a:solidFill>
                  <a:schemeClr val="accent1"/>
                </a:solidFill>
              </a:rPr>
              <a:t>implementation</a:t>
            </a:r>
            <a:r>
              <a:rPr lang="en-US" sz="2600" b="1" dirty="0"/>
              <a:t> – really map those generated RTL onto FPGA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E23C5A-709B-48A6-8D62-2AA43397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7C030C-509C-4E4A-857A-7181C7EE9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 Utilization </a:t>
            </a:r>
          </a:p>
        </p:txBody>
      </p:sp>
    </p:spTree>
    <p:extLst>
      <p:ext uri="{BB962C8B-B14F-4D97-AF65-F5344CB8AC3E}">
        <p14:creationId xmlns:p14="http://schemas.microsoft.com/office/powerpoint/2010/main" val="19795149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B6B1E-A28E-F1BE-1A21-148C4D56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0D72FD-F85F-B6E3-443E-9D664E481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40219D-92BC-A569-487F-54F92A40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Vitis HLS Flow – Recap</a:t>
            </a:r>
          </a:p>
        </p:txBody>
      </p:sp>
      <p:sp>
        <p:nvSpPr>
          <p:cNvPr id="5" name="正方形/長方形 190">
            <a:extLst>
              <a:ext uri="{FF2B5EF4-FFF2-40B4-BE49-F238E27FC236}">
                <a16:creationId xmlns:a16="http://schemas.microsoft.com/office/drawing/2014/main" id="{D583683F-A73E-9DCC-B153-4BE66CFD87CF}"/>
              </a:ext>
            </a:extLst>
          </p:cNvPr>
          <p:cNvSpPr/>
          <p:nvPr/>
        </p:nvSpPr>
        <p:spPr>
          <a:xfrm>
            <a:off x="1231418" y="2134452"/>
            <a:ext cx="3566160" cy="36576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C Simulation (C-sim)</a:t>
            </a:r>
          </a:p>
        </p:txBody>
      </p:sp>
      <p:sp>
        <p:nvSpPr>
          <p:cNvPr id="6" name="正方形/長方形 190">
            <a:extLst>
              <a:ext uri="{FF2B5EF4-FFF2-40B4-BE49-F238E27FC236}">
                <a16:creationId xmlns:a16="http://schemas.microsoft.com/office/drawing/2014/main" id="{FD55BCF5-3107-9EA0-8D72-91F45FD5804E}"/>
              </a:ext>
            </a:extLst>
          </p:cNvPr>
          <p:cNvSpPr/>
          <p:nvPr/>
        </p:nvSpPr>
        <p:spPr>
          <a:xfrm>
            <a:off x="1231418" y="2911598"/>
            <a:ext cx="3566160" cy="36576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C Synthesis (C-syn)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55FD0B-5158-625F-6B98-13E50E7952EF}"/>
              </a:ext>
            </a:extLst>
          </p:cNvPr>
          <p:cNvCxnSpPr>
            <a:cxnSpLocks/>
          </p:cNvCxnSpPr>
          <p:nvPr/>
        </p:nvCxnSpPr>
        <p:spPr>
          <a:xfrm>
            <a:off x="2071523" y="1821656"/>
            <a:ext cx="0" cy="3127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187">
            <a:extLst>
              <a:ext uri="{FF2B5EF4-FFF2-40B4-BE49-F238E27FC236}">
                <a16:creationId xmlns:a16="http://schemas.microsoft.com/office/drawing/2014/main" id="{83B6BFFF-F75C-DCAF-82D2-F8C14BB2AE47}"/>
              </a:ext>
            </a:extLst>
          </p:cNvPr>
          <p:cNvSpPr/>
          <p:nvPr/>
        </p:nvSpPr>
        <p:spPr>
          <a:xfrm>
            <a:off x="731608" y="1273016"/>
            <a:ext cx="2459516" cy="548640"/>
          </a:xfrm>
          <a:prstGeom prst="foldedCorner">
            <a:avLst>
              <a:gd name="adj" fmla="val 32841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0" rtlCol="0" anchor="ctr" anchorCtr="0"/>
          <a:lstStyle/>
          <a:p>
            <a:pPr marL="57150"/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Cambria" panose="02040503050406030204" pitchFamily="18" charset="0"/>
                <a:cs typeface="Lao UI" panose="020B0604020202020204" pitchFamily="34" charset="0"/>
              </a:rPr>
              <a:t>// Host code</a:t>
            </a:r>
          </a:p>
          <a:p>
            <a:pPr marL="57150"/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Cambria" panose="02040503050406030204" pitchFamily="18" charset="0"/>
                <a:cs typeface="Lao UI" panose="020B0604020202020204" pitchFamily="34" charset="0"/>
              </a:rPr>
              <a:t>// A.k.a., testbench</a:t>
            </a:r>
          </a:p>
        </p:txBody>
      </p:sp>
      <p:sp>
        <p:nvSpPr>
          <p:cNvPr id="9" name="正方形/長方形 187">
            <a:extLst>
              <a:ext uri="{FF2B5EF4-FFF2-40B4-BE49-F238E27FC236}">
                <a16:creationId xmlns:a16="http://schemas.microsoft.com/office/drawing/2014/main" id="{597BE545-335A-BD03-49C5-B4372C6EA663}"/>
              </a:ext>
            </a:extLst>
          </p:cNvPr>
          <p:cNvSpPr/>
          <p:nvPr/>
        </p:nvSpPr>
        <p:spPr>
          <a:xfrm>
            <a:off x="3451739" y="1273016"/>
            <a:ext cx="1587730" cy="548640"/>
          </a:xfrm>
          <a:prstGeom prst="foldedCorner">
            <a:avLst>
              <a:gd name="adj" fmla="val 32841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0" rtlCol="0" anchor="ctr" anchorCtr="0"/>
          <a:lstStyle/>
          <a:p>
            <a:pPr marL="57150"/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Cambria" panose="02040503050406030204" pitchFamily="18" charset="0"/>
                <a:cs typeface="Lao UI" panose="020B0604020202020204" pitchFamily="34" charset="0"/>
              </a:rPr>
              <a:t>// HLS design</a:t>
            </a:r>
          </a:p>
        </p:txBody>
      </p:sp>
      <p:sp>
        <p:nvSpPr>
          <p:cNvPr id="14" name="正方形/長方形 190">
            <a:extLst>
              <a:ext uri="{FF2B5EF4-FFF2-40B4-BE49-F238E27FC236}">
                <a16:creationId xmlns:a16="http://schemas.microsoft.com/office/drawing/2014/main" id="{3642E6DA-3A6A-1285-A9E4-4C67AF26D9F0}"/>
              </a:ext>
            </a:extLst>
          </p:cNvPr>
          <p:cNvSpPr/>
          <p:nvPr/>
        </p:nvSpPr>
        <p:spPr>
          <a:xfrm>
            <a:off x="1231418" y="3688744"/>
            <a:ext cx="3566160" cy="36576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C/RTL Co-simulation (Co-sim)</a:t>
            </a:r>
          </a:p>
        </p:txBody>
      </p:sp>
      <p:sp>
        <p:nvSpPr>
          <p:cNvPr id="15" name="正方形/長方形 190">
            <a:extLst>
              <a:ext uri="{FF2B5EF4-FFF2-40B4-BE49-F238E27FC236}">
                <a16:creationId xmlns:a16="http://schemas.microsoft.com/office/drawing/2014/main" id="{43058773-A536-EB41-C128-9650E36F4244}"/>
              </a:ext>
            </a:extLst>
          </p:cNvPr>
          <p:cNvSpPr/>
          <p:nvPr/>
        </p:nvSpPr>
        <p:spPr>
          <a:xfrm>
            <a:off x="1231418" y="4465890"/>
            <a:ext cx="3566160" cy="365760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RTL Synthesis</a:t>
            </a:r>
          </a:p>
        </p:txBody>
      </p:sp>
      <p:sp>
        <p:nvSpPr>
          <p:cNvPr id="16" name="正方形/長方形 190">
            <a:extLst>
              <a:ext uri="{FF2B5EF4-FFF2-40B4-BE49-F238E27FC236}">
                <a16:creationId xmlns:a16="http://schemas.microsoft.com/office/drawing/2014/main" id="{2D49117A-1556-8CF8-AC16-6091B395ADE6}"/>
              </a:ext>
            </a:extLst>
          </p:cNvPr>
          <p:cNvSpPr/>
          <p:nvPr/>
        </p:nvSpPr>
        <p:spPr>
          <a:xfrm>
            <a:off x="1231418" y="5243036"/>
            <a:ext cx="3566160" cy="365760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Placement and Routing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281049-3561-3E07-4343-F5E7F8B76AAB}"/>
              </a:ext>
            </a:extLst>
          </p:cNvPr>
          <p:cNvCxnSpPr>
            <a:cxnSpLocks/>
          </p:cNvCxnSpPr>
          <p:nvPr/>
        </p:nvCxnSpPr>
        <p:spPr>
          <a:xfrm>
            <a:off x="4245604" y="1821656"/>
            <a:ext cx="0" cy="3127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B2A46D9-CF45-1072-0C26-AFC626378E9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014498" y="2500212"/>
            <a:ext cx="0" cy="411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99B38A-0429-BEB1-3E37-E80F26CA92A7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3014498" y="3277358"/>
            <a:ext cx="0" cy="411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7D01E9-454C-B9DE-E8F5-B020F43A3F6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3014498" y="4054504"/>
            <a:ext cx="0" cy="411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547634D-006A-C6F3-FB8F-98ADD521C43F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3014498" y="4831650"/>
            <a:ext cx="0" cy="411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47BC32B-0774-516D-9672-8E201B331EE2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3014498" y="5608796"/>
            <a:ext cx="0" cy="3419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46" descr="Database with solid fill">
            <a:extLst>
              <a:ext uri="{FF2B5EF4-FFF2-40B4-BE49-F238E27FC236}">
                <a16:creationId xmlns:a16="http://schemas.microsoft.com/office/drawing/2014/main" id="{FA15D87F-FD8E-47F6-06E3-C52BC53F7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8514" y="5919468"/>
            <a:ext cx="511968" cy="511968"/>
          </a:xfrm>
          <a:prstGeom prst="rect">
            <a:avLst/>
          </a:prstGeom>
        </p:spPr>
      </p:pic>
      <p:pic>
        <p:nvPicPr>
          <p:cNvPr id="49" name="Graphic 48" descr="Processor with solid fill">
            <a:extLst>
              <a:ext uri="{FF2B5EF4-FFF2-40B4-BE49-F238E27FC236}">
                <a16:creationId xmlns:a16="http://schemas.microsoft.com/office/drawing/2014/main" id="{828D7B20-75B4-734F-4022-0F1459958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45604" y="5861044"/>
            <a:ext cx="628815" cy="628815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B54467D-7D6D-8705-F23B-85AD8E59F2DC}"/>
              </a:ext>
            </a:extLst>
          </p:cNvPr>
          <p:cNvSpPr txBox="1"/>
          <p:nvPr/>
        </p:nvSpPr>
        <p:spPr>
          <a:xfrm>
            <a:off x="1760766" y="595074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bitstream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8ED6F66-8FA1-5E8C-591D-638B312F5B33}"/>
              </a:ext>
            </a:extLst>
          </p:cNvPr>
          <p:cNvCxnSpPr>
            <a:cxnSpLocks/>
          </p:cNvCxnSpPr>
          <p:nvPr/>
        </p:nvCxnSpPr>
        <p:spPr>
          <a:xfrm>
            <a:off x="3191124" y="6178270"/>
            <a:ext cx="1054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EF23A2F-CF17-192B-7004-8DF43B122582}"/>
              </a:ext>
            </a:extLst>
          </p:cNvPr>
          <p:cNvSpPr txBox="1"/>
          <p:nvPr/>
        </p:nvSpPr>
        <p:spPr>
          <a:xfrm>
            <a:off x="3235786" y="5834991"/>
            <a:ext cx="95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program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1200D2-94D0-B7D5-8CC1-B6D1CE0A8D4C}"/>
              </a:ext>
            </a:extLst>
          </p:cNvPr>
          <p:cNvSpPr txBox="1"/>
          <p:nvPr/>
        </p:nvSpPr>
        <p:spPr>
          <a:xfrm>
            <a:off x="4737880" y="5990785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FPGA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0FD9AF-F638-DDC4-D558-530443BF0033}"/>
              </a:ext>
            </a:extLst>
          </p:cNvPr>
          <p:cNvSpPr txBox="1"/>
          <p:nvPr/>
        </p:nvSpPr>
        <p:spPr>
          <a:xfrm>
            <a:off x="3014498" y="3336863"/>
            <a:ext cx="1475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RTL (Verilog)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3C2AE5-E8C2-753E-577C-635F13D65E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4554" y="933682"/>
            <a:ext cx="6382403" cy="546530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C93B90D-019D-0B85-1635-8464A74221C9}"/>
              </a:ext>
            </a:extLst>
          </p:cNvPr>
          <p:cNvSpPr/>
          <p:nvPr/>
        </p:nvSpPr>
        <p:spPr>
          <a:xfrm>
            <a:off x="5574553" y="5326380"/>
            <a:ext cx="6382403" cy="1033737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1407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5AE11F-6972-44C3-9E79-EFFE1AF5D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what you get from </a:t>
            </a:r>
            <a:r>
              <a:rPr lang="en-US" dirty="0">
                <a:solidFill>
                  <a:schemeClr val="accent1"/>
                </a:solidFill>
              </a:rPr>
              <a:t>Synthesis</a:t>
            </a:r>
            <a:r>
              <a:rPr lang="en-US" dirty="0"/>
              <a:t> report</a:t>
            </a:r>
          </a:p>
          <a:p>
            <a:r>
              <a:rPr lang="en-US" dirty="0"/>
              <a:t>Performance and Resource </a:t>
            </a:r>
            <a:r>
              <a:rPr lang="en-US" dirty="0">
                <a:solidFill>
                  <a:schemeClr val="accent1"/>
                </a:solidFill>
              </a:rPr>
              <a:t>Estimation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EA7A65-4303-4B0B-994E-01E90406F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0E635D-BB19-44AE-BA34-B1831341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Synthesis </a:t>
            </a:r>
            <a:r>
              <a:rPr lang="en-US" dirty="0" err="1"/>
              <a:t>v.s</a:t>
            </a:r>
            <a:r>
              <a:rPr lang="en-US" dirty="0"/>
              <a:t>. Implementation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77BD8-DED9-44C7-934E-1A2A52E8D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1" y="3806477"/>
            <a:ext cx="11571845" cy="23704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05F22F-592C-43F0-A7C3-457C8B794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500" y="939221"/>
            <a:ext cx="3629532" cy="281979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6A5B29-C174-48F5-8022-36FCA5B2DFD2}"/>
              </a:ext>
            </a:extLst>
          </p:cNvPr>
          <p:cNvSpPr/>
          <p:nvPr/>
        </p:nvSpPr>
        <p:spPr>
          <a:xfrm>
            <a:off x="2154667" y="3602339"/>
            <a:ext cx="1281057" cy="591518"/>
          </a:xfrm>
          <a:prstGeom prst="roundRect">
            <a:avLst>
              <a:gd name="adj" fmla="val 30113"/>
            </a:avLst>
          </a:prstGeom>
          <a:noFill/>
          <a:ln w="571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C0523A-EC11-5646-179F-47AE5E99206C}"/>
              </a:ext>
            </a:extLst>
          </p:cNvPr>
          <p:cNvSpPr/>
          <p:nvPr/>
        </p:nvSpPr>
        <p:spPr>
          <a:xfrm>
            <a:off x="8983083" y="928614"/>
            <a:ext cx="1281057" cy="591518"/>
          </a:xfrm>
          <a:prstGeom prst="roundRect">
            <a:avLst>
              <a:gd name="adj" fmla="val 30113"/>
            </a:avLst>
          </a:prstGeom>
          <a:noFill/>
          <a:ln w="571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04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16C70F-B9AB-4671-9293-43E2B96F3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73F6B8-E18E-426D-9EAA-0CB390C8D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Synthesis </a:t>
            </a:r>
            <a:r>
              <a:rPr lang="en-US" dirty="0" err="1"/>
              <a:t>v.s</a:t>
            </a:r>
            <a:r>
              <a:rPr lang="en-US" dirty="0"/>
              <a:t>. Implementation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3D470C-ED4F-43B3-8541-6D5905F5D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36" y="1169894"/>
            <a:ext cx="4108202" cy="34424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73DBD0-9F13-487A-A972-0B1D89101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214" y="950129"/>
            <a:ext cx="5524830" cy="5368889"/>
          </a:xfrm>
          <a:prstGeom prst="rect">
            <a:avLst/>
          </a:prstGeom>
        </p:spPr>
      </p:pic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06C953C4-787F-4999-887B-97F39538D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536" y="5094193"/>
            <a:ext cx="4629816" cy="521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Run </a:t>
            </a:r>
            <a:r>
              <a:rPr lang="en-US" sz="2800" dirty="0">
                <a:solidFill>
                  <a:schemeClr val="accent1"/>
                </a:solidFill>
              </a:rPr>
              <a:t>Implementation</a:t>
            </a:r>
            <a:r>
              <a:rPr lang="en-US" sz="2800" dirty="0"/>
              <a:t> in GUI</a:t>
            </a:r>
            <a:endParaRPr lang="en-US" sz="2800" dirty="0">
              <a:solidFill>
                <a:schemeClr val="accent1"/>
              </a:solidFill>
            </a:endParaRPr>
          </a:p>
        </p:txBody>
      </p:sp>
      <p:pic>
        <p:nvPicPr>
          <p:cNvPr id="12" name="Graphic 11" descr="Right pointing backhand index with solid fill">
            <a:extLst>
              <a:ext uri="{FF2B5EF4-FFF2-40B4-BE49-F238E27FC236}">
                <a16:creationId xmlns:a16="http://schemas.microsoft.com/office/drawing/2014/main" id="{0BBB0954-FA98-41EB-B09E-80E66EEA36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3895" y="3322360"/>
            <a:ext cx="624425" cy="62442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BB5D7B-CB8F-0E37-60CA-711E42268E61}"/>
              </a:ext>
            </a:extLst>
          </p:cNvPr>
          <p:cNvSpPr/>
          <p:nvPr/>
        </p:nvSpPr>
        <p:spPr>
          <a:xfrm>
            <a:off x="5608320" y="3104064"/>
            <a:ext cx="3169920" cy="1018356"/>
          </a:xfrm>
          <a:prstGeom prst="roundRect">
            <a:avLst>
              <a:gd name="adj" fmla="val 30113"/>
            </a:avLst>
          </a:prstGeom>
          <a:noFill/>
          <a:ln w="571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216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9459D7-11D4-4E9B-B16D-538603B61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876021-C977-464C-BF4F-DCF2BAFE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Synthesis </a:t>
            </a:r>
            <a:r>
              <a:rPr lang="en-US" dirty="0" err="1"/>
              <a:t>v.s</a:t>
            </a:r>
            <a:r>
              <a:rPr lang="en-US" dirty="0"/>
              <a:t>.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35957-1512-4249-84A7-20828E5E5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36" y="2486651"/>
            <a:ext cx="4932964" cy="38324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BC72D0-C590-4F83-99CA-7069A9FD5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437" y="1509755"/>
            <a:ext cx="4481012" cy="44810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ED3B5E-75DF-4A24-94F0-81D2FDA1C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36" y="1240954"/>
            <a:ext cx="3923946" cy="1245697"/>
          </a:xfrm>
          <a:prstGeom prst="rect">
            <a:avLst/>
          </a:prstGeom>
        </p:spPr>
      </p:pic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4526C6BF-FCFC-4ACE-82D0-BDFFD0353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5666" y="1011133"/>
            <a:ext cx="2548570" cy="5782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Implementation</a:t>
            </a:r>
            <a:r>
              <a:rPr lang="en-US" dirty="0"/>
              <a:t> 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AEB70800-F09A-4632-B3CB-4D63A5D1A1D4}"/>
              </a:ext>
            </a:extLst>
          </p:cNvPr>
          <p:cNvSpPr txBox="1">
            <a:spLocks/>
          </p:cNvSpPr>
          <p:nvPr/>
        </p:nvSpPr>
        <p:spPr>
          <a:xfrm>
            <a:off x="2435119" y="1246621"/>
            <a:ext cx="1639340" cy="488050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Aptos Display" panose="020B0004020202020204" pitchFamily="34" charset="0"/>
              </a:rPr>
              <a:t>Synthesis</a:t>
            </a:r>
          </a:p>
        </p:txBody>
      </p:sp>
    </p:spTree>
    <p:extLst>
      <p:ext uri="{BB962C8B-B14F-4D97-AF65-F5344CB8AC3E}">
        <p14:creationId xmlns:p14="http://schemas.microsoft.com/office/powerpoint/2010/main" val="1473087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5EF17A-9DA6-4A36-B707-59B85DBD9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Widening the memory port – fully utilize DRAM bandwidth</a:t>
            </a:r>
          </a:p>
          <a:p>
            <a:pPr>
              <a:lnSpc>
                <a:spcPct val="150000"/>
              </a:lnSpc>
            </a:pPr>
            <a:r>
              <a:rPr lang="en-US" dirty="0"/>
              <a:t>Double buffer to hide the data loading latency</a:t>
            </a:r>
          </a:p>
          <a:p>
            <a:pPr>
              <a:lnSpc>
                <a:spcPct val="150000"/>
              </a:lnSpc>
            </a:pPr>
            <a:r>
              <a:rPr lang="en-US" dirty="0"/>
              <a:t>More advanced (</a:t>
            </a:r>
            <a:r>
              <a:rPr lang="en-US" dirty="0">
                <a:solidFill>
                  <a:schemeClr val="accent1"/>
                </a:solidFill>
              </a:rPr>
              <a:t>challenging</a:t>
            </a:r>
            <a:r>
              <a:rPr lang="en-US" dirty="0"/>
              <a:t>) technique: streaming and dataflow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More generally, Task Level Parallelism (TLP)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72E931-1E29-4410-A81A-8272055B7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41C6FA-1640-4A68-A1E9-0CC7FA34F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337221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Tech_PPTtemplate_2021_wide" id="{E85096BA-033B-D848-B268-A76C8AE5D2A4}" vid="{1C4A0A5B-2267-F04A-B00C-3FCDF7CFA02E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388fff8-b053-4fb1-90cd-f0bc93ae9791}" enabled="1" method="Privileged" siteId="{39b03722-b836-496a-85ec-850f0957ca6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33961</TotalTime>
  <Words>2479</Words>
  <Application>Microsoft Office PowerPoint</Application>
  <PresentationFormat>Widescreen</PresentationFormat>
  <Paragraphs>473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50" baseType="lpstr">
      <vt:lpstr>Aptos</vt:lpstr>
      <vt:lpstr>Aptos Display</vt:lpstr>
      <vt:lpstr>Arial</vt:lpstr>
      <vt:lpstr>Calibri</vt:lpstr>
      <vt:lpstr>Consolas</vt:lpstr>
      <vt:lpstr>Corbel</vt:lpstr>
      <vt:lpstr>Courier New</vt:lpstr>
      <vt:lpstr>Roboto</vt:lpstr>
      <vt:lpstr>Wingdings</vt:lpstr>
      <vt:lpstr>Office Theme</vt:lpstr>
      <vt:lpstr>Custom Design</vt:lpstr>
      <vt:lpstr>1_Office Theme</vt:lpstr>
      <vt:lpstr>Memory and Data Movement</vt:lpstr>
      <vt:lpstr>Hardware Design with HLS</vt:lpstr>
      <vt:lpstr>Memory Performance: 3 knobs</vt:lpstr>
      <vt:lpstr>Outline</vt:lpstr>
      <vt:lpstr>DRAM Data Access</vt:lpstr>
      <vt:lpstr>Burst Mode</vt:lpstr>
      <vt:lpstr>Burst Mode for Continuous Memory Access</vt:lpstr>
      <vt:lpstr>Burst Mode for Continuous Memory Access</vt:lpstr>
      <vt:lpstr>Bad Practice</vt:lpstr>
      <vt:lpstr>Wider Bus Transaction</vt:lpstr>
      <vt:lpstr>Outline</vt:lpstr>
      <vt:lpstr>Wider Bus Transaction</vt:lpstr>
      <vt:lpstr>Wider Bus Transaction</vt:lpstr>
      <vt:lpstr>Use HLS Vector</vt:lpstr>
      <vt:lpstr>Outline</vt:lpstr>
      <vt:lpstr>Single Buffer Limitation</vt:lpstr>
      <vt:lpstr>Single Buffer Limitation</vt:lpstr>
      <vt:lpstr>Single Buffer Limitation</vt:lpstr>
      <vt:lpstr>Single Buffer Limitation</vt:lpstr>
      <vt:lpstr>Single Buffer Limitation: Read-After-Write</vt:lpstr>
      <vt:lpstr>Overlap Read and Write (Pre-fetching)</vt:lpstr>
      <vt:lpstr>Double Buffer (Ping-Pong Buffer)</vt:lpstr>
      <vt:lpstr>Double Buffer (Ping-Pong Buffer)</vt:lpstr>
      <vt:lpstr>Double Buffer (Ping-Pong Buffer)</vt:lpstr>
      <vt:lpstr>Ping-Pong Buffer Pros and Cons</vt:lpstr>
      <vt:lpstr>Hidden Assumption Behind Ping-Pong</vt:lpstr>
      <vt:lpstr>Do We Really Need Random Access?</vt:lpstr>
      <vt:lpstr>Break the Dependency using FIFOs</vt:lpstr>
      <vt:lpstr>Producer-Consumer Paradigm</vt:lpstr>
      <vt:lpstr>Data Streaming for Producer-Consumer</vt:lpstr>
      <vt:lpstr>Data Streaming for Producer-Consumer</vt:lpstr>
      <vt:lpstr>Outline</vt:lpstr>
      <vt:lpstr>Resource Utilization </vt:lpstr>
      <vt:lpstr>Vitis HLS Flow – Recap</vt:lpstr>
      <vt:lpstr>Synthesis v.s. Implementation</vt:lpstr>
      <vt:lpstr>Synthesis v.s. Implementation</vt:lpstr>
      <vt:lpstr>Synthesis v.s. Implementation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Anushka Sandeep</cp:lastModifiedBy>
  <cp:revision>3673</cp:revision>
  <dcterms:created xsi:type="dcterms:W3CDTF">2014-06-12T21:03:18Z</dcterms:created>
  <dcterms:modified xsi:type="dcterms:W3CDTF">2026-02-22T15:59:08Z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Theme:5\Custom Design:3\1_Office Theme:5</vt:lpwstr>
  </property>
  <property fmtid="{D5CDD505-2E9C-101B-9397-08002B2CF9AE}" pid="3" name="ClassificationContentMarkingFooterText">
    <vt:lpwstr>Company Use</vt:lpwstr>
  </property>
</Properties>
</file>