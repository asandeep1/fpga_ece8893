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  <p:sldMasterId id="2147483685" r:id="rId2"/>
    <p:sldMasterId id="2147483688" r:id="rId3"/>
  </p:sldMasterIdLst>
  <p:notesMasterIdLst>
    <p:notesMasterId r:id="rId48"/>
  </p:notesMasterIdLst>
  <p:handoutMasterIdLst>
    <p:handoutMasterId r:id="rId49"/>
  </p:handoutMasterIdLst>
  <p:sldIdLst>
    <p:sldId id="261" r:id="rId4"/>
    <p:sldId id="1383" r:id="rId5"/>
    <p:sldId id="1459" r:id="rId6"/>
    <p:sldId id="1433" r:id="rId7"/>
    <p:sldId id="1434" r:id="rId8"/>
    <p:sldId id="1418" r:id="rId9"/>
    <p:sldId id="1503" r:id="rId10"/>
    <p:sldId id="1505" r:id="rId11"/>
    <p:sldId id="1506" r:id="rId12"/>
    <p:sldId id="1507" r:id="rId13"/>
    <p:sldId id="1508" r:id="rId14"/>
    <p:sldId id="1497" r:id="rId15"/>
    <p:sldId id="1512" r:id="rId16"/>
    <p:sldId id="1465" r:id="rId17"/>
    <p:sldId id="1469" r:id="rId18"/>
    <p:sldId id="1466" r:id="rId19"/>
    <p:sldId id="1470" r:id="rId20"/>
    <p:sldId id="1468" r:id="rId21"/>
    <p:sldId id="1499" r:id="rId22"/>
    <p:sldId id="1463" r:id="rId23"/>
    <p:sldId id="1464" r:id="rId24"/>
    <p:sldId id="1475" r:id="rId25"/>
    <p:sldId id="1477" r:id="rId26"/>
    <p:sldId id="1479" r:id="rId27"/>
    <p:sldId id="1513" r:id="rId28"/>
    <p:sldId id="1498" r:id="rId29"/>
    <p:sldId id="1473" r:id="rId30"/>
    <p:sldId id="1472" r:id="rId31"/>
    <p:sldId id="1474" r:id="rId32"/>
    <p:sldId id="1500" r:id="rId33"/>
    <p:sldId id="1482" r:id="rId34"/>
    <p:sldId id="1485" r:id="rId35"/>
    <p:sldId id="1509" r:id="rId36"/>
    <p:sldId id="1487" r:id="rId37"/>
    <p:sldId id="1488" r:id="rId38"/>
    <p:sldId id="1489" r:id="rId39"/>
    <p:sldId id="1484" r:id="rId40"/>
    <p:sldId id="1490" r:id="rId41"/>
    <p:sldId id="1492" r:id="rId42"/>
    <p:sldId id="1510" r:id="rId43"/>
    <p:sldId id="1511" r:id="rId44"/>
    <p:sldId id="1501" r:id="rId45"/>
    <p:sldId id="1494" r:id="rId46"/>
    <p:sldId id="1502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o, Callie" initials="HC" lastIdx="1" clrIdx="0">
    <p:extLst>
      <p:ext uri="{19B8F6BF-5375-455C-9EA6-DF929625EA0E}">
        <p15:presenceInfo xmlns:p15="http://schemas.microsoft.com/office/powerpoint/2012/main" userId="S::chao33@gatech.edu::c1d199f9-baa9-49f0-9dc5-86d4c8cc02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7"/>
    <a:srgbClr val="007AFF"/>
    <a:srgbClr val="FFB602"/>
    <a:srgbClr val="FFC000"/>
    <a:srgbClr val="BF9000"/>
    <a:srgbClr val="920000"/>
    <a:srgbClr val="000000"/>
    <a:srgbClr val="C00000"/>
    <a:srgbClr val="9DC3E6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64EE2-0377-4459-9225-B20845566E8E}" v="4" dt="2026-02-03T17:13:56.011"/>
    <p1510:client id="{998F3623-8BCE-40DF-82E3-EE47CA9BC398}" v="7" dt="2026-02-03T17:48:26.514"/>
  </p1510:revLst>
</p1510:revInfo>
</file>

<file path=ppt/tableStyles.xml><?xml version="1.0" encoding="utf-8"?>
<a:tblStyleLst xmlns:a="http://schemas.openxmlformats.org/drawingml/2006/main" def="{5C22544A-7EE6-4342-B048-85BDC9FD1C3A}"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35" autoAdjust="0"/>
    <p:restoredTop sz="86375" autoAdjust="0"/>
  </p:normalViewPr>
  <p:slideViewPr>
    <p:cSldViewPr snapToGrid="0">
      <p:cViewPr>
        <p:scale>
          <a:sx n="150" d="100"/>
          <a:sy n="150" d="100"/>
        </p:scale>
        <p:origin x="3318" y="60"/>
      </p:cViewPr>
      <p:guideLst>
        <p:guide orient="horz" pos="2160"/>
        <p:guide pos="3840"/>
        <p:guide/>
      </p:guideLst>
    </p:cSldViewPr>
  </p:slideViewPr>
  <p:outlineViewPr>
    <p:cViewPr>
      <p:scale>
        <a:sx n="33" d="100"/>
        <a:sy n="33" d="100"/>
      </p:scale>
      <p:origin x="0" y="-23448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104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notesMaster" Target="notesMasters/notesMaster1.xml"/><Relationship Id="rId56" Type="http://schemas.microsoft.com/office/2015/10/relationships/revisionInfo" Target="revisionInfo.xml"/><Relationship Id="rId8" Type="http://schemas.openxmlformats.org/officeDocument/2006/relationships/slide" Target="slides/slide5.xml"/><Relationship Id="rId51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ie HAO" userId="3585240736_tp_dropbox_plus" providerId="OAuth2" clId="{D92016F0-DD02-46BC-B50B-2C8397356949}"/>
    <pc:docChg chg="undo custSel addSld delSld modSld">
      <pc:chgData name="Callie HAO" userId="3585240736_tp_dropbox_plus" providerId="OAuth2" clId="{D92016F0-DD02-46BC-B50B-2C8397356949}" dt="2026-02-03T17:51:39.073" v="321" actId="20577"/>
      <pc:docMkLst>
        <pc:docMk/>
      </pc:docMkLst>
      <pc:sldChg chg="add">
        <pc:chgData name="Callie HAO" userId="3585240736_tp_dropbox_plus" providerId="OAuth2" clId="{D92016F0-DD02-46BC-B50B-2C8397356949}" dt="2026-02-03T17:11:42.718" v="0"/>
        <pc:sldMkLst>
          <pc:docMk/>
          <pc:sldMk cId="2496075060" sldId="1433"/>
        </pc:sldMkLst>
      </pc:sldChg>
      <pc:sldChg chg="add">
        <pc:chgData name="Callie HAO" userId="3585240736_tp_dropbox_plus" providerId="OAuth2" clId="{D92016F0-DD02-46BC-B50B-2C8397356949}" dt="2026-02-03T17:11:42.718" v="0"/>
        <pc:sldMkLst>
          <pc:docMk/>
          <pc:sldMk cId="1691509827" sldId="1434"/>
        </pc:sldMkLst>
      </pc:sldChg>
      <pc:sldChg chg="del">
        <pc:chgData name="Callie HAO" userId="3585240736_tp_dropbox_plus" providerId="OAuth2" clId="{D92016F0-DD02-46BC-B50B-2C8397356949}" dt="2026-02-03T17:13:01.607" v="2" actId="47"/>
        <pc:sldMkLst>
          <pc:docMk/>
          <pc:sldMk cId="1698717763" sldId="1451"/>
        </pc:sldMkLst>
      </pc:sldChg>
      <pc:sldChg chg="add">
        <pc:chgData name="Callie HAO" userId="3585240736_tp_dropbox_plus" providerId="OAuth2" clId="{D92016F0-DD02-46BC-B50B-2C8397356949}" dt="2026-02-03T17:11:42.718" v="0"/>
        <pc:sldMkLst>
          <pc:docMk/>
          <pc:sldMk cId="2506643754" sldId="1459"/>
        </pc:sldMkLst>
      </pc:sldChg>
      <pc:sldChg chg="del">
        <pc:chgData name="Callie HAO" userId="3585240736_tp_dropbox_plus" providerId="OAuth2" clId="{D92016F0-DD02-46BC-B50B-2C8397356949}" dt="2026-02-03T17:39:55.107" v="18" actId="2696"/>
        <pc:sldMkLst>
          <pc:docMk/>
          <pc:sldMk cId="510858409" sldId="1472"/>
        </pc:sldMkLst>
      </pc:sldChg>
      <pc:sldChg chg="add">
        <pc:chgData name="Callie HAO" userId="3585240736_tp_dropbox_plus" providerId="OAuth2" clId="{D92016F0-DD02-46BC-B50B-2C8397356949}" dt="2026-02-03T17:40:04.513" v="19"/>
        <pc:sldMkLst>
          <pc:docMk/>
          <pc:sldMk cId="2558840643" sldId="1472"/>
        </pc:sldMkLst>
      </pc:sldChg>
      <pc:sldChg chg="del">
        <pc:chgData name="Callie HAO" userId="3585240736_tp_dropbox_plus" providerId="OAuth2" clId="{D92016F0-DD02-46BC-B50B-2C8397356949}" dt="2026-02-03T17:39:55.107" v="18" actId="2696"/>
        <pc:sldMkLst>
          <pc:docMk/>
          <pc:sldMk cId="457527540" sldId="1473"/>
        </pc:sldMkLst>
      </pc:sldChg>
      <pc:sldChg chg="add">
        <pc:chgData name="Callie HAO" userId="3585240736_tp_dropbox_plus" providerId="OAuth2" clId="{D92016F0-DD02-46BC-B50B-2C8397356949}" dt="2026-02-03T17:40:04.513" v="19"/>
        <pc:sldMkLst>
          <pc:docMk/>
          <pc:sldMk cId="1931413629" sldId="1473"/>
        </pc:sldMkLst>
      </pc:sldChg>
      <pc:sldChg chg="del">
        <pc:chgData name="Callie HAO" userId="3585240736_tp_dropbox_plus" providerId="OAuth2" clId="{D92016F0-DD02-46BC-B50B-2C8397356949}" dt="2026-02-03T17:39:55.107" v="18" actId="2696"/>
        <pc:sldMkLst>
          <pc:docMk/>
          <pc:sldMk cId="1016111848" sldId="1474"/>
        </pc:sldMkLst>
      </pc:sldChg>
      <pc:sldChg chg="add">
        <pc:chgData name="Callie HAO" userId="3585240736_tp_dropbox_plus" providerId="OAuth2" clId="{D92016F0-DD02-46BC-B50B-2C8397356949}" dt="2026-02-03T17:40:04.513" v="19"/>
        <pc:sldMkLst>
          <pc:docMk/>
          <pc:sldMk cId="1552466639" sldId="1474"/>
        </pc:sldMkLst>
      </pc:sldChg>
      <pc:sldChg chg="modSp mod">
        <pc:chgData name="Callie HAO" userId="3585240736_tp_dropbox_plus" providerId="OAuth2" clId="{D92016F0-DD02-46BC-B50B-2C8397356949}" dt="2026-02-03T17:12:34.622" v="1" actId="27636"/>
        <pc:sldMkLst>
          <pc:docMk/>
          <pc:sldMk cId="3892655185" sldId="1479"/>
        </pc:sldMkLst>
        <pc:spChg chg="mod">
          <ac:chgData name="Callie HAO" userId="3585240736_tp_dropbox_plus" providerId="OAuth2" clId="{D92016F0-DD02-46BC-B50B-2C8397356949}" dt="2026-02-03T17:12:34.622" v="1" actId="27636"/>
          <ac:spMkLst>
            <pc:docMk/>
            <pc:sldMk cId="3892655185" sldId="1479"/>
            <ac:spMk id="15" creationId="{48B92937-8D1D-49DB-8D0B-D1453B593E1E}"/>
          </ac:spMkLst>
        </pc:spChg>
      </pc:sldChg>
      <pc:sldChg chg="modSp mod">
        <pc:chgData name="Callie HAO" userId="3585240736_tp_dropbox_plus" providerId="OAuth2" clId="{D92016F0-DD02-46BC-B50B-2C8397356949}" dt="2026-02-03T17:42:22.933" v="21"/>
        <pc:sldMkLst>
          <pc:docMk/>
          <pc:sldMk cId="1094967368" sldId="1497"/>
        </pc:sldMkLst>
        <pc:spChg chg="mod">
          <ac:chgData name="Callie HAO" userId="3585240736_tp_dropbox_plus" providerId="OAuth2" clId="{D92016F0-DD02-46BC-B50B-2C8397356949}" dt="2026-02-03T17:42:22.933" v="21"/>
          <ac:spMkLst>
            <pc:docMk/>
            <pc:sldMk cId="1094967368" sldId="1497"/>
            <ac:spMk id="2" creationId="{E5C843E4-E4F5-4C3F-86F2-AA806F203087}"/>
          </ac:spMkLst>
        </pc:spChg>
      </pc:sldChg>
      <pc:sldChg chg="del">
        <pc:chgData name="Callie HAO" userId="3585240736_tp_dropbox_plus" providerId="OAuth2" clId="{D92016F0-DD02-46BC-B50B-2C8397356949}" dt="2026-02-03T17:39:55.107" v="18" actId="2696"/>
        <pc:sldMkLst>
          <pc:docMk/>
          <pc:sldMk cId="196910442" sldId="1498"/>
        </pc:sldMkLst>
      </pc:sldChg>
      <pc:sldChg chg="modSp add mod">
        <pc:chgData name="Callie HAO" userId="3585240736_tp_dropbox_plus" providerId="OAuth2" clId="{D92016F0-DD02-46BC-B50B-2C8397356949}" dt="2026-02-03T17:42:50.600" v="25"/>
        <pc:sldMkLst>
          <pc:docMk/>
          <pc:sldMk cId="3126652551" sldId="1498"/>
        </pc:sldMkLst>
        <pc:spChg chg="mod">
          <ac:chgData name="Callie HAO" userId="3585240736_tp_dropbox_plus" providerId="OAuth2" clId="{D92016F0-DD02-46BC-B50B-2C8397356949}" dt="2026-02-03T17:42:50.600" v="25"/>
          <ac:spMkLst>
            <pc:docMk/>
            <pc:sldMk cId="3126652551" sldId="1498"/>
            <ac:spMk id="2" creationId="{E5C843E4-E4F5-4C3F-86F2-AA806F203087}"/>
          </ac:spMkLst>
        </pc:spChg>
      </pc:sldChg>
      <pc:sldChg chg="modSp mod">
        <pc:chgData name="Callie HAO" userId="3585240736_tp_dropbox_plus" providerId="OAuth2" clId="{D92016F0-DD02-46BC-B50B-2C8397356949}" dt="2026-02-03T17:42:34.748" v="23"/>
        <pc:sldMkLst>
          <pc:docMk/>
          <pc:sldMk cId="1644164425" sldId="1499"/>
        </pc:sldMkLst>
        <pc:spChg chg="mod">
          <ac:chgData name="Callie HAO" userId="3585240736_tp_dropbox_plus" providerId="OAuth2" clId="{D92016F0-DD02-46BC-B50B-2C8397356949}" dt="2026-02-03T17:42:34.748" v="23"/>
          <ac:spMkLst>
            <pc:docMk/>
            <pc:sldMk cId="1644164425" sldId="1499"/>
            <ac:spMk id="2" creationId="{E5C843E4-E4F5-4C3F-86F2-AA806F203087}"/>
          </ac:spMkLst>
        </pc:spChg>
      </pc:sldChg>
      <pc:sldChg chg="modSp mod">
        <pc:chgData name="Callie HAO" userId="3585240736_tp_dropbox_plus" providerId="OAuth2" clId="{D92016F0-DD02-46BC-B50B-2C8397356949}" dt="2026-02-03T17:13:57.771" v="17" actId="20577"/>
        <pc:sldMkLst>
          <pc:docMk/>
          <pc:sldMk cId="2610511108" sldId="1507"/>
        </pc:sldMkLst>
        <pc:spChg chg="mod">
          <ac:chgData name="Callie HAO" userId="3585240736_tp_dropbox_plus" providerId="OAuth2" clId="{D92016F0-DD02-46BC-B50B-2C8397356949}" dt="2026-02-03T17:13:57.771" v="17" actId="20577"/>
          <ac:spMkLst>
            <pc:docMk/>
            <pc:sldMk cId="2610511108" sldId="1507"/>
            <ac:spMk id="6" creationId="{9C34A311-7990-4B73-902C-F3AA54EB1B93}"/>
          </ac:spMkLst>
        </pc:spChg>
      </pc:sldChg>
      <pc:sldChg chg="modSp new del mod">
        <pc:chgData name="Callie HAO" userId="3585240736_tp_dropbox_plus" providerId="OAuth2" clId="{D92016F0-DD02-46BC-B50B-2C8397356949}" dt="2026-02-03T17:48:21.775" v="240" actId="2696"/>
        <pc:sldMkLst>
          <pc:docMk/>
          <pc:sldMk cId="2381358770" sldId="1512"/>
        </pc:sldMkLst>
        <pc:spChg chg="mod">
          <ac:chgData name="Callie HAO" userId="3585240736_tp_dropbox_plus" providerId="OAuth2" clId="{D92016F0-DD02-46BC-B50B-2C8397356949}" dt="2026-02-03T17:47:59.181" v="213" actId="20577"/>
          <ac:spMkLst>
            <pc:docMk/>
            <pc:sldMk cId="2381358770" sldId="1512"/>
            <ac:spMk id="2" creationId="{6A06CC82-6608-BA08-AED1-953163488A5F}"/>
          </ac:spMkLst>
        </pc:spChg>
        <pc:spChg chg="mod">
          <ac:chgData name="Callie HAO" userId="3585240736_tp_dropbox_plus" providerId="OAuth2" clId="{D92016F0-DD02-46BC-B50B-2C8397356949}" dt="2026-02-03T17:48:13.836" v="239" actId="20577"/>
          <ac:spMkLst>
            <pc:docMk/>
            <pc:sldMk cId="2381358770" sldId="1512"/>
            <ac:spMk id="4" creationId="{B6F0AEAE-DB71-60DD-E531-831497F211A5}"/>
          </ac:spMkLst>
        </pc:spChg>
      </pc:sldChg>
      <pc:sldChg chg="add">
        <pc:chgData name="Callie HAO" userId="3585240736_tp_dropbox_plus" providerId="OAuth2" clId="{D92016F0-DD02-46BC-B50B-2C8397356949}" dt="2026-02-03T17:48:26.512" v="241"/>
        <pc:sldMkLst>
          <pc:docMk/>
          <pc:sldMk cId="4059108933" sldId="1512"/>
        </pc:sldMkLst>
      </pc:sldChg>
      <pc:sldChg chg="modSp add mod">
        <pc:chgData name="Callie HAO" userId="3585240736_tp_dropbox_plus" providerId="OAuth2" clId="{D92016F0-DD02-46BC-B50B-2C8397356949}" dt="2026-02-03T17:51:39.073" v="321" actId="20577"/>
        <pc:sldMkLst>
          <pc:docMk/>
          <pc:sldMk cId="2852237353" sldId="1513"/>
        </pc:sldMkLst>
        <pc:spChg chg="mod">
          <ac:chgData name="Callie HAO" userId="3585240736_tp_dropbox_plus" providerId="OAuth2" clId="{D92016F0-DD02-46BC-B50B-2C8397356949}" dt="2026-02-03T17:51:39.073" v="321" actId="20577"/>
          <ac:spMkLst>
            <pc:docMk/>
            <pc:sldMk cId="2852237353" sldId="1513"/>
            <ac:spMk id="2" creationId="{98A40CC5-7420-5D42-FB71-FAC80908C1D3}"/>
          </ac:spMkLst>
        </pc:spChg>
        <pc:spChg chg="mod">
          <ac:chgData name="Callie HAO" userId="3585240736_tp_dropbox_plus" providerId="OAuth2" clId="{D92016F0-DD02-46BC-B50B-2C8397356949}" dt="2026-02-03T17:49:47.588" v="263" actId="20577"/>
          <ac:spMkLst>
            <pc:docMk/>
            <pc:sldMk cId="2852237353" sldId="1513"/>
            <ac:spMk id="4" creationId="{E29933F1-8F5E-B1A5-5742-2D4FF5A2427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4641391-8555-475C-B8C1-F7E058C9C9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A0B5B-C42C-4503-82B0-B5E9C32BAC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373F-E9CD-4F15-B047-E0FA24F48B5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0EC6C-20BF-4515-BE00-23FDCC24CE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7A46FE-B11C-452A-9BAF-121B73B341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C416F-D90F-4504-B7D2-9B16EDED39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18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F895E8-E1CA-4443-920E-E538D2781036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70C58A-EE4C-492A-80BB-EEBA0CC03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432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862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Aptos Display" panose="020B00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927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23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7EE9D9-49A7-AE42-84D1-352EBEE40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5684" y="1149178"/>
            <a:ext cx="6795912" cy="264389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ts val="4800"/>
              </a:lnSpc>
              <a:defRPr sz="4200" b="1" i="0" cap="none" spc="0" baseline="0">
                <a:solidFill>
                  <a:srgbClr val="0030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5682" y="3793068"/>
            <a:ext cx="6795913" cy="168486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ts val="3600"/>
              </a:lnSpc>
              <a:buNone/>
              <a:defRPr sz="1800" b="0" cap="none" spc="0" baseline="0">
                <a:solidFill>
                  <a:srgbClr val="85743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75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6F7A4AC-88DB-41C5-AE00-5E2A8C4D667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592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80B6FE-061E-424F-ADED-325E8D09EF12}"/>
              </a:ext>
            </a:extLst>
          </p:cNvPr>
          <p:cNvSpPr/>
          <p:nvPr userDrawn="1"/>
        </p:nvSpPr>
        <p:spPr>
          <a:xfrm>
            <a:off x="-9" y="6638927"/>
            <a:ext cx="12192000" cy="219075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9EA9B7-6196-45B5-909A-E38654385A00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9126" y="1647825"/>
            <a:ext cx="11010167" cy="2447926"/>
          </a:xfrm>
        </p:spPr>
        <p:txBody>
          <a:bodyPr anchor="t">
            <a:noAutofit/>
          </a:bodyPr>
          <a:lstStyle>
            <a:lvl1pPr algn="ctr">
              <a:defRPr sz="5400" b="1" spc="0">
                <a:solidFill>
                  <a:schemeClr val="bg1"/>
                </a:solidFill>
                <a:latin typeface="Aptos Display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56" name="Picture 8" descr="Nebo Leverages Geo-targeting for Georgia Tech">
            <a:extLst>
              <a:ext uri="{FF2B5EF4-FFF2-40B4-BE49-F238E27FC236}">
                <a16:creationId xmlns:a16="http://schemas.microsoft.com/office/drawing/2014/main" id="{99116C07-C5EC-40A2-90D8-C7EE4A73F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834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92739"/>
            <a:ext cx="9144000" cy="1763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EE0B29-1DCB-4D69-A6F7-C287AD1AA2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454" y="432661"/>
            <a:ext cx="6137077" cy="72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1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95013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tx1"/>
                </a:solidFill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17581" y="6489389"/>
            <a:ext cx="711737" cy="30000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756A96-ABC2-47C1-9989-9660D00AE332}"/>
              </a:ext>
            </a:extLst>
          </p:cNvPr>
          <p:cNvSpPr/>
          <p:nvPr userDrawn="1"/>
        </p:nvSpPr>
        <p:spPr>
          <a:xfrm flipV="1">
            <a:off x="0" y="6437928"/>
            <a:ext cx="12192000" cy="45719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F593F-2F59-4FB9-B28E-7E3028D30F55}"/>
              </a:ext>
            </a:extLst>
          </p:cNvPr>
          <p:cNvSpPr/>
          <p:nvPr userDrawn="1"/>
        </p:nvSpPr>
        <p:spPr>
          <a:xfrm>
            <a:off x="0" y="0"/>
            <a:ext cx="12192000" cy="885826"/>
          </a:xfrm>
          <a:prstGeom prst="rect">
            <a:avLst/>
          </a:prstGeom>
          <a:solidFill>
            <a:srgbClr val="0030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945" y="258469"/>
            <a:ext cx="11322539" cy="6244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2" name="Picture 8" descr="Nebo Leverages Geo-targeting for Georgia Tech">
            <a:extLst>
              <a:ext uri="{FF2B5EF4-FFF2-40B4-BE49-F238E27FC236}">
                <a16:creationId xmlns:a16="http://schemas.microsoft.com/office/drawing/2014/main" id="{AE511F9F-17DC-43F4-B6F0-B8D643FCD3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5551" y="78234"/>
            <a:ext cx="1713767" cy="729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F84CF5-63C1-475F-B006-D6DCB1C29CF7}"/>
              </a:ext>
            </a:extLst>
          </p:cNvPr>
          <p:cNvSpPr txBox="1">
            <a:spLocks/>
          </p:cNvSpPr>
          <p:nvPr/>
        </p:nvSpPr>
        <p:spPr>
          <a:xfrm>
            <a:off x="1473230" y="6491970"/>
            <a:ext cx="4626781" cy="2974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sz="1400" dirty="0">
                <a:latin typeface="Aptos Display" panose="020B0004020202020204" pitchFamily="34" charset="0"/>
              </a:rPr>
              <a:t>Callie Hao | Sharc-lab @ Georgia Institute of Technology</a:t>
            </a:r>
            <a:endParaRPr lang="en-US" sz="1400" dirty="0">
              <a:latin typeface="Aptos Display" panose="020B0004020202020204" pitchFamily="34" charset="0"/>
            </a:endParaRPr>
          </a:p>
        </p:txBody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962942D-35AC-4097-AC85-DA74563693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39" y="6533945"/>
            <a:ext cx="263811" cy="2134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831D84-8318-4BE3-8B04-5B15FD0019F3}"/>
              </a:ext>
            </a:extLst>
          </p:cNvPr>
          <p:cNvSpPr txBox="1"/>
          <p:nvPr userDrawn="1"/>
        </p:nvSpPr>
        <p:spPr>
          <a:xfrm>
            <a:off x="7129713" y="6491970"/>
            <a:ext cx="2862514" cy="30777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lvl="0" defTabSz="914400">
              <a:spcBef>
                <a:spcPct val="0"/>
              </a:spcBef>
              <a:defRPr sz="1400" b="1" i="0" spc="0">
                <a:solidFill>
                  <a:schemeClr val="bg2">
                    <a:lumMod val="50000"/>
                  </a:schemeClr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>
                <a:latin typeface="Aptos Display" panose="020B0004020202020204" pitchFamily="34" charset="0"/>
              </a:rPr>
              <a:t>https://sharclab.ece.gatech.edu/ </a:t>
            </a:r>
            <a:endParaRPr lang="en-US" dirty="0">
              <a:latin typeface="Aptos Display" panose="020B0004020202020204" pitchFamily="34" charset="0"/>
            </a:endParaRPr>
          </a:p>
        </p:txBody>
      </p:sp>
      <p:grpSp>
        <p:nvGrpSpPr>
          <p:cNvPr id="9" name="Graphic 4" descr="Home with solid fill">
            <a:extLst>
              <a:ext uri="{FF2B5EF4-FFF2-40B4-BE49-F238E27FC236}">
                <a16:creationId xmlns:a16="http://schemas.microsoft.com/office/drawing/2014/main" id="{41266146-5008-4BAD-BC20-9A9239612ACF}"/>
              </a:ext>
            </a:extLst>
          </p:cNvPr>
          <p:cNvGrpSpPr/>
          <p:nvPr/>
        </p:nvGrpSpPr>
        <p:grpSpPr>
          <a:xfrm>
            <a:off x="6902117" y="6502643"/>
            <a:ext cx="280738" cy="280738"/>
            <a:chOff x="6902117" y="6502643"/>
            <a:chExt cx="280738" cy="28073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244A24-ECF9-48BB-BBE0-8C4C14F27B46}"/>
                </a:ext>
              </a:extLst>
            </p:cNvPr>
            <p:cNvSpPr/>
            <p:nvPr/>
          </p:nvSpPr>
          <p:spPr>
            <a:xfrm>
              <a:off x="6919663" y="6537735"/>
              <a:ext cx="245645" cy="128086"/>
            </a:xfrm>
            <a:custGeom>
              <a:avLst/>
              <a:gdLst>
                <a:gd name="connsiteX0" fmla="*/ 122823 w 245645"/>
                <a:gd name="connsiteY0" fmla="*/ 0 h 128086"/>
                <a:gd name="connsiteX1" fmla="*/ 122823 w 245645"/>
                <a:gd name="connsiteY1" fmla="*/ 0 h 128086"/>
                <a:gd name="connsiteX2" fmla="*/ 0 w 245645"/>
                <a:gd name="connsiteY2" fmla="*/ 116974 h 128086"/>
                <a:gd name="connsiteX3" fmla="*/ 13160 w 245645"/>
                <a:gd name="connsiteY3" fmla="*/ 128087 h 128086"/>
                <a:gd name="connsiteX4" fmla="*/ 122823 w 245645"/>
                <a:gd name="connsiteY4" fmla="*/ 23980 h 128086"/>
                <a:gd name="connsiteX5" fmla="*/ 122823 w 245645"/>
                <a:gd name="connsiteY5" fmla="*/ 23980 h 128086"/>
                <a:gd name="connsiteX6" fmla="*/ 232486 w 245645"/>
                <a:gd name="connsiteY6" fmla="*/ 128087 h 128086"/>
                <a:gd name="connsiteX7" fmla="*/ 245646 w 245645"/>
                <a:gd name="connsiteY7" fmla="*/ 116974 h 128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5645" h="128086">
                  <a:moveTo>
                    <a:pt x="122823" y="0"/>
                  </a:moveTo>
                  <a:lnTo>
                    <a:pt x="122823" y="0"/>
                  </a:lnTo>
                  <a:lnTo>
                    <a:pt x="0" y="116974"/>
                  </a:lnTo>
                  <a:lnTo>
                    <a:pt x="13160" y="128087"/>
                  </a:lnTo>
                  <a:lnTo>
                    <a:pt x="122823" y="23980"/>
                  </a:lnTo>
                  <a:lnTo>
                    <a:pt x="122823" y="23980"/>
                  </a:lnTo>
                  <a:lnTo>
                    <a:pt x="232486" y="128087"/>
                  </a:lnTo>
                  <a:lnTo>
                    <a:pt x="245646" y="116974"/>
                  </a:lnTo>
                  <a:close/>
                </a:path>
              </a:pathLst>
            </a:custGeom>
            <a:solidFill>
              <a:srgbClr val="007AFF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FFD2581-72A8-4C49-A0C7-F8F57202219A}"/>
                </a:ext>
              </a:extLst>
            </p:cNvPr>
            <p:cNvSpPr/>
            <p:nvPr/>
          </p:nvSpPr>
          <p:spPr>
            <a:xfrm>
              <a:off x="6954755" y="6578091"/>
              <a:ext cx="175461" cy="170197"/>
            </a:xfrm>
            <a:custGeom>
              <a:avLst/>
              <a:gdLst>
                <a:gd name="connsiteX0" fmla="*/ 0 w 175461"/>
                <a:gd name="connsiteY0" fmla="*/ 83344 h 170197"/>
                <a:gd name="connsiteX1" fmla="*/ 0 w 175461"/>
                <a:gd name="connsiteY1" fmla="*/ 170197 h 170197"/>
                <a:gd name="connsiteX2" fmla="*/ 70185 w 175461"/>
                <a:gd name="connsiteY2" fmla="*/ 170197 h 170197"/>
                <a:gd name="connsiteX3" fmla="*/ 70185 w 175461"/>
                <a:gd name="connsiteY3" fmla="*/ 97089 h 170197"/>
                <a:gd name="connsiteX4" fmla="*/ 105277 w 175461"/>
                <a:gd name="connsiteY4" fmla="*/ 97089 h 170197"/>
                <a:gd name="connsiteX5" fmla="*/ 105277 w 175461"/>
                <a:gd name="connsiteY5" fmla="*/ 170197 h 170197"/>
                <a:gd name="connsiteX6" fmla="*/ 175461 w 175461"/>
                <a:gd name="connsiteY6" fmla="*/ 170197 h 170197"/>
                <a:gd name="connsiteX7" fmla="*/ 175461 w 175461"/>
                <a:gd name="connsiteY7" fmla="*/ 83344 h 170197"/>
                <a:gd name="connsiteX8" fmla="*/ 87731 w 175461"/>
                <a:gd name="connsiteY8" fmla="*/ 0 h 170197"/>
                <a:gd name="connsiteX9" fmla="*/ 0 w 175461"/>
                <a:gd name="connsiteY9" fmla="*/ 83344 h 17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461" h="170197">
                  <a:moveTo>
                    <a:pt x="0" y="83344"/>
                  </a:moveTo>
                  <a:lnTo>
                    <a:pt x="0" y="170197"/>
                  </a:lnTo>
                  <a:lnTo>
                    <a:pt x="70185" y="170197"/>
                  </a:lnTo>
                  <a:lnTo>
                    <a:pt x="70185" y="97089"/>
                  </a:lnTo>
                  <a:lnTo>
                    <a:pt x="105277" y="97089"/>
                  </a:lnTo>
                  <a:lnTo>
                    <a:pt x="105277" y="170197"/>
                  </a:lnTo>
                  <a:lnTo>
                    <a:pt x="175461" y="170197"/>
                  </a:lnTo>
                  <a:lnTo>
                    <a:pt x="175461" y="83344"/>
                  </a:lnTo>
                  <a:lnTo>
                    <a:pt x="87731" y="0"/>
                  </a:lnTo>
                  <a:lnTo>
                    <a:pt x="0" y="83344"/>
                  </a:lnTo>
                  <a:close/>
                </a:path>
              </a:pathLst>
            </a:custGeom>
            <a:solidFill>
              <a:srgbClr val="FFB602"/>
            </a:solidFill>
            <a:ln w="28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9421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4pPr>
              <a:defRPr>
                <a:latin typeface="Aptos Display" panose="020B0004020202020204" pitchFamily="34" charset="0"/>
              </a:defRPr>
            </a:lvl4pPr>
            <a:lvl5pPr>
              <a:defRPr>
                <a:latin typeface="Aptos Display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079523" y="6366610"/>
            <a:ext cx="2743200" cy="365125"/>
          </a:xfrm>
          <a:prstGeom prst="rect">
            <a:avLst/>
          </a:prstGeom>
        </p:spPr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53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84660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1" r:id="rId2"/>
    <p:sldLayoutId id="2147483682" r:id="rId3"/>
    <p:sldLayoutId id="2147483684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990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</p:sldLayoutIdLst>
  <p:txStyles>
    <p:titleStyle>
      <a:lvl1pPr algn="l" defTabSz="342900" rtl="0" eaLnBrk="1" latinLnBrk="0" hangingPunct="1">
        <a:spcBef>
          <a:spcPct val="0"/>
        </a:spcBef>
        <a:buNone/>
        <a:defRPr sz="3600" b="1" kern="1200">
          <a:solidFill>
            <a:srgbClr val="857437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185" y="273540"/>
            <a:ext cx="11322539" cy="7977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185" y="1344856"/>
            <a:ext cx="11322539" cy="48321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71388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2"/>
          </a:solidFill>
          <a:latin typeface="Aptos Display" panose="020B0004020202020204" pitchFamily="34" charset="0"/>
          <a:ea typeface="+mj-ea"/>
          <a:cs typeface="+mj-cs"/>
        </a:defRPr>
      </a:lvl1pPr>
    </p:titleStyle>
    <p:bodyStyle>
      <a:lvl1pPr marL="400041" indent="-400041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1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1pPr>
      <a:lvl2pPr marL="857229" indent="-400041" algn="l" defTabSz="914377" rtl="0" eaLnBrk="1" latinLnBrk="0" hangingPunct="1">
        <a:lnSpc>
          <a:spcPct val="90000"/>
        </a:lnSpc>
        <a:spcBef>
          <a:spcPts val="500"/>
        </a:spcBef>
        <a:buSzPct val="80000"/>
        <a:buFont typeface="Courier New" panose="02070309020205020404" pitchFamily="49" charset="0"/>
        <a:buChar char="o"/>
        <a:defRPr sz="32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2pPr>
      <a:lvl3pPr marL="1142971" indent="-285744" algn="l" defTabSz="914377" rtl="0" eaLnBrk="1" latinLnBrk="0" hangingPunct="1">
        <a:lnSpc>
          <a:spcPct val="90000"/>
        </a:lnSpc>
        <a:spcBef>
          <a:spcPts val="500"/>
        </a:spcBef>
        <a:buFont typeface="Corbel" panose="020B0503020204020204" pitchFamily="34" charset="0"/>
        <a:buChar char="‐"/>
        <a:defRPr sz="2800" kern="1200">
          <a:solidFill>
            <a:schemeClr val="bg2"/>
          </a:solidFill>
          <a:latin typeface="Aptos Display" panose="020B0004020202020204" pitchFamily="34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12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sharclab.ece.gatech.edu/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xilinx.com/r/en-US/ug1399-vitis-hls/HLS-Pragmas" TargetMode="Externa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docs.xilinx.com/r/en-US/ug1399-vitis-hls/Getting-Started-with-Vitis-HLS" TargetMode="Externa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1C0E152D-35C2-4F32-A32D-97EC02695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96" y="1244012"/>
            <a:ext cx="10723595" cy="26223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dirty="0">
                <a:solidFill>
                  <a:schemeClr val="tx1"/>
                </a:solidFill>
              </a:rPr>
              <a:t>More about Loop Optimization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EDFFF0-6A6F-4CC4-8579-B1384C3526CF}"/>
              </a:ext>
            </a:extLst>
          </p:cNvPr>
          <p:cNvSpPr txBox="1">
            <a:spLocks/>
          </p:cNvSpPr>
          <p:nvPr/>
        </p:nvSpPr>
        <p:spPr>
          <a:xfrm>
            <a:off x="974757" y="4034418"/>
            <a:ext cx="10506075" cy="21678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 spc="0">
                <a:solidFill>
                  <a:schemeClr val="bg1"/>
                </a:solidFill>
                <a:latin typeface="Corbel" panose="020B0503020204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tx1"/>
                </a:solidFill>
                <a:latin typeface="Aptos Display" panose="020B0004020202020204" pitchFamily="34" charset="0"/>
              </a:rPr>
              <a:t>Cong (Callie) Hao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callie.hao@ece.gatech.edu</a:t>
            </a:r>
          </a:p>
          <a:p>
            <a:pPr>
              <a:lnSpc>
                <a:spcPct val="100000"/>
              </a:lnSpc>
            </a:pPr>
            <a:endParaRPr lang="en-US" sz="2000" b="0" i="1" dirty="0">
              <a:solidFill>
                <a:schemeClr val="tx1"/>
              </a:solidFill>
              <a:latin typeface="Aptos Display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Assistant Professor</a:t>
            </a:r>
          </a:p>
          <a:p>
            <a:pPr>
              <a:lnSpc>
                <a:spcPct val="100000"/>
              </a:lnSpc>
            </a:pPr>
            <a:r>
              <a:rPr lang="en-US" sz="2000" b="0" i="1" dirty="0">
                <a:solidFill>
                  <a:schemeClr val="tx1"/>
                </a:solidFill>
                <a:latin typeface="Aptos Display" panose="020B0004020202020204" pitchFamily="34" charset="0"/>
              </a:rPr>
              <a:t>ECE, Georgia Institute of Technology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30C7B1-AED8-4D62-8EAD-3DA9B749CA7E}"/>
              </a:ext>
            </a:extLst>
          </p:cNvPr>
          <p:cNvSpPr txBox="1"/>
          <p:nvPr/>
        </p:nvSpPr>
        <p:spPr>
          <a:xfrm>
            <a:off x="1731995" y="6026767"/>
            <a:ext cx="8991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000" i="1" dirty="0">
                <a:latin typeface="Aptos Display" panose="020B0004020202020204" pitchFamily="34" charset="0"/>
              </a:rPr>
              <a:t>Sharc-lab @ Georgia Tech </a:t>
            </a:r>
            <a:r>
              <a:rPr lang="en-US" sz="2000" i="1" dirty="0">
                <a:latin typeface="Aptos Display" panose="020B0004020202020204" pitchFamily="34" charset="0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https://sharclab.ece.gatech.edu/</a:t>
            </a:r>
            <a:endParaRPr lang="en-US" sz="2000" i="1" dirty="0">
              <a:latin typeface="Aptos Display" panose="020B0004020202020204" pitchFamily="34" charset="0"/>
              <a:sym typeface="Wingdings" panose="05000000000000000000" pitchFamily="2" charset="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BAFE04B-D743-4EE0-A84E-D7456AFC3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5333151"/>
            <a:ext cx="1430519" cy="115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497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0026403" cy="506015"/>
          </a:xfrm>
        </p:spPr>
        <p:txBody>
          <a:bodyPr/>
          <a:lstStyle/>
          <a:p>
            <a:r>
              <a:rPr lang="en-US" dirty="0"/>
              <a:t>Where does performance gain come from?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Hardware Design </a:t>
            </a:r>
            <a:r>
              <a:rPr lang="en-US" altLang="zh-CN" dirty="0"/>
              <a:t>with HLS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385DC-8486-BB19-20BB-6849E71DAF5B}"/>
              </a:ext>
            </a:extLst>
          </p:cNvPr>
          <p:cNvSpPr txBox="1"/>
          <p:nvPr/>
        </p:nvSpPr>
        <p:spPr>
          <a:xfrm>
            <a:off x="1785158" y="2050372"/>
            <a:ext cx="2053767" cy="461665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Specialization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93CC87-6E10-822B-0F5C-692C7FF60C11}"/>
              </a:ext>
            </a:extLst>
          </p:cNvPr>
          <p:cNvSpPr txBox="1"/>
          <p:nvPr/>
        </p:nvSpPr>
        <p:spPr>
          <a:xfrm>
            <a:off x="7795767" y="2050372"/>
            <a:ext cx="2097049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Parallelization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1F04E-AC18-B9ED-69A0-62B7E9E9B59E}"/>
              </a:ext>
            </a:extLst>
          </p:cNvPr>
          <p:cNvSpPr txBox="1"/>
          <p:nvPr/>
        </p:nvSpPr>
        <p:spPr>
          <a:xfrm>
            <a:off x="765516" y="3004478"/>
            <a:ext cx="533048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Data-type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Arbitrary fixed-point precision, customized floating-point precision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Memory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storage in banks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Customized data loading and feeding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Computation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How do you schedule the computations?</a:t>
            </a:r>
          </a:p>
          <a:p>
            <a:pPr marL="1257300" marR="0" lvl="2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Order, granularity, etc.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5858A-30BF-F09F-1380-1BD405336A7D}"/>
              </a:ext>
            </a:extLst>
          </p:cNvPr>
          <p:cNvSpPr txBox="1"/>
          <p:nvPr/>
        </p:nvSpPr>
        <p:spPr>
          <a:xfrm>
            <a:off x="6346022" y="3004478"/>
            <a:ext cx="548329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Operation level parallelism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Multiple operations or instructions executed simultaneously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Mostly about loop manipulation and data partitioning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Task level parallelism (TLP)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Dataflow and streaming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0B0004020202020204" pitchFamily="34" charset="0"/>
                <a:ea typeface="+mn-ea"/>
                <a:cs typeface="+mn-cs"/>
              </a:rPr>
              <a:t>Overlapped compute and data movement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+mn-ea"/>
              <a:cs typeface="+mn-cs"/>
            </a:endParaRPr>
          </a:p>
        </p:txBody>
      </p:sp>
      <p:pic>
        <p:nvPicPr>
          <p:cNvPr id="17" name="Graphic 16" descr="Badge Follow with solid fill">
            <a:extLst>
              <a:ext uri="{FF2B5EF4-FFF2-40B4-BE49-F238E27FC236}">
                <a16:creationId xmlns:a16="http://schemas.microsoft.com/office/drawing/2014/main" id="{FAEB518F-14AF-4A3C-196A-AD425BDB8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4216" y="1824004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C2BC5E8-246E-8F06-B956-C39CED766CE2}"/>
              </a:ext>
            </a:extLst>
          </p:cNvPr>
          <p:cNvSpPr/>
          <p:nvPr/>
        </p:nvSpPr>
        <p:spPr>
          <a:xfrm>
            <a:off x="6346021" y="3004477"/>
            <a:ext cx="5276859" cy="1629143"/>
          </a:xfrm>
          <a:custGeom>
            <a:avLst/>
            <a:gdLst>
              <a:gd name="csX0" fmla="*/ 0 w 5276859"/>
              <a:gd name="csY0" fmla="*/ 0 h 1629143"/>
              <a:gd name="csX1" fmla="*/ 639086 w 5276859"/>
              <a:gd name="csY1" fmla="*/ 0 h 1629143"/>
              <a:gd name="csX2" fmla="*/ 1278173 w 5276859"/>
              <a:gd name="csY2" fmla="*/ 0 h 1629143"/>
              <a:gd name="csX3" fmla="*/ 1706184 w 5276859"/>
              <a:gd name="csY3" fmla="*/ 0 h 1629143"/>
              <a:gd name="csX4" fmla="*/ 2345271 w 5276859"/>
              <a:gd name="csY4" fmla="*/ 0 h 1629143"/>
              <a:gd name="csX5" fmla="*/ 2984357 w 5276859"/>
              <a:gd name="csY5" fmla="*/ 0 h 1629143"/>
              <a:gd name="csX6" fmla="*/ 3623443 w 5276859"/>
              <a:gd name="csY6" fmla="*/ 0 h 1629143"/>
              <a:gd name="csX7" fmla="*/ 4104224 w 5276859"/>
              <a:gd name="csY7" fmla="*/ 0 h 1629143"/>
              <a:gd name="csX8" fmla="*/ 4743310 w 5276859"/>
              <a:gd name="csY8" fmla="*/ 0 h 1629143"/>
              <a:gd name="csX9" fmla="*/ 5276859 w 5276859"/>
              <a:gd name="csY9" fmla="*/ 0 h 1629143"/>
              <a:gd name="csX10" fmla="*/ 5276859 w 5276859"/>
              <a:gd name="csY10" fmla="*/ 526756 h 1629143"/>
              <a:gd name="csX11" fmla="*/ 5276859 w 5276859"/>
              <a:gd name="csY11" fmla="*/ 1053512 h 1629143"/>
              <a:gd name="csX12" fmla="*/ 5276859 w 5276859"/>
              <a:gd name="csY12" fmla="*/ 1629143 h 1629143"/>
              <a:gd name="csX13" fmla="*/ 4796079 w 5276859"/>
              <a:gd name="csY13" fmla="*/ 1629143 h 1629143"/>
              <a:gd name="csX14" fmla="*/ 4104224 w 5276859"/>
              <a:gd name="csY14" fmla="*/ 1629143 h 1629143"/>
              <a:gd name="csX15" fmla="*/ 3412369 w 5276859"/>
              <a:gd name="csY15" fmla="*/ 1629143 h 1629143"/>
              <a:gd name="csX16" fmla="*/ 2984357 w 5276859"/>
              <a:gd name="csY16" fmla="*/ 1629143 h 1629143"/>
              <a:gd name="csX17" fmla="*/ 2503576 w 5276859"/>
              <a:gd name="csY17" fmla="*/ 1629143 h 1629143"/>
              <a:gd name="csX18" fmla="*/ 1864490 w 5276859"/>
              <a:gd name="csY18" fmla="*/ 1629143 h 1629143"/>
              <a:gd name="csX19" fmla="*/ 1225404 w 5276859"/>
              <a:gd name="csY19" fmla="*/ 1629143 h 1629143"/>
              <a:gd name="csX20" fmla="*/ 797392 w 5276859"/>
              <a:gd name="csY20" fmla="*/ 1629143 h 1629143"/>
              <a:gd name="csX21" fmla="*/ 0 w 5276859"/>
              <a:gd name="csY21" fmla="*/ 1629143 h 1629143"/>
              <a:gd name="csX22" fmla="*/ 0 w 5276859"/>
              <a:gd name="csY22" fmla="*/ 1053512 h 1629143"/>
              <a:gd name="csX23" fmla="*/ 0 w 5276859"/>
              <a:gd name="csY23" fmla="*/ 494173 h 1629143"/>
              <a:gd name="csX24" fmla="*/ 0 w 5276859"/>
              <a:gd name="csY24" fmla="*/ 0 h 16291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5276859" h="1629143" extrusionOk="0">
                <a:moveTo>
                  <a:pt x="0" y="0"/>
                </a:moveTo>
                <a:cubicBezTo>
                  <a:pt x="285188" y="-36529"/>
                  <a:pt x="441596" y="4313"/>
                  <a:pt x="639086" y="0"/>
                </a:cubicBezTo>
                <a:cubicBezTo>
                  <a:pt x="836576" y="-4313"/>
                  <a:pt x="1072583" y="11942"/>
                  <a:pt x="1278173" y="0"/>
                </a:cubicBezTo>
                <a:cubicBezTo>
                  <a:pt x="1483763" y="-11942"/>
                  <a:pt x="1593048" y="11789"/>
                  <a:pt x="1706184" y="0"/>
                </a:cubicBezTo>
                <a:cubicBezTo>
                  <a:pt x="1819320" y="-11789"/>
                  <a:pt x="2081206" y="74295"/>
                  <a:pt x="2345271" y="0"/>
                </a:cubicBezTo>
                <a:cubicBezTo>
                  <a:pt x="2609336" y="-74295"/>
                  <a:pt x="2793826" y="73496"/>
                  <a:pt x="2984357" y="0"/>
                </a:cubicBezTo>
                <a:cubicBezTo>
                  <a:pt x="3174888" y="-73496"/>
                  <a:pt x="3453975" y="27118"/>
                  <a:pt x="3623443" y="0"/>
                </a:cubicBezTo>
                <a:cubicBezTo>
                  <a:pt x="3792911" y="-27118"/>
                  <a:pt x="3975503" y="43984"/>
                  <a:pt x="4104224" y="0"/>
                </a:cubicBezTo>
                <a:cubicBezTo>
                  <a:pt x="4232945" y="-43984"/>
                  <a:pt x="4454580" y="14478"/>
                  <a:pt x="4743310" y="0"/>
                </a:cubicBezTo>
                <a:cubicBezTo>
                  <a:pt x="5032040" y="-14478"/>
                  <a:pt x="5109873" y="4696"/>
                  <a:pt x="5276859" y="0"/>
                </a:cubicBezTo>
                <a:cubicBezTo>
                  <a:pt x="5299136" y="244299"/>
                  <a:pt x="5218879" y="286944"/>
                  <a:pt x="5276859" y="526756"/>
                </a:cubicBezTo>
                <a:cubicBezTo>
                  <a:pt x="5334839" y="766568"/>
                  <a:pt x="5216173" y="866987"/>
                  <a:pt x="5276859" y="1053512"/>
                </a:cubicBezTo>
                <a:cubicBezTo>
                  <a:pt x="5337545" y="1240037"/>
                  <a:pt x="5232051" y="1507858"/>
                  <a:pt x="5276859" y="1629143"/>
                </a:cubicBezTo>
                <a:cubicBezTo>
                  <a:pt x="5068321" y="1657161"/>
                  <a:pt x="4995408" y="1602431"/>
                  <a:pt x="4796079" y="1629143"/>
                </a:cubicBezTo>
                <a:cubicBezTo>
                  <a:pt x="4596750" y="1655855"/>
                  <a:pt x="4342977" y="1594913"/>
                  <a:pt x="4104224" y="1629143"/>
                </a:cubicBezTo>
                <a:cubicBezTo>
                  <a:pt x="3865472" y="1663373"/>
                  <a:pt x="3718089" y="1590492"/>
                  <a:pt x="3412369" y="1629143"/>
                </a:cubicBezTo>
                <a:cubicBezTo>
                  <a:pt x="3106649" y="1667794"/>
                  <a:pt x="3123704" y="1606829"/>
                  <a:pt x="2984357" y="1629143"/>
                </a:cubicBezTo>
                <a:cubicBezTo>
                  <a:pt x="2845010" y="1651457"/>
                  <a:pt x="2610525" y="1579953"/>
                  <a:pt x="2503576" y="1629143"/>
                </a:cubicBezTo>
                <a:cubicBezTo>
                  <a:pt x="2396627" y="1678333"/>
                  <a:pt x="2002227" y="1577933"/>
                  <a:pt x="1864490" y="1629143"/>
                </a:cubicBezTo>
                <a:cubicBezTo>
                  <a:pt x="1726753" y="1680353"/>
                  <a:pt x="1372014" y="1594676"/>
                  <a:pt x="1225404" y="1629143"/>
                </a:cubicBezTo>
                <a:cubicBezTo>
                  <a:pt x="1078794" y="1663610"/>
                  <a:pt x="965609" y="1600143"/>
                  <a:pt x="797392" y="1629143"/>
                </a:cubicBezTo>
                <a:cubicBezTo>
                  <a:pt x="629175" y="1658143"/>
                  <a:pt x="235737" y="1614270"/>
                  <a:pt x="0" y="1629143"/>
                </a:cubicBezTo>
                <a:cubicBezTo>
                  <a:pt x="-24966" y="1413229"/>
                  <a:pt x="54536" y="1181419"/>
                  <a:pt x="0" y="1053512"/>
                </a:cubicBezTo>
                <a:cubicBezTo>
                  <a:pt x="-54536" y="925605"/>
                  <a:pt x="67052" y="724538"/>
                  <a:pt x="0" y="494173"/>
                </a:cubicBezTo>
                <a:cubicBezTo>
                  <a:pt x="-67052" y="263808"/>
                  <a:pt x="2425" y="237588"/>
                  <a:pt x="0" y="0"/>
                </a:cubicBezTo>
                <a:close/>
              </a:path>
            </a:pathLst>
          </a:custGeom>
          <a:noFill/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1921049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422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65D2C-0538-5878-3B7B-E7EC7252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17B5655-232C-1F3A-987D-FE987E69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4230152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9F95494-8E8D-13C5-ED88-39237CB247C2}"/>
              </a:ext>
            </a:extLst>
          </p:cNvPr>
          <p:cNvCxnSpPr>
            <a:cxnSpLocks/>
          </p:cNvCxnSpPr>
          <p:nvPr/>
        </p:nvCxnSpPr>
        <p:spPr>
          <a:xfrm>
            <a:off x="7102365" y="5979792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6A7FD1B-4CCE-D6A1-AD9F-CAA3BD31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1763208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767001-FCF4-281E-40DE-931B3757F103}"/>
              </a:ext>
            </a:extLst>
          </p:cNvPr>
          <p:cNvCxnSpPr>
            <a:cxnSpLocks/>
          </p:cNvCxnSpPr>
          <p:nvPr/>
        </p:nvCxnSpPr>
        <p:spPr>
          <a:xfrm>
            <a:off x="7102365" y="3512848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0B8ECA-8DEF-57C3-3C12-142B0AADB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/>
          <a:lstStyle/>
          <a:p>
            <a:r>
              <a:rPr lang="en-US" dirty="0"/>
              <a:t>The three techniques are frequently used together to boost computation efficiency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9CC90-3095-CC10-3CC9-F3E7CFB7C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04733E-A6F7-9EA7-4203-40BFDC0B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Put-together: Pipeline + Unroll +Partition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824068A5-D0EA-52DA-36FF-2B4E5F79A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86" y="2258785"/>
            <a:ext cx="5615340" cy="30447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en-US"/>
            </a:defPPr>
            <a:lvl1pPr indent="174625">
              <a:defRPr sz="1600"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variable=A dim=2 complete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variable=B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variable=C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for (int i = 0; i &lt; N; i++)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</a:rPr>
              <a:t>#pragma HLS pipeline II=1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for (int j = 0; j </a:t>
            </a:r>
            <a:r>
              <a:rPr lang="en-US" altLang="zh-CN" sz="1400">
                <a:solidFill>
                  <a:schemeClr val="tx1"/>
                </a:solidFill>
              </a:rPr>
              <a:t>&lt; M; </a:t>
            </a:r>
            <a:r>
              <a:rPr lang="en-US" altLang="zh-CN" sz="1400" dirty="0" err="1">
                <a:solidFill>
                  <a:schemeClr val="tx1"/>
                </a:solidFill>
              </a:rPr>
              <a:t>j++</a:t>
            </a:r>
            <a:r>
              <a:rPr lang="en-US" altLang="zh-CN" sz="1400" dirty="0">
                <a:solidFill>
                  <a:schemeClr val="tx1"/>
                </a:solidFill>
              </a:rPr>
              <a:t>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unroll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A[i][j] = B[i][j] * C[i][j];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}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CD948E0-F4D6-68E8-F4A0-E6D0E171CFC4}"/>
              </a:ext>
            </a:extLst>
          </p:cNvPr>
          <p:cNvGrpSpPr/>
          <p:nvPr/>
        </p:nvGrpSpPr>
        <p:grpSpPr>
          <a:xfrm>
            <a:off x="7162800" y="1948893"/>
            <a:ext cx="3543300" cy="1480107"/>
            <a:chOff x="7162800" y="1948893"/>
            <a:chExt cx="3543300" cy="20019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BC68B8A-0B69-7498-288E-CB283A2D7F0D}"/>
                </a:ext>
              </a:extLst>
            </p:cNvPr>
            <p:cNvSpPr/>
            <p:nvPr/>
          </p:nvSpPr>
          <p:spPr>
            <a:xfrm>
              <a:off x="7162800" y="194889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80C8002-0985-348C-47C3-5B37B0E0433D}"/>
                </a:ext>
              </a:extLst>
            </p:cNvPr>
            <p:cNvSpPr/>
            <p:nvPr/>
          </p:nvSpPr>
          <p:spPr>
            <a:xfrm>
              <a:off x="7162800" y="2292825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B8912BD-A2B6-F22B-AB8A-0ECF8C836BFC}"/>
                </a:ext>
              </a:extLst>
            </p:cNvPr>
            <p:cNvSpPr/>
            <p:nvPr/>
          </p:nvSpPr>
          <p:spPr>
            <a:xfrm>
              <a:off x="8343900" y="265203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7786F7F-EE1C-917C-5DF5-EB6E9BC7637E}"/>
                </a:ext>
              </a:extLst>
            </p:cNvPr>
            <p:cNvSpPr/>
            <p:nvPr/>
          </p:nvSpPr>
          <p:spPr>
            <a:xfrm>
              <a:off x="8343900" y="299596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271C5C2-9032-BF69-1F3E-B88D08B6FBAB}"/>
                </a:ext>
              </a:extLst>
            </p:cNvPr>
            <p:cNvSpPr/>
            <p:nvPr/>
          </p:nvSpPr>
          <p:spPr>
            <a:xfrm>
              <a:off x="9525000" y="3360658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D29F378-54CA-2F46-3901-91A2DDD10ADC}"/>
                </a:ext>
              </a:extLst>
            </p:cNvPr>
            <p:cNvSpPr/>
            <p:nvPr/>
          </p:nvSpPr>
          <p:spPr>
            <a:xfrm>
              <a:off x="9525000" y="3704590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9D9392F-BFB7-7B43-5130-3AB614ADE1ED}"/>
              </a:ext>
            </a:extLst>
          </p:cNvPr>
          <p:cNvGrpSpPr/>
          <p:nvPr/>
        </p:nvGrpSpPr>
        <p:grpSpPr>
          <a:xfrm>
            <a:off x="7162800" y="4407970"/>
            <a:ext cx="1771650" cy="1454469"/>
            <a:chOff x="7162800" y="4698681"/>
            <a:chExt cx="1771650" cy="1996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226F98-4E97-9924-7F5C-62D0045980EC}"/>
                </a:ext>
              </a:extLst>
            </p:cNvPr>
            <p:cNvSpPr/>
            <p:nvPr/>
          </p:nvSpPr>
          <p:spPr>
            <a:xfrm>
              <a:off x="7162800" y="469868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9A756F4-2B50-E89F-130A-A0D6223FB81A}"/>
                </a:ext>
              </a:extLst>
            </p:cNvPr>
            <p:cNvSpPr/>
            <p:nvPr/>
          </p:nvSpPr>
          <p:spPr>
            <a:xfrm>
              <a:off x="7162800" y="504261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282E03-5893-E95A-712E-0C4CA6741C09}"/>
                </a:ext>
              </a:extLst>
            </p:cNvPr>
            <p:cNvSpPr/>
            <p:nvPr/>
          </p:nvSpPr>
          <p:spPr>
            <a:xfrm>
              <a:off x="7467600" y="540181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F464565-D422-F4E6-0858-3B3DD9DFC2A9}"/>
                </a:ext>
              </a:extLst>
            </p:cNvPr>
            <p:cNvSpPr/>
            <p:nvPr/>
          </p:nvSpPr>
          <p:spPr>
            <a:xfrm>
              <a:off x="7467600" y="574575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9656BCA-1F9B-11BE-2B78-06B01A104BCB}"/>
                </a:ext>
              </a:extLst>
            </p:cNvPr>
            <p:cNvSpPr/>
            <p:nvPr/>
          </p:nvSpPr>
          <p:spPr>
            <a:xfrm>
              <a:off x="7753350" y="6104957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D7870C8-ECA9-E315-3AA9-A9C829433669}"/>
                </a:ext>
              </a:extLst>
            </p:cNvPr>
            <p:cNvSpPr/>
            <p:nvPr/>
          </p:nvSpPr>
          <p:spPr>
            <a:xfrm>
              <a:off x="7753350" y="644888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ADA6C3-385E-98A9-A20C-A7B11AC218AA}"/>
              </a:ext>
            </a:extLst>
          </p:cNvPr>
          <p:cNvCxnSpPr>
            <a:cxnSpLocks/>
          </p:cNvCxnSpPr>
          <p:nvPr/>
        </p:nvCxnSpPr>
        <p:spPr>
          <a:xfrm>
            <a:off x="83439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965EA86-EBC0-6547-4FE2-5D1CB812025F}"/>
              </a:ext>
            </a:extLst>
          </p:cNvPr>
          <p:cNvCxnSpPr>
            <a:cxnSpLocks/>
          </p:cNvCxnSpPr>
          <p:nvPr/>
        </p:nvCxnSpPr>
        <p:spPr>
          <a:xfrm>
            <a:off x="95250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28" name="Freeform 12">
            <a:extLst>
              <a:ext uri="{FF2B5EF4-FFF2-40B4-BE49-F238E27FC236}">
                <a16:creationId xmlns:a16="http://schemas.microsoft.com/office/drawing/2014/main" id="{81E904F5-1A0D-6EC1-4FA3-B37D3715E8C0}"/>
              </a:ext>
            </a:extLst>
          </p:cNvPr>
          <p:cNvSpPr/>
          <p:nvPr/>
        </p:nvSpPr>
        <p:spPr>
          <a:xfrm>
            <a:off x="7132648" y="2357213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907C9EFB-123E-0B9B-56BF-8ABF50C6633E}"/>
              </a:ext>
            </a:extLst>
          </p:cNvPr>
          <p:cNvSpPr/>
          <p:nvPr/>
        </p:nvSpPr>
        <p:spPr>
          <a:xfrm>
            <a:off x="8385437" y="284013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DB1F53FD-9DDB-2FF1-9C07-43DBC626EF17}"/>
              </a:ext>
            </a:extLst>
          </p:cNvPr>
          <p:cNvSpPr/>
          <p:nvPr/>
        </p:nvSpPr>
        <p:spPr>
          <a:xfrm>
            <a:off x="9566537" y="268130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3" name="Freeform 12">
            <a:extLst>
              <a:ext uri="{FF2B5EF4-FFF2-40B4-BE49-F238E27FC236}">
                <a16:creationId xmlns:a16="http://schemas.microsoft.com/office/drawing/2014/main" id="{856A073C-C6CB-7706-FE19-A1EBD7F9B2B0}"/>
              </a:ext>
            </a:extLst>
          </p:cNvPr>
          <p:cNvSpPr/>
          <p:nvPr/>
        </p:nvSpPr>
        <p:spPr>
          <a:xfrm>
            <a:off x="8021339" y="441327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DA6AC89F-EDB0-9C3A-582E-C044B9C9F7FD}"/>
              </a:ext>
            </a:extLst>
          </p:cNvPr>
          <p:cNvSpPr/>
          <p:nvPr/>
        </p:nvSpPr>
        <p:spPr>
          <a:xfrm>
            <a:off x="8361511" y="492552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5" name="Freeform 12">
            <a:extLst>
              <a:ext uri="{FF2B5EF4-FFF2-40B4-BE49-F238E27FC236}">
                <a16:creationId xmlns:a16="http://schemas.microsoft.com/office/drawing/2014/main" id="{0D00EB5D-ABB9-AB03-73D9-C8D36BF7F35F}"/>
              </a:ext>
            </a:extLst>
          </p:cNvPr>
          <p:cNvSpPr/>
          <p:nvPr/>
        </p:nvSpPr>
        <p:spPr>
          <a:xfrm>
            <a:off x="8628850" y="547285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E1BCA40-9B6A-F376-B728-0FF69D0EABEE}"/>
              </a:ext>
            </a:extLst>
          </p:cNvPr>
          <p:cNvCxnSpPr>
            <a:cxnSpLocks/>
          </p:cNvCxnSpPr>
          <p:nvPr/>
        </p:nvCxnSpPr>
        <p:spPr>
          <a:xfrm>
            <a:off x="746760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C01B0E3-3FFC-6D40-6FD0-BE062FB4878A}"/>
              </a:ext>
            </a:extLst>
          </p:cNvPr>
          <p:cNvCxnSpPr>
            <a:cxnSpLocks/>
          </p:cNvCxnSpPr>
          <p:nvPr/>
        </p:nvCxnSpPr>
        <p:spPr>
          <a:xfrm>
            <a:off x="775335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8" name="Freeform 12">
            <a:extLst>
              <a:ext uri="{FF2B5EF4-FFF2-40B4-BE49-F238E27FC236}">
                <a16:creationId xmlns:a16="http://schemas.microsoft.com/office/drawing/2014/main" id="{9F9277A0-C1ED-4327-4661-0A64CE317414}"/>
              </a:ext>
            </a:extLst>
          </p:cNvPr>
          <p:cNvSpPr/>
          <p:nvPr/>
        </p:nvSpPr>
        <p:spPr>
          <a:xfrm>
            <a:off x="4217738" y="3246913"/>
            <a:ext cx="2655525" cy="15356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Outer loop pipelining will enforce all inner loops fully unrolled. Why?</a:t>
            </a:r>
            <a:endParaRPr lang="en-US" b="1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A5C68AD-D4DC-0F00-8055-655366C41DE4}"/>
              </a:ext>
            </a:extLst>
          </p:cNvPr>
          <p:cNvSpPr/>
          <p:nvPr/>
        </p:nvSpPr>
        <p:spPr>
          <a:xfrm>
            <a:off x="2682240" y="3649980"/>
            <a:ext cx="1472413" cy="541020"/>
          </a:xfrm>
          <a:custGeom>
            <a:avLst/>
            <a:gdLst>
              <a:gd name="connsiteX0" fmla="*/ 624840 w 1365007"/>
              <a:gd name="connsiteY0" fmla="*/ 0 h 541020"/>
              <a:gd name="connsiteX1" fmla="*/ 1348740 w 1365007"/>
              <a:gd name="connsiteY1" fmla="*/ 228600 h 541020"/>
              <a:gd name="connsiteX2" fmla="*/ 0 w 1365007"/>
              <a:gd name="connsiteY2" fmla="*/ 54102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5007" h="541020">
                <a:moveTo>
                  <a:pt x="624840" y="0"/>
                </a:moveTo>
                <a:cubicBezTo>
                  <a:pt x="1038860" y="69215"/>
                  <a:pt x="1452880" y="138430"/>
                  <a:pt x="1348740" y="228600"/>
                </a:cubicBezTo>
                <a:cubicBezTo>
                  <a:pt x="1244600" y="318770"/>
                  <a:pt x="622300" y="429895"/>
                  <a:pt x="0" y="541020"/>
                </a:cubicBezTo>
              </a:path>
            </a:pathLst>
          </a:custGeom>
          <a:noFill/>
          <a:ln w="57150">
            <a:solidFill>
              <a:schemeClr val="accent4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8FBE59-FA82-4F34-971D-B008874B7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699043" cy="4484657"/>
          </a:xfrm>
        </p:spPr>
        <p:txBody>
          <a:bodyPr>
            <a:normAutofit/>
          </a:bodyPr>
          <a:lstStyle/>
          <a:p>
            <a:r>
              <a:rPr lang="en-US" dirty="0"/>
              <a:t>A lot of useful “</a:t>
            </a:r>
            <a:r>
              <a:rPr lang="en-US" dirty="0" err="1">
                <a:solidFill>
                  <a:schemeClr val="accent1"/>
                </a:solidFill>
              </a:rPr>
              <a:t>pragma</a:t>
            </a:r>
            <a:r>
              <a:rPr lang="en-US" dirty="0" err="1"/>
              <a:t>”s</a:t>
            </a:r>
            <a:r>
              <a:rPr lang="en-US" dirty="0"/>
              <a:t>: tell your compiler how to build the hardware</a:t>
            </a:r>
          </a:p>
          <a:p>
            <a:r>
              <a:rPr lang="en-US" dirty="0"/>
              <a:t>This link has all the </a:t>
            </a:r>
            <a:r>
              <a:rPr lang="en-US" dirty="0">
                <a:solidFill>
                  <a:schemeClr val="accent1"/>
                </a:solidFill>
              </a:rPr>
              <a:t>pragmas</a:t>
            </a:r>
            <a:r>
              <a:rPr lang="en-US" dirty="0"/>
              <a:t> you need:</a:t>
            </a:r>
          </a:p>
          <a:p>
            <a:pPr lvl="1"/>
            <a:r>
              <a:rPr lang="en-US" sz="1800" dirty="0">
                <a:hlinkClick r:id="rId2"/>
              </a:rPr>
              <a:t>https://docs.xilinx.com/r/en-US/ug1399-vitis-hls/HLS-Pragmas</a:t>
            </a:r>
            <a:endParaRPr lang="en-US" sz="1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2CFFCE-4E89-4606-A456-FC69E24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2DDF1F-35A6-4929-ACCD-ACF1080AA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HLS Pragmas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BD453B-D27E-40B0-B813-0A43E275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287" y="2451218"/>
            <a:ext cx="4754595" cy="37983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B3E8EB-A2A7-4F9A-81F7-1F3009372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21" y="2606478"/>
            <a:ext cx="4953000" cy="364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7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D8BDCF-28E0-40A6-B8F5-1E5BEA78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842254"/>
          </a:xfrm>
        </p:spPr>
        <p:txBody>
          <a:bodyPr>
            <a:normAutofit/>
          </a:bodyPr>
          <a:lstStyle/>
          <a:p>
            <a:r>
              <a:rPr lang="en-US" dirty="0"/>
              <a:t>This link has everything you need to know about HLS…</a:t>
            </a:r>
          </a:p>
          <a:p>
            <a:pPr lvl="1"/>
            <a:r>
              <a:rPr lang="en-US" sz="2400" dirty="0">
                <a:hlinkClick r:id="rId2"/>
              </a:rPr>
              <a:t>https://docs.xilinx.com/r/en-US/ug1399-vitis-hls/Getting-Started-with-Vitis-HLS</a:t>
            </a:r>
            <a:endParaRPr lang="en-US" sz="2400" dirty="0"/>
          </a:p>
          <a:p>
            <a:pPr lvl="1"/>
            <a:r>
              <a:rPr lang="en-US" sz="2400" dirty="0"/>
              <a:t>I can be 100% substituted by this link </a:t>
            </a:r>
            <a:r>
              <a:rPr lang="en-US" sz="2400" dirty="0">
                <a:sym typeface="Wingdings" panose="05000000000000000000" pitchFamily="2" charset="2"/>
              </a:rPr>
              <a:t></a:t>
            </a:r>
          </a:p>
          <a:p>
            <a:pPr lvl="1"/>
            <a:r>
              <a:rPr lang="en-US" sz="2400" dirty="0">
                <a:sym typeface="Wingdings" panose="05000000000000000000" pitchFamily="2" charset="2"/>
              </a:rPr>
              <a:t>… or can I ???</a:t>
            </a:r>
            <a:endParaRPr lang="en-US" sz="3200" dirty="0"/>
          </a:p>
          <a:p>
            <a:r>
              <a:rPr lang="en-US" dirty="0"/>
              <a:t>Remember: using HLS for FPGA design is NOT all about playing with pragmas</a:t>
            </a:r>
          </a:p>
          <a:p>
            <a:r>
              <a:rPr lang="en-US" dirty="0"/>
              <a:t>It’s you designing an architecture, using HLS to achieve your goal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8E47F3-E34C-4E73-B715-D593CD90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2AC857-597E-4077-938C-690B226D2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HLS Resources</a:t>
            </a:r>
          </a:p>
        </p:txBody>
      </p:sp>
      <p:sp>
        <p:nvSpPr>
          <p:cNvPr id="7" name="正方形/長方形 190">
            <a:extLst>
              <a:ext uri="{FF2B5EF4-FFF2-40B4-BE49-F238E27FC236}">
                <a16:creationId xmlns:a16="http://schemas.microsoft.com/office/drawing/2014/main" id="{524E5181-B19A-3445-F5A8-D5BCC443E506}"/>
              </a:ext>
            </a:extLst>
          </p:cNvPr>
          <p:cNvSpPr/>
          <p:nvPr/>
        </p:nvSpPr>
        <p:spPr>
          <a:xfrm>
            <a:off x="652298" y="4153658"/>
            <a:ext cx="4689322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Let me see what are those pragmas?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193287-4416-2A8C-2E43-463593EA6D02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2996959" y="4519418"/>
            <a:ext cx="0" cy="4113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190">
            <a:extLst>
              <a:ext uri="{FF2B5EF4-FFF2-40B4-BE49-F238E27FC236}">
                <a16:creationId xmlns:a16="http://schemas.microsoft.com/office/drawing/2014/main" id="{A213529F-F33D-BE38-EBBD-C45272E43F78}"/>
              </a:ext>
            </a:extLst>
          </p:cNvPr>
          <p:cNvSpPr/>
          <p:nvPr/>
        </p:nvSpPr>
        <p:spPr>
          <a:xfrm>
            <a:off x="652298" y="4930804"/>
            <a:ext cx="4689322" cy="36576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Try to use them to optimize my design</a:t>
            </a:r>
          </a:p>
        </p:txBody>
      </p:sp>
      <p:sp>
        <p:nvSpPr>
          <p:cNvPr id="15" name="正方形/長方形 190">
            <a:extLst>
              <a:ext uri="{FF2B5EF4-FFF2-40B4-BE49-F238E27FC236}">
                <a16:creationId xmlns:a16="http://schemas.microsoft.com/office/drawing/2014/main" id="{850B7F3F-02D6-31DD-DAE4-D49EA4F704ED}"/>
              </a:ext>
            </a:extLst>
          </p:cNvPr>
          <p:cNvSpPr/>
          <p:nvPr/>
        </p:nvSpPr>
        <p:spPr>
          <a:xfrm>
            <a:off x="6316980" y="3718560"/>
            <a:ext cx="5356860" cy="800858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I want to optimize my design in such a way… (e.g., hey, these operations can be parallelized!)</a:t>
            </a:r>
          </a:p>
        </p:txBody>
      </p:sp>
      <p:sp>
        <p:nvSpPr>
          <p:cNvPr id="16" name="正方形/長方形 190">
            <a:extLst>
              <a:ext uri="{FF2B5EF4-FFF2-40B4-BE49-F238E27FC236}">
                <a16:creationId xmlns:a16="http://schemas.microsoft.com/office/drawing/2014/main" id="{892036BB-1228-7DDD-A4F2-ADD170DF38F0}"/>
              </a:ext>
            </a:extLst>
          </p:cNvPr>
          <p:cNvSpPr/>
          <p:nvPr/>
        </p:nvSpPr>
        <p:spPr>
          <a:xfrm>
            <a:off x="6316980" y="4930803"/>
            <a:ext cx="5356860" cy="800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ptos Display" panose="020B0004020202020204" pitchFamily="34" charset="0"/>
              </a:rPr>
              <a:t>Let me check if there’s a pragma (with code rewrite) that can achieve my goal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580E962-6A31-BF7D-C5FB-403BE478E3B1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8995410" y="4519418"/>
            <a:ext cx="0" cy="4113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D5DDA946-2EFB-C168-2943-BFBF0A225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9759" y="5288944"/>
            <a:ext cx="914400" cy="914400"/>
          </a:xfrm>
          <a:prstGeom prst="rect">
            <a:avLst/>
          </a:prstGeom>
        </p:spPr>
      </p:pic>
      <p:pic>
        <p:nvPicPr>
          <p:cNvPr id="27" name="Graphic 26" descr="Checkmark with solid fill">
            <a:extLst>
              <a:ext uri="{FF2B5EF4-FFF2-40B4-BE49-F238E27FC236}">
                <a16:creationId xmlns:a16="http://schemas.microsoft.com/office/drawing/2014/main" id="{F79446C0-5C7A-34F0-B1E7-4AE570391C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6320" y="56311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509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5E9BB09-2F2C-421C-8B35-9F2A606B7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4230152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0D5B9BF-6665-4688-9F40-E8D6C67C8288}"/>
              </a:ext>
            </a:extLst>
          </p:cNvPr>
          <p:cNvCxnSpPr>
            <a:cxnSpLocks/>
          </p:cNvCxnSpPr>
          <p:nvPr/>
        </p:nvCxnSpPr>
        <p:spPr>
          <a:xfrm>
            <a:off x="7102365" y="5979792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8CB2F-61B7-4063-8121-CF65909D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348" y="1763208"/>
            <a:ext cx="4394885" cy="19196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dirty="0">
              <a:latin typeface="Aptos Display" panose="020B0004020202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55914F-6889-4687-BC75-8E46CE342CDE}"/>
              </a:ext>
            </a:extLst>
          </p:cNvPr>
          <p:cNvCxnSpPr>
            <a:cxnSpLocks/>
          </p:cNvCxnSpPr>
          <p:nvPr/>
        </p:nvCxnSpPr>
        <p:spPr>
          <a:xfrm>
            <a:off x="7102365" y="3512848"/>
            <a:ext cx="401521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18F275-B0EE-4FA8-B1B9-5D4FFEA49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/>
          <a:lstStyle/>
          <a:p>
            <a:r>
              <a:rPr lang="en-US" dirty="0"/>
              <a:t>The three techniques are frequently used together to boost computation efficiency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FEFDFD-84E5-42AC-8E89-D2EA7AA3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85EBDA-0398-4FF4-A6E2-4161119E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Put-together: Pipeline + Unroll +Partition</a:t>
            </a: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D9548185-2C87-4152-825D-5FA656293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086" y="2258785"/>
            <a:ext cx="5615340" cy="304473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defPPr>
              <a:defRPr lang="en-US"/>
            </a:defPPr>
            <a:lvl1pPr indent="174625">
              <a:defRPr sz="1600">
                <a:latin typeface="Consolas" panose="020B0609020204030204" pitchFamily="49" charset="0"/>
                <a:cs typeface="Palatino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variable=A dim=2 complete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variable=B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</a:t>
            </a:r>
            <a:r>
              <a:rPr lang="en-US" altLang="zh-CN" sz="1400" b="1" dirty="0" err="1">
                <a:solidFill>
                  <a:schemeClr val="accent5">
                    <a:lumMod val="75000"/>
                  </a:schemeClr>
                </a:solidFill>
              </a:rPr>
              <a:t>array_partition</a:t>
            </a: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 variable=C dim=2 complete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for (int i = 0; i &lt; N; i++)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6">
                    <a:lumMod val="75000"/>
                  </a:schemeClr>
                </a:solidFill>
              </a:rPr>
              <a:t>#pragma HLS pipeline II=1</a:t>
            </a:r>
            <a:endParaRPr lang="en-US" altLang="zh-CN" sz="1400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for (int j = 0; j &lt; M; </a:t>
            </a:r>
            <a:r>
              <a:rPr lang="en-US" altLang="zh-CN" sz="1400" dirty="0" err="1">
                <a:solidFill>
                  <a:schemeClr val="tx1"/>
                </a:solidFill>
              </a:rPr>
              <a:t>j++</a:t>
            </a:r>
            <a:r>
              <a:rPr lang="en-US" altLang="zh-CN" sz="1400" dirty="0">
                <a:solidFill>
                  <a:schemeClr val="tx1"/>
                </a:solidFill>
              </a:rPr>
              <a:t>) {</a:t>
            </a:r>
          </a:p>
          <a:p>
            <a:pPr>
              <a:lnSpc>
                <a:spcPct val="120000"/>
              </a:lnSpc>
            </a:pPr>
            <a:r>
              <a:rPr lang="en-US" altLang="zh-CN" sz="1400" b="1" dirty="0">
                <a:solidFill>
                  <a:schemeClr val="accent5">
                    <a:lumMod val="75000"/>
                  </a:schemeClr>
                </a:solidFill>
              </a:rPr>
              <a:t>#pragma HLS unroll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  A[i][j] = B[i][j] * C[i][j];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  }</a:t>
            </a:r>
          </a:p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tx1"/>
                </a:solidFill>
              </a:rPr>
              <a:t>}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BCBB73E-D5D8-4071-AF9B-1ECDDC2B0F83}"/>
              </a:ext>
            </a:extLst>
          </p:cNvPr>
          <p:cNvGrpSpPr/>
          <p:nvPr/>
        </p:nvGrpSpPr>
        <p:grpSpPr>
          <a:xfrm>
            <a:off x="7162800" y="1948893"/>
            <a:ext cx="3543300" cy="1480107"/>
            <a:chOff x="7162800" y="1948893"/>
            <a:chExt cx="3543300" cy="200198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8B88E3-7C89-4177-A708-F2B63FD1CF37}"/>
                </a:ext>
              </a:extLst>
            </p:cNvPr>
            <p:cNvSpPr/>
            <p:nvPr/>
          </p:nvSpPr>
          <p:spPr>
            <a:xfrm>
              <a:off x="7162800" y="194889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EF786CC-F9AF-4012-A08B-066600D5A8E9}"/>
                </a:ext>
              </a:extLst>
            </p:cNvPr>
            <p:cNvSpPr/>
            <p:nvPr/>
          </p:nvSpPr>
          <p:spPr>
            <a:xfrm>
              <a:off x="7162800" y="2292825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3A61A9A-1365-4D2D-825E-1929CB23511F}"/>
                </a:ext>
              </a:extLst>
            </p:cNvPr>
            <p:cNvSpPr/>
            <p:nvPr/>
          </p:nvSpPr>
          <p:spPr>
            <a:xfrm>
              <a:off x="8343900" y="265203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E74DE65A-1A2B-4C07-9371-5D23FB285388}"/>
                </a:ext>
              </a:extLst>
            </p:cNvPr>
            <p:cNvSpPr/>
            <p:nvPr/>
          </p:nvSpPr>
          <p:spPr>
            <a:xfrm>
              <a:off x="8343900" y="299596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CD6F291-2910-4A6A-A9CD-1C620248E6AD}"/>
                </a:ext>
              </a:extLst>
            </p:cNvPr>
            <p:cNvSpPr/>
            <p:nvPr/>
          </p:nvSpPr>
          <p:spPr>
            <a:xfrm>
              <a:off x="9525000" y="3360658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0D24BC0-D455-4EB5-A5AE-72C672D1927E}"/>
                </a:ext>
              </a:extLst>
            </p:cNvPr>
            <p:cNvSpPr/>
            <p:nvPr/>
          </p:nvSpPr>
          <p:spPr>
            <a:xfrm>
              <a:off x="9525000" y="3704590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DE0E722-23AA-4902-AFEA-501864E4E5F6}"/>
              </a:ext>
            </a:extLst>
          </p:cNvPr>
          <p:cNvGrpSpPr/>
          <p:nvPr/>
        </p:nvGrpSpPr>
        <p:grpSpPr>
          <a:xfrm>
            <a:off x="7162800" y="4407970"/>
            <a:ext cx="1771650" cy="1454469"/>
            <a:chOff x="7162800" y="4698681"/>
            <a:chExt cx="1771650" cy="199649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FAFE9B-E14F-4D50-A1F7-4CFFDA6BCBC6}"/>
                </a:ext>
              </a:extLst>
            </p:cNvPr>
            <p:cNvSpPr/>
            <p:nvPr/>
          </p:nvSpPr>
          <p:spPr>
            <a:xfrm>
              <a:off x="7162800" y="469868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BF686AE-104B-4DF5-9A86-ED77C3E2012D}"/>
                </a:ext>
              </a:extLst>
            </p:cNvPr>
            <p:cNvSpPr/>
            <p:nvPr/>
          </p:nvSpPr>
          <p:spPr>
            <a:xfrm>
              <a:off x="7162800" y="5042613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B372897-4E17-498B-AFE3-13B0E9F31F5F}"/>
                </a:ext>
              </a:extLst>
            </p:cNvPr>
            <p:cNvSpPr/>
            <p:nvPr/>
          </p:nvSpPr>
          <p:spPr>
            <a:xfrm>
              <a:off x="7467600" y="540181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E6FC3F3-FFEE-45CB-A5FF-ECA0F351D699}"/>
                </a:ext>
              </a:extLst>
            </p:cNvPr>
            <p:cNvSpPr/>
            <p:nvPr/>
          </p:nvSpPr>
          <p:spPr>
            <a:xfrm>
              <a:off x="7467600" y="5745751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8A76EA-5994-4195-9D6B-DEFF26232153}"/>
                </a:ext>
              </a:extLst>
            </p:cNvPr>
            <p:cNvSpPr/>
            <p:nvPr/>
          </p:nvSpPr>
          <p:spPr>
            <a:xfrm>
              <a:off x="7753350" y="6104957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53F3D21-11F0-40BA-9256-D33D858A0B1B}"/>
                </a:ext>
              </a:extLst>
            </p:cNvPr>
            <p:cNvSpPr/>
            <p:nvPr/>
          </p:nvSpPr>
          <p:spPr>
            <a:xfrm>
              <a:off x="7753350" y="6448889"/>
              <a:ext cx="1181100" cy="24629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E6757A-B7A6-4E15-8043-494249957D45}"/>
              </a:ext>
            </a:extLst>
          </p:cNvPr>
          <p:cNvCxnSpPr>
            <a:cxnSpLocks/>
          </p:cNvCxnSpPr>
          <p:nvPr/>
        </p:nvCxnSpPr>
        <p:spPr>
          <a:xfrm>
            <a:off x="83439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305508-6DD2-4F62-962F-1F339FCF8F7A}"/>
              </a:ext>
            </a:extLst>
          </p:cNvPr>
          <p:cNvCxnSpPr>
            <a:cxnSpLocks/>
          </p:cNvCxnSpPr>
          <p:nvPr/>
        </p:nvCxnSpPr>
        <p:spPr>
          <a:xfrm>
            <a:off x="9525000" y="1763208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sp>
        <p:nvSpPr>
          <p:cNvPr id="28" name="Freeform 12">
            <a:extLst>
              <a:ext uri="{FF2B5EF4-FFF2-40B4-BE49-F238E27FC236}">
                <a16:creationId xmlns:a16="http://schemas.microsoft.com/office/drawing/2014/main" id="{27696E7A-1C59-4731-92AE-7912770A622F}"/>
              </a:ext>
            </a:extLst>
          </p:cNvPr>
          <p:cNvSpPr/>
          <p:nvPr/>
        </p:nvSpPr>
        <p:spPr>
          <a:xfrm>
            <a:off x="7132648" y="2357213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29" name="Freeform 12">
            <a:extLst>
              <a:ext uri="{FF2B5EF4-FFF2-40B4-BE49-F238E27FC236}">
                <a16:creationId xmlns:a16="http://schemas.microsoft.com/office/drawing/2014/main" id="{EA11CB6C-41A5-4C37-8B07-5E625D018FCB}"/>
              </a:ext>
            </a:extLst>
          </p:cNvPr>
          <p:cNvSpPr/>
          <p:nvPr/>
        </p:nvSpPr>
        <p:spPr>
          <a:xfrm>
            <a:off x="8385437" y="284013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0FA3741D-6B03-49A4-B20E-A9BA8963DF96}"/>
              </a:ext>
            </a:extLst>
          </p:cNvPr>
          <p:cNvSpPr/>
          <p:nvPr/>
        </p:nvSpPr>
        <p:spPr>
          <a:xfrm>
            <a:off x="9566537" y="268130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3" name="Freeform 12">
            <a:extLst>
              <a:ext uri="{FF2B5EF4-FFF2-40B4-BE49-F238E27FC236}">
                <a16:creationId xmlns:a16="http://schemas.microsoft.com/office/drawing/2014/main" id="{A8C36CC7-E45E-4D2F-8128-4D7F53F030FC}"/>
              </a:ext>
            </a:extLst>
          </p:cNvPr>
          <p:cNvSpPr/>
          <p:nvPr/>
        </p:nvSpPr>
        <p:spPr>
          <a:xfrm>
            <a:off x="8021339" y="441327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i=0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4" name="Freeform 12">
            <a:extLst>
              <a:ext uri="{FF2B5EF4-FFF2-40B4-BE49-F238E27FC236}">
                <a16:creationId xmlns:a16="http://schemas.microsoft.com/office/drawing/2014/main" id="{010F0A3C-0D0A-4479-95CD-A8569746856F}"/>
              </a:ext>
            </a:extLst>
          </p:cNvPr>
          <p:cNvSpPr/>
          <p:nvPr/>
        </p:nvSpPr>
        <p:spPr>
          <a:xfrm>
            <a:off x="8361511" y="4925521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i=1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5" name="Freeform 12">
            <a:extLst>
              <a:ext uri="{FF2B5EF4-FFF2-40B4-BE49-F238E27FC236}">
                <a16:creationId xmlns:a16="http://schemas.microsoft.com/office/drawing/2014/main" id="{6B66847C-E056-4C8F-A1FC-3DD24F84B153}"/>
              </a:ext>
            </a:extLst>
          </p:cNvPr>
          <p:cNvSpPr/>
          <p:nvPr/>
        </p:nvSpPr>
        <p:spPr>
          <a:xfrm>
            <a:off x="8628850" y="5472858"/>
            <a:ext cx="1098026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i=2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B89C78-6204-48DC-B167-4A14D528949E}"/>
              </a:ext>
            </a:extLst>
          </p:cNvPr>
          <p:cNvCxnSpPr>
            <a:cxnSpLocks/>
          </p:cNvCxnSpPr>
          <p:nvPr/>
        </p:nvCxnSpPr>
        <p:spPr>
          <a:xfrm>
            <a:off x="746760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153D548-0EB2-428B-8CAE-2B661D572A3D}"/>
              </a:ext>
            </a:extLst>
          </p:cNvPr>
          <p:cNvCxnSpPr>
            <a:cxnSpLocks/>
          </p:cNvCxnSpPr>
          <p:nvPr/>
        </p:nvCxnSpPr>
        <p:spPr>
          <a:xfrm>
            <a:off x="7753350" y="4230152"/>
            <a:ext cx="0" cy="1737360"/>
          </a:xfrm>
          <a:prstGeom prst="line">
            <a:avLst/>
          </a:prstGeom>
          <a:solidFill>
            <a:schemeClr val="bg1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dash"/>
            <a:miter lim="800000"/>
            <a:headEnd/>
            <a:tailEnd/>
          </a:ln>
          <a:effectLst/>
        </p:spPr>
      </p:cxnSp>
    </p:spTree>
    <p:extLst>
      <p:ext uri="{BB962C8B-B14F-4D97-AF65-F5344CB8AC3E}">
        <p14:creationId xmlns:p14="http://schemas.microsoft.com/office/powerpoint/2010/main" val="240476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DD5E3-9CB9-41EA-BE93-1F280CFDD08D}"/>
              </a:ext>
            </a:extLst>
          </p:cNvPr>
          <p:cNvSpPr/>
          <p:nvPr/>
        </p:nvSpPr>
        <p:spPr>
          <a:xfrm>
            <a:off x="2792437" y="4241409"/>
            <a:ext cx="4839286" cy="4079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endParaRPr lang="en-US" dirty="0"/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pipeline</a:t>
            </a:r>
            <a:endParaRPr lang="en-US" dirty="0"/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Both Pipeline and Unroll must act on a loop, i.e., </a:t>
            </a:r>
            <a:r>
              <a:rPr lang="en-US" altLang="zh-CN" sz="2800" dirty="0">
                <a:solidFill>
                  <a:schemeClr val="accent1"/>
                </a:solidFill>
              </a:rPr>
              <a:t>within a loop region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7312B-73D8-4919-BE1D-DDF842309C2D}"/>
              </a:ext>
            </a:extLst>
          </p:cNvPr>
          <p:cNvSpPr/>
          <p:nvPr/>
        </p:nvSpPr>
        <p:spPr>
          <a:xfrm>
            <a:off x="7111968" y="226844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8AE68-30F3-47CD-A59E-C3800B7D0679}"/>
              </a:ext>
            </a:extLst>
          </p:cNvPr>
          <p:cNvSpPr/>
          <p:nvPr/>
        </p:nvSpPr>
        <p:spPr>
          <a:xfrm>
            <a:off x="7391433" y="257221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8A4F82-F11D-484F-8AD8-4990B7C9D127}"/>
              </a:ext>
            </a:extLst>
          </p:cNvPr>
          <p:cNvSpPr/>
          <p:nvPr/>
        </p:nvSpPr>
        <p:spPr>
          <a:xfrm>
            <a:off x="7670898" y="287597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B55F2E-42E5-44C8-88C4-D67B509979D7}"/>
              </a:ext>
            </a:extLst>
          </p:cNvPr>
          <p:cNvSpPr/>
          <p:nvPr/>
        </p:nvSpPr>
        <p:spPr>
          <a:xfrm>
            <a:off x="7950362" y="317974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717C9-F92E-4C9B-9F94-A20FB8AE4B03}"/>
              </a:ext>
            </a:extLst>
          </p:cNvPr>
          <p:cNvSpPr/>
          <p:nvPr/>
        </p:nvSpPr>
        <p:spPr>
          <a:xfrm>
            <a:off x="9564081" y="3600640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4B191B-C4AB-416B-A81D-85B4356220A9}"/>
              </a:ext>
            </a:extLst>
          </p:cNvPr>
          <p:cNvSpPr/>
          <p:nvPr/>
        </p:nvSpPr>
        <p:spPr>
          <a:xfrm>
            <a:off x="9843546" y="3904405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610812-BF94-4295-8003-3C02A54F999E}"/>
              </a:ext>
            </a:extLst>
          </p:cNvPr>
          <p:cNvSpPr/>
          <p:nvPr/>
        </p:nvSpPr>
        <p:spPr>
          <a:xfrm>
            <a:off x="10123011" y="4208170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D3EC3F-6E46-4945-81BF-C60970A90F24}"/>
              </a:ext>
            </a:extLst>
          </p:cNvPr>
          <p:cNvSpPr/>
          <p:nvPr/>
        </p:nvSpPr>
        <p:spPr>
          <a:xfrm>
            <a:off x="10402475" y="4511935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73E343-FDC7-4CEC-9127-02C7679061E7}"/>
              </a:ext>
            </a:extLst>
          </p:cNvPr>
          <p:cNvSpPr/>
          <p:nvPr/>
        </p:nvSpPr>
        <p:spPr>
          <a:xfrm>
            <a:off x="7063317" y="2216192"/>
            <a:ext cx="2440437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AAC6BF-3FF3-4D66-984C-6603E72AFBA9}"/>
              </a:ext>
            </a:extLst>
          </p:cNvPr>
          <p:cNvSpPr/>
          <p:nvPr/>
        </p:nvSpPr>
        <p:spPr>
          <a:xfrm>
            <a:off x="9503754" y="3553100"/>
            <a:ext cx="2440437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8CB06-F026-4BB0-9E82-497FEDAFB3BF}"/>
              </a:ext>
            </a:extLst>
          </p:cNvPr>
          <p:cNvSpPr txBox="1"/>
          <p:nvPr/>
        </p:nvSpPr>
        <p:spPr>
          <a:xfrm>
            <a:off x="9173471" y="2148125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B2FCDC-4056-4C77-A66A-966400825A96}"/>
              </a:ext>
            </a:extLst>
          </p:cNvPr>
          <p:cNvSpPr txBox="1"/>
          <p:nvPr/>
        </p:nvSpPr>
        <p:spPr>
          <a:xfrm>
            <a:off x="11602868" y="3482675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F1A0E1-2706-4C0E-B849-4830112113DB}"/>
              </a:ext>
            </a:extLst>
          </p:cNvPr>
          <p:cNvSpPr txBox="1"/>
          <p:nvPr/>
        </p:nvSpPr>
        <p:spPr>
          <a:xfrm>
            <a:off x="8094419" y="3392141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511BD5-3C8C-45A1-B747-322B3570E44F}"/>
              </a:ext>
            </a:extLst>
          </p:cNvPr>
          <p:cNvSpPr txBox="1"/>
          <p:nvPr/>
        </p:nvSpPr>
        <p:spPr>
          <a:xfrm>
            <a:off x="10459425" y="4719228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1E2679-B975-E7E7-556C-A7D93C854C23}"/>
              </a:ext>
            </a:extLst>
          </p:cNvPr>
          <p:cNvSpPr/>
          <p:nvPr/>
        </p:nvSpPr>
        <p:spPr>
          <a:xfrm>
            <a:off x="4651058" y="3429000"/>
            <a:ext cx="357187" cy="503538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8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DD5E3-9CB9-41EA-BE93-1F280CFDD08D}"/>
              </a:ext>
            </a:extLst>
          </p:cNvPr>
          <p:cNvSpPr/>
          <p:nvPr/>
        </p:nvSpPr>
        <p:spPr>
          <a:xfrm>
            <a:off x="2792437" y="4241409"/>
            <a:ext cx="4839286" cy="4079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endParaRPr lang="en-US" dirty="0"/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unroll</a:t>
            </a:r>
            <a:endParaRPr lang="en-US" dirty="0"/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Both Pipeline and Unroll must act on a loop, i.e., </a:t>
            </a:r>
            <a:r>
              <a:rPr lang="en-US" altLang="zh-CN" sz="2800" dirty="0">
                <a:solidFill>
                  <a:schemeClr val="accent1"/>
                </a:solidFill>
              </a:rPr>
              <a:t>within a loop region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9EB725-6320-45E1-A728-FD5E9FC0891C}"/>
              </a:ext>
            </a:extLst>
          </p:cNvPr>
          <p:cNvSpPr/>
          <p:nvPr/>
        </p:nvSpPr>
        <p:spPr>
          <a:xfrm>
            <a:off x="7522071" y="217700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5F16E0-ABB5-4886-AD8F-C2868F390DFF}"/>
              </a:ext>
            </a:extLst>
          </p:cNvPr>
          <p:cNvSpPr/>
          <p:nvPr/>
        </p:nvSpPr>
        <p:spPr>
          <a:xfrm>
            <a:off x="7522071" y="248077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2CCD04-197E-4D2C-85BC-D3FD1EFD3BBF}"/>
              </a:ext>
            </a:extLst>
          </p:cNvPr>
          <p:cNvSpPr/>
          <p:nvPr/>
        </p:nvSpPr>
        <p:spPr>
          <a:xfrm>
            <a:off x="7522071" y="278453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28FE257-A293-4C59-92B4-3EF1C6B4F8A9}"/>
              </a:ext>
            </a:extLst>
          </p:cNvPr>
          <p:cNvSpPr/>
          <p:nvPr/>
        </p:nvSpPr>
        <p:spPr>
          <a:xfrm>
            <a:off x="7522071" y="308830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2E0779-98AF-432B-BCA1-B31BC537216D}"/>
              </a:ext>
            </a:extLst>
          </p:cNvPr>
          <p:cNvSpPr/>
          <p:nvPr/>
        </p:nvSpPr>
        <p:spPr>
          <a:xfrm>
            <a:off x="7473421" y="2124752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18DF04-6D7F-4E61-B36B-5BA9363F2C1E}"/>
              </a:ext>
            </a:extLst>
          </p:cNvPr>
          <p:cNvSpPr txBox="1"/>
          <p:nvPr/>
        </p:nvSpPr>
        <p:spPr>
          <a:xfrm>
            <a:off x="8698349" y="2046840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BC1FFE-DCB2-4DE7-9E65-6B3839C57B80}"/>
              </a:ext>
            </a:extLst>
          </p:cNvPr>
          <p:cNvSpPr txBox="1"/>
          <p:nvPr/>
        </p:nvSpPr>
        <p:spPr>
          <a:xfrm>
            <a:off x="7936276" y="3255859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i=0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DCC49D-F1BA-453A-8CCB-8587AA131363}"/>
              </a:ext>
            </a:extLst>
          </p:cNvPr>
          <p:cNvSpPr/>
          <p:nvPr/>
        </p:nvSpPr>
        <p:spPr>
          <a:xfrm>
            <a:off x="9143634" y="370612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FB00344-B5FC-4487-B62E-56A08713D524}"/>
              </a:ext>
            </a:extLst>
          </p:cNvPr>
          <p:cNvSpPr/>
          <p:nvPr/>
        </p:nvSpPr>
        <p:spPr>
          <a:xfrm>
            <a:off x="9143634" y="400989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77D701B-FF18-45BA-B3B9-136AA6447586}"/>
              </a:ext>
            </a:extLst>
          </p:cNvPr>
          <p:cNvSpPr/>
          <p:nvPr/>
        </p:nvSpPr>
        <p:spPr>
          <a:xfrm>
            <a:off x="9143634" y="431365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CF1C62-20C9-4F29-824C-F96FA5736E5C}"/>
              </a:ext>
            </a:extLst>
          </p:cNvPr>
          <p:cNvSpPr/>
          <p:nvPr/>
        </p:nvSpPr>
        <p:spPr>
          <a:xfrm>
            <a:off x="9143634" y="461742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2B931A-0BCE-42CD-8398-5C4505890A50}"/>
              </a:ext>
            </a:extLst>
          </p:cNvPr>
          <p:cNvSpPr/>
          <p:nvPr/>
        </p:nvSpPr>
        <p:spPr>
          <a:xfrm>
            <a:off x="9094984" y="3653871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5F6430-CAC4-42EA-BC38-FDC6001BCDBF}"/>
              </a:ext>
            </a:extLst>
          </p:cNvPr>
          <p:cNvSpPr txBox="1"/>
          <p:nvPr/>
        </p:nvSpPr>
        <p:spPr>
          <a:xfrm>
            <a:off x="10319912" y="3575959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F9D3C9-1579-401A-ABD2-6441E2EA9A6E}"/>
              </a:ext>
            </a:extLst>
          </p:cNvPr>
          <p:cNvSpPr txBox="1"/>
          <p:nvPr/>
        </p:nvSpPr>
        <p:spPr>
          <a:xfrm>
            <a:off x="9557839" y="4784978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i=1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3950F5-0B10-446C-DE84-259A34F1DFF7}"/>
              </a:ext>
            </a:extLst>
          </p:cNvPr>
          <p:cNvSpPr/>
          <p:nvPr/>
        </p:nvSpPr>
        <p:spPr>
          <a:xfrm>
            <a:off x="4651058" y="3429000"/>
            <a:ext cx="357187" cy="503538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27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C503ABE-C611-44DE-A74A-8C2D04735BD7}"/>
              </a:ext>
            </a:extLst>
          </p:cNvPr>
          <p:cNvSpPr/>
          <p:nvPr/>
        </p:nvSpPr>
        <p:spPr>
          <a:xfrm>
            <a:off x="2792437" y="4241409"/>
            <a:ext cx="4839286" cy="4079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pipeline</a:t>
            </a:r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unroll</a:t>
            </a:r>
            <a:endParaRPr lang="en-US" dirty="0"/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Both Pipeline and Unroll must act on a loop, i.e., </a:t>
            </a:r>
            <a:r>
              <a:rPr lang="en-US" altLang="zh-CN" sz="2800" dirty="0">
                <a:solidFill>
                  <a:schemeClr val="accent1"/>
                </a:solidFill>
              </a:rPr>
              <a:t>within a loop region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2644FE-6428-4038-9B3C-F277E6A014E9}"/>
              </a:ext>
            </a:extLst>
          </p:cNvPr>
          <p:cNvSpPr/>
          <p:nvPr/>
        </p:nvSpPr>
        <p:spPr>
          <a:xfrm>
            <a:off x="7522071" y="217700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ADE40B-B4F8-4570-91F7-38DC32DA2892}"/>
              </a:ext>
            </a:extLst>
          </p:cNvPr>
          <p:cNvSpPr/>
          <p:nvPr/>
        </p:nvSpPr>
        <p:spPr>
          <a:xfrm>
            <a:off x="7522071" y="248077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8C5EB03-ECC9-4C37-864C-2CDE4B913E94}"/>
              </a:ext>
            </a:extLst>
          </p:cNvPr>
          <p:cNvSpPr/>
          <p:nvPr/>
        </p:nvSpPr>
        <p:spPr>
          <a:xfrm>
            <a:off x="7522071" y="2784539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9EBE135-E730-4AE4-B370-38C807097E99}"/>
              </a:ext>
            </a:extLst>
          </p:cNvPr>
          <p:cNvSpPr/>
          <p:nvPr/>
        </p:nvSpPr>
        <p:spPr>
          <a:xfrm>
            <a:off x="7522071" y="3088304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0CE2E-0530-4E03-825D-3068A0ED9705}"/>
              </a:ext>
            </a:extLst>
          </p:cNvPr>
          <p:cNvSpPr/>
          <p:nvPr/>
        </p:nvSpPr>
        <p:spPr>
          <a:xfrm>
            <a:off x="7473421" y="2124752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FF3C0F-DE3B-46F1-A3B1-87E9FD6EAB51}"/>
              </a:ext>
            </a:extLst>
          </p:cNvPr>
          <p:cNvSpPr txBox="1"/>
          <p:nvPr/>
        </p:nvSpPr>
        <p:spPr>
          <a:xfrm>
            <a:off x="8698349" y="2046840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07F7FF-E823-4DF7-BAF3-F01A33AC2FD7}"/>
              </a:ext>
            </a:extLst>
          </p:cNvPr>
          <p:cNvSpPr txBox="1"/>
          <p:nvPr/>
        </p:nvSpPr>
        <p:spPr>
          <a:xfrm>
            <a:off x="9073294" y="2389406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CAE2F7-F7F5-48C4-AECD-C73FBE1DDEC2}"/>
              </a:ext>
            </a:extLst>
          </p:cNvPr>
          <p:cNvSpPr/>
          <p:nvPr/>
        </p:nvSpPr>
        <p:spPr>
          <a:xfrm>
            <a:off x="7881419" y="354472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C34C65-DB08-4395-AEA5-9E93D5B0AE08}"/>
              </a:ext>
            </a:extLst>
          </p:cNvPr>
          <p:cNvSpPr/>
          <p:nvPr/>
        </p:nvSpPr>
        <p:spPr>
          <a:xfrm>
            <a:off x="7881419" y="384848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0B69C3-B8C3-47A0-AB24-34975C4340F5}"/>
              </a:ext>
            </a:extLst>
          </p:cNvPr>
          <p:cNvSpPr/>
          <p:nvPr/>
        </p:nvSpPr>
        <p:spPr>
          <a:xfrm>
            <a:off x="7881419" y="4152253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5BA487-37CE-49B7-BDFF-5F640FA0527D}"/>
              </a:ext>
            </a:extLst>
          </p:cNvPr>
          <p:cNvSpPr/>
          <p:nvPr/>
        </p:nvSpPr>
        <p:spPr>
          <a:xfrm>
            <a:off x="7881419" y="4456018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FBCC968-7C2D-423B-A201-5AEDDCBC94F8}"/>
              </a:ext>
            </a:extLst>
          </p:cNvPr>
          <p:cNvSpPr/>
          <p:nvPr/>
        </p:nvSpPr>
        <p:spPr>
          <a:xfrm>
            <a:off x="7832769" y="3492466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185B44-8CDE-4E72-A284-6430FE733A4B}"/>
              </a:ext>
            </a:extLst>
          </p:cNvPr>
          <p:cNvSpPr txBox="1"/>
          <p:nvPr/>
        </p:nvSpPr>
        <p:spPr>
          <a:xfrm>
            <a:off x="9057697" y="3414554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397A02-D6AF-479B-A6F3-86B2E092A45E}"/>
              </a:ext>
            </a:extLst>
          </p:cNvPr>
          <p:cNvSpPr txBox="1"/>
          <p:nvPr/>
        </p:nvSpPr>
        <p:spPr>
          <a:xfrm>
            <a:off x="9416395" y="3780596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153823-DA07-47FB-B323-10AD405F56BA}"/>
              </a:ext>
            </a:extLst>
          </p:cNvPr>
          <p:cNvSpPr/>
          <p:nvPr/>
        </p:nvSpPr>
        <p:spPr>
          <a:xfrm>
            <a:off x="8273173" y="4915242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B15A932-E3A3-48CC-90EA-903B134295E2}"/>
              </a:ext>
            </a:extLst>
          </p:cNvPr>
          <p:cNvSpPr/>
          <p:nvPr/>
        </p:nvSpPr>
        <p:spPr>
          <a:xfrm>
            <a:off x="8273173" y="5219007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E3A13B5-E625-476C-8114-4E22D6B19CDF}"/>
              </a:ext>
            </a:extLst>
          </p:cNvPr>
          <p:cNvSpPr/>
          <p:nvPr/>
        </p:nvSpPr>
        <p:spPr>
          <a:xfrm>
            <a:off x="8273173" y="5522772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7E62EB0-CE36-4C9D-A209-1E9F9965A974}"/>
              </a:ext>
            </a:extLst>
          </p:cNvPr>
          <p:cNvSpPr/>
          <p:nvPr/>
        </p:nvSpPr>
        <p:spPr>
          <a:xfrm>
            <a:off x="8273173" y="5826537"/>
            <a:ext cx="1502573" cy="2123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381833-3C86-42CC-8F70-1645DF132907}"/>
              </a:ext>
            </a:extLst>
          </p:cNvPr>
          <p:cNvSpPr/>
          <p:nvPr/>
        </p:nvSpPr>
        <p:spPr>
          <a:xfrm>
            <a:off x="8224523" y="4862985"/>
            <a:ext cx="1600242" cy="123444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1D774A-E8F0-4B81-92D9-D4CCFF1E3AC8}"/>
              </a:ext>
            </a:extLst>
          </p:cNvPr>
          <p:cNvSpPr txBox="1"/>
          <p:nvPr/>
        </p:nvSpPr>
        <p:spPr>
          <a:xfrm>
            <a:off x="9449451" y="4785073"/>
            <a:ext cx="500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j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DE8820-45F4-4D14-AF6C-2120D1B7EE73}"/>
              </a:ext>
            </a:extLst>
          </p:cNvPr>
          <p:cNvSpPr txBox="1"/>
          <p:nvPr/>
        </p:nvSpPr>
        <p:spPr>
          <a:xfrm>
            <a:off x="9808149" y="5151115"/>
            <a:ext cx="12144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Aptos Display" panose="020B0004020202020204" pitchFamily="34" charset="0"/>
              </a:rPr>
              <a:t>i=2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4666E40-9156-74B1-4CB1-1152FED1558F}"/>
              </a:ext>
            </a:extLst>
          </p:cNvPr>
          <p:cNvSpPr/>
          <p:nvPr/>
        </p:nvSpPr>
        <p:spPr>
          <a:xfrm>
            <a:off x="4651058" y="3429000"/>
            <a:ext cx="357187" cy="503538"/>
          </a:xfrm>
          <a:prstGeom prst="round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C9E656-80B8-D3EF-E7B4-4EACFA054576}"/>
              </a:ext>
            </a:extLst>
          </p:cNvPr>
          <p:cNvSpPr/>
          <p:nvPr/>
        </p:nvSpPr>
        <p:spPr>
          <a:xfrm>
            <a:off x="3817621" y="2693170"/>
            <a:ext cx="290035" cy="440753"/>
          </a:xfrm>
          <a:prstGeom prst="roundRect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1B1303-24DB-F527-BEB8-1374433E40DA}"/>
              </a:ext>
            </a:extLst>
          </p:cNvPr>
          <p:cNvSpPr txBox="1"/>
          <p:nvPr/>
        </p:nvSpPr>
        <p:spPr>
          <a:xfrm>
            <a:off x="2650137" y="4859971"/>
            <a:ext cx="52813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ptos Display" panose="020B0004020202020204" pitchFamily="34" charset="0"/>
              </a:rPr>
              <a:t>Note</a:t>
            </a:r>
            <a:r>
              <a:rPr lang="en-US" sz="2000" dirty="0">
                <a:latin typeface="Aptos Display" panose="020B0004020202020204" pitchFamily="34" charset="0"/>
              </a:rPr>
              <a:t>: the pipeline will enforce the inner loop being completely unrolled!</a:t>
            </a:r>
          </a:p>
          <a:p>
            <a:r>
              <a:rPr lang="en-US" sz="2000" dirty="0">
                <a:latin typeface="Aptos Display" panose="020B0004020202020204" pitchFamily="34" charset="0"/>
              </a:rPr>
              <a:t>Could cause great scalability issue – discuss later</a:t>
            </a:r>
          </a:p>
        </p:txBody>
      </p:sp>
    </p:spTree>
    <p:extLst>
      <p:ext uri="{BB962C8B-B14F-4D97-AF65-F5344CB8AC3E}">
        <p14:creationId xmlns:p14="http://schemas.microsoft.com/office/powerpoint/2010/main" val="2041850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C503ABE-C611-44DE-A74A-8C2D04735BD7}"/>
              </a:ext>
            </a:extLst>
          </p:cNvPr>
          <p:cNvSpPr/>
          <p:nvPr/>
        </p:nvSpPr>
        <p:spPr>
          <a:xfrm>
            <a:off x="2032782" y="4241409"/>
            <a:ext cx="5598941" cy="11535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97175-549A-4747-ACA2-5C3F36478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EDC9C54-1D80-4948-888B-D9FDFE6C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Effective Region of Unroll and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65A1A4-C5C9-441D-BC17-11D7FC8501E1}"/>
              </a:ext>
            </a:extLst>
          </p:cNvPr>
          <p:cNvSpPr txBox="1"/>
          <p:nvPr/>
        </p:nvSpPr>
        <p:spPr>
          <a:xfrm>
            <a:off x="766690" y="1993735"/>
            <a:ext cx="10775851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top( ports ) {</a:t>
            </a:r>
          </a:p>
          <a:p>
            <a:endParaRPr lang="en-US" dirty="0"/>
          </a:p>
          <a:p>
            <a:r>
              <a:rPr lang="en-US" dirty="0"/>
              <a:t>   for(int i = 0; i &lt; 512; i++)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pipeline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unroll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r>
              <a:rPr lang="en-US" dirty="0"/>
              <a:t>        for(int j = 0; j &lt; 1024;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	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C34A311-7990-4B73-902C-F3AA54EB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Putting both pipeline and </a:t>
            </a:r>
            <a:r>
              <a:rPr lang="en-US" altLang="zh-CN" sz="2800"/>
              <a:t>unroll together? </a:t>
            </a:r>
            <a:r>
              <a:rPr lang="en-US" altLang="zh-CN" sz="2800">
                <a:solidFill>
                  <a:schemeClr val="accent1"/>
                </a:solidFill>
              </a:rPr>
              <a:t>WRONG</a:t>
            </a:r>
            <a:r>
              <a:rPr lang="en-US" altLang="zh-CN" sz="2800" dirty="0">
                <a:solidFill>
                  <a:schemeClr val="accent1"/>
                </a:solidFill>
              </a:rPr>
              <a:t>! Pick only one!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8C12B338-6415-41E8-B728-2EBC0EAF804E}"/>
              </a:ext>
            </a:extLst>
          </p:cNvPr>
          <p:cNvSpPr/>
          <p:nvPr/>
        </p:nvSpPr>
        <p:spPr>
          <a:xfrm>
            <a:off x="8289974" y="3876998"/>
            <a:ext cx="3135335" cy="1975162"/>
          </a:xfrm>
          <a:prstGeom prst="borderCallout1">
            <a:avLst>
              <a:gd name="adj1" fmla="val 15633"/>
              <a:gd name="adj2" fmla="val 154"/>
              <a:gd name="adj3" fmla="val -9311"/>
              <a:gd name="adj4" fmla="val -138032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The inner loops are untouched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Outer loop is unrolled: generate 512 copies of i loop body</a:t>
            </a:r>
          </a:p>
        </p:txBody>
      </p:sp>
      <p:sp>
        <p:nvSpPr>
          <p:cNvPr id="31" name="Callout: Line 30">
            <a:extLst>
              <a:ext uri="{FF2B5EF4-FFF2-40B4-BE49-F238E27FC236}">
                <a16:creationId xmlns:a16="http://schemas.microsoft.com/office/drawing/2014/main" id="{DF3A0523-0E4A-42AE-B815-EA3C6C1E2DD9}"/>
              </a:ext>
            </a:extLst>
          </p:cNvPr>
          <p:cNvSpPr/>
          <p:nvPr/>
        </p:nvSpPr>
        <p:spPr>
          <a:xfrm>
            <a:off x="8289974" y="1851250"/>
            <a:ext cx="3135335" cy="1788699"/>
          </a:xfrm>
          <a:prstGeom prst="borderCallout1">
            <a:avLst>
              <a:gd name="adj1" fmla="val 83295"/>
              <a:gd name="adj2" fmla="val -295"/>
              <a:gd name="adj3" fmla="val 86840"/>
              <a:gd name="adj4" fmla="val -12748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The inner loops (j) are all unrolled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</a:rPr>
              <a:t>And the unrolled statements will be pipelined</a:t>
            </a:r>
          </a:p>
        </p:txBody>
      </p:sp>
    </p:spTree>
    <p:extLst>
      <p:ext uri="{BB962C8B-B14F-4D97-AF65-F5344CB8AC3E}">
        <p14:creationId xmlns:p14="http://schemas.microsoft.com/office/powerpoint/2010/main" val="261051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A89C-4B63-4790-2104-DF724F2B5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90149-A792-109C-FB86-C6D8117D0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06D2F6-6C18-2F30-6D55-64A4AB0B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Unroll </a:t>
            </a:r>
            <a:r>
              <a:rPr lang="en-US" dirty="0" err="1"/>
              <a:t>v.s</a:t>
            </a:r>
            <a:r>
              <a:rPr lang="en-US" dirty="0"/>
              <a:t>. Pipeline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C725333-FA34-99A2-7FBA-88DBEA283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When to use which?</a:t>
            </a:r>
            <a:endParaRPr lang="en-US" sz="2400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4F487D-14FF-E3BE-EFFF-CDF2689C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530592"/>
              </p:ext>
            </p:extLst>
          </p:nvPr>
        </p:nvGraphicFramePr>
        <p:xfrm>
          <a:off x="1487806" y="2076979"/>
          <a:ext cx="9629775" cy="366659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6305">
                  <a:extLst>
                    <a:ext uri="{9D8B030D-6E8A-4147-A177-3AD203B41FA5}">
                      <a16:colId xmlns:a16="http://schemas.microsoft.com/office/drawing/2014/main" val="2619247635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321579749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173702964"/>
                    </a:ext>
                  </a:extLst>
                </a:gridCol>
              </a:tblGrid>
              <a:tr h="48638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Unroll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632658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Impact on inner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Enforce to be unrolled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085295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Impact on inner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Enforce to be </a:t>
                      </a:r>
                      <a:r>
                        <a:rPr lang="en-US" sz="2000" dirty="0" err="1">
                          <a:latin typeface="Aptos Display" panose="020B0004020202020204" pitchFamily="34" charset="0"/>
                        </a:rPr>
                        <a:t>inlined</a:t>
                      </a: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098609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Loop-carried dependency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Handles dependency by 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Cannot parallelize if there’s </a:t>
                      </a:r>
                      <a:r>
                        <a:rPr lang="en-US" sz="2000" dirty="0">
                          <a:latin typeface="Aptos Display" panose="020B0004020202020204" pitchFamily="34" charset="0"/>
                        </a:rPr>
                        <a:t>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54696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Resource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Reuse resource across 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Replicates resources for each unrolled copy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121288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Nested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Used in outer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Used in inner loops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4015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1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1094967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06CC82-6608-BA08-AED1-953163488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48183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does II &gt; 1 mean?</a:t>
            </a:r>
          </a:p>
          <a:p>
            <a:r>
              <a:rPr lang="en-US" sz="2200" b="0" dirty="0"/>
              <a:t>Pipeline is ready, but something blocks it from starting every cycle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Two Root Causes (99% of cases)</a:t>
            </a:r>
          </a:p>
          <a:p>
            <a:pPr marL="0" indent="0">
              <a:buNone/>
            </a:pPr>
            <a:r>
              <a:rPr lang="en-US" dirty="0"/>
              <a:t>1️⃣ </a:t>
            </a:r>
            <a:r>
              <a:rPr lang="en-US" sz="2200" dirty="0">
                <a:solidFill>
                  <a:schemeClr val="accent5">
                    <a:lumMod val="75000"/>
                  </a:schemeClr>
                </a:solidFill>
              </a:rPr>
              <a:t>Resource Limitation: </a:t>
            </a:r>
            <a:r>
              <a:rPr lang="en-US" sz="2200" dirty="0"/>
              <a:t>hardware cannot support one iteration per cycle</a:t>
            </a:r>
          </a:p>
          <a:p>
            <a:r>
              <a:rPr lang="en-US" sz="2200" dirty="0"/>
              <a:t>Common symptoms: </a:t>
            </a:r>
            <a:r>
              <a:rPr lang="en-US" sz="2200" b="0" dirty="0"/>
              <a:t>Memory port limitation, Array not partitioned, Too many operations scheduled in one cycle, DRAM (</a:t>
            </a:r>
            <a:r>
              <a:rPr lang="en-US" sz="2200" b="0" dirty="0" err="1"/>
              <a:t>m_axi</a:t>
            </a:r>
            <a:r>
              <a:rPr lang="en-US" sz="2200" b="0" dirty="0"/>
              <a:t>) accessed inside a pipeline</a:t>
            </a:r>
          </a:p>
          <a:p>
            <a:r>
              <a:rPr lang="en-US" sz="2200" dirty="0"/>
              <a:t>Typical fixes: </a:t>
            </a:r>
            <a:r>
              <a:rPr lang="en-US" sz="2200" b="0" dirty="0"/>
              <a:t>Partition on-chip arrays (</a:t>
            </a:r>
            <a:r>
              <a:rPr lang="en-US" sz="2200" b="0" dirty="0" err="1"/>
              <a:t>array_partition</a:t>
            </a:r>
            <a:r>
              <a:rPr lang="en-US" sz="2200" b="0" dirty="0"/>
              <a:t>), Copy data from DRAM to local buffers (BRAM / registers), Reduce unroll factor, Use loop tiling to control parallelism</a:t>
            </a:r>
            <a:br>
              <a:rPr lang="en-US" b="0" dirty="0"/>
            </a:br>
            <a:endParaRPr lang="en-US" b="0" dirty="0"/>
          </a:p>
          <a:p>
            <a:pPr marL="0" indent="0">
              <a:buNone/>
            </a:pPr>
            <a:r>
              <a:rPr lang="en-US" dirty="0"/>
              <a:t>2️⃣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Loop-Carried Dependency: </a:t>
            </a:r>
            <a:r>
              <a:rPr lang="en-US" dirty="0"/>
              <a:t>An iteration depends on results from previous iterations.</a:t>
            </a:r>
          </a:p>
          <a:p>
            <a:r>
              <a:rPr lang="en-US" sz="2200" dirty="0"/>
              <a:t>Common symptoms: </a:t>
            </a:r>
            <a:r>
              <a:rPr lang="en-US" sz="2200" b="0" dirty="0"/>
              <a:t>Accumulation (sum += ...), Read-after-write on the same variable, Conservative dependency assumed by HLS</a:t>
            </a:r>
          </a:p>
          <a:p>
            <a:r>
              <a:rPr lang="en-US" sz="2200" dirty="0"/>
              <a:t>Typical fixes: </a:t>
            </a:r>
            <a:r>
              <a:rPr lang="en-US" sz="2200" b="0" dirty="0"/>
              <a:t>Reorder loops, Use local buffers or shift registers, Build an adder tree (avoid in-loop accumulation), Remove false dependency only if proven safe, (#pragma HLS dependence inter false)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8EBBC5-BA5E-DA5F-276C-10944730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0AEAE-DB71-60DD-E531-831497F2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very Common Error: II Violation </a:t>
            </a:r>
          </a:p>
        </p:txBody>
      </p:sp>
    </p:spTree>
    <p:extLst>
      <p:ext uri="{BB962C8B-B14F-4D97-AF65-F5344CB8AC3E}">
        <p14:creationId xmlns:p14="http://schemas.microsoft.com/office/powerpoint/2010/main" val="4059108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dirty="0"/>
              <a:t>Initial Interval (II) – </a:t>
            </a:r>
            <a:r>
              <a:rPr lang="en-US" altLang="zh-CN" sz="3600" dirty="0">
                <a:solidFill>
                  <a:schemeClr val="accent1"/>
                </a:solidFill>
              </a:rPr>
              <a:t>II violation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most important factor about pipelining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51802E-FB33-48B3-961E-EFABADF11A84}"/>
              </a:ext>
            </a:extLst>
          </p:cNvPr>
          <p:cNvGrpSpPr/>
          <p:nvPr/>
        </p:nvGrpSpPr>
        <p:grpSpPr>
          <a:xfrm>
            <a:off x="616293" y="2235245"/>
            <a:ext cx="5078759" cy="2387509"/>
            <a:chOff x="878890" y="2297033"/>
            <a:chExt cx="2790527" cy="191960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57FE144-5D76-4899-B85A-3B6E47551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90" y="2297033"/>
              <a:ext cx="2723023" cy="191960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sz="2400" dirty="0">
                <a:latin typeface="Aptos Display" panose="020B000402020202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56629B4-22D9-43FF-A49E-D98759AC637A}"/>
                </a:ext>
              </a:extLst>
            </p:cNvPr>
            <p:cNvCxnSpPr>
              <a:cxnSpLocks/>
            </p:cNvCxnSpPr>
            <p:nvPr/>
          </p:nvCxnSpPr>
          <p:spPr>
            <a:xfrm>
              <a:off x="1044906" y="4046673"/>
              <a:ext cx="235717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870EF1-BECE-49B4-96AA-B800EF239AFC}"/>
                </a:ext>
              </a:extLst>
            </p:cNvPr>
            <p:cNvGrpSpPr/>
            <p:nvPr/>
          </p:nvGrpSpPr>
          <p:grpSpPr>
            <a:xfrm>
              <a:off x="1105341" y="2474851"/>
              <a:ext cx="1771650" cy="1454469"/>
              <a:chOff x="7162800" y="4698681"/>
              <a:chExt cx="1771650" cy="199649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2EB260-9E8E-45FD-8505-B11378DBABF2}"/>
                  </a:ext>
                </a:extLst>
              </p:cNvPr>
              <p:cNvSpPr/>
              <p:nvPr/>
            </p:nvSpPr>
            <p:spPr>
              <a:xfrm>
                <a:off x="7162800" y="4698681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8E8FB15-6B6E-49FD-93EF-F6975B36339A}"/>
                  </a:ext>
                </a:extLst>
              </p:cNvPr>
              <p:cNvSpPr/>
              <p:nvPr/>
            </p:nvSpPr>
            <p:spPr>
              <a:xfrm>
                <a:off x="7162800" y="5042613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2E93B89-9C85-4DE9-97E6-945E498E75CD}"/>
                  </a:ext>
                </a:extLst>
              </p:cNvPr>
              <p:cNvSpPr/>
              <p:nvPr/>
            </p:nvSpPr>
            <p:spPr>
              <a:xfrm>
                <a:off x="7467600" y="5401819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ADAA2CD-A7AB-4F23-BD73-09F96D5A46D2}"/>
                  </a:ext>
                </a:extLst>
              </p:cNvPr>
              <p:cNvSpPr/>
              <p:nvPr/>
            </p:nvSpPr>
            <p:spPr>
              <a:xfrm>
                <a:off x="7467600" y="5745751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41E8508-C136-4CED-AEEF-93966AEA247D}"/>
                  </a:ext>
                </a:extLst>
              </p:cNvPr>
              <p:cNvSpPr/>
              <p:nvPr/>
            </p:nvSpPr>
            <p:spPr>
              <a:xfrm>
                <a:off x="7753350" y="6104957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0238673-CCE6-44A8-8B72-3FA09B1BF2DB}"/>
                  </a:ext>
                </a:extLst>
              </p:cNvPr>
              <p:cNvSpPr/>
              <p:nvPr/>
            </p:nvSpPr>
            <p:spPr>
              <a:xfrm>
                <a:off x="7753350" y="6448889"/>
                <a:ext cx="1181100" cy="24629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D3EE91B-AF2A-4E8A-956B-3CE073B23C08}"/>
                </a:ext>
              </a:extLst>
            </p:cNvPr>
            <p:cNvSpPr/>
            <p:nvPr/>
          </p:nvSpPr>
          <p:spPr>
            <a:xfrm>
              <a:off x="1963880" y="2480159"/>
              <a:ext cx="1098026" cy="343932"/>
            </a:xfrm>
            <a:custGeom>
              <a:avLst/>
              <a:gdLst>
                <a:gd name="connsiteX0" fmla="*/ 0 w 6089650"/>
                <a:gd name="connsiteY0" fmla="*/ 109319 h 655898"/>
                <a:gd name="connsiteX1" fmla="*/ 109319 w 6089650"/>
                <a:gd name="connsiteY1" fmla="*/ 0 h 655898"/>
                <a:gd name="connsiteX2" fmla="*/ 5980331 w 6089650"/>
                <a:gd name="connsiteY2" fmla="*/ 0 h 655898"/>
                <a:gd name="connsiteX3" fmla="*/ 6089650 w 6089650"/>
                <a:gd name="connsiteY3" fmla="*/ 109319 h 655898"/>
                <a:gd name="connsiteX4" fmla="*/ 6089650 w 6089650"/>
                <a:gd name="connsiteY4" fmla="*/ 546579 h 655898"/>
                <a:gd name="connsiteX5" fmla="*/ 5980331 w 6089650"/>
                <a:gd name="connsiteY5" fmla="*/ 655898 h 655898"/>
                <a:gd name="connsiteX6" fmla="*/ 109319 w 6089650"/>
                <a:gd name="connsiteY6" fmla="*/ 655898 h 655898"/>
                <a:gd name="connsiteX7" fmla="*/ 0 w 6089650"/>
                <a:gd name="connsiteY7" fmla="*/ 546579 h 655898"/>
                <a:gd name="connsiteX8" fmla="*/ 0 w 6089650"/>
                <a:gd name="connsiteY8" fmla="*/ 109319 h 6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9650" h="655898">
                  <a:moveTo>
                    <a:pt x="0" y="109319"/>
                  </a:moveTo>
                  <a:cubicBezTo>
                    <a:pt x="0" y="48944"/>
                    <a:pt x="48944" y="0"/>
                    <a:pt x="109319" y="0"/>
                  </a:cubicBezTo>
                  <a:lnTo>
                    <a:pt x="5980331" y="0"/>
                  </a:lnTo>
                  <a:cubicBezTo>
                    <a:pt x="6040706" y="0"/>
                    <a:pt x="6089650" y="48944"/>
                    <a:pt x="6089650" y="109319"/>
                  </a:cubicBezTo>
                  <a:lnTo>
                    <a:pt x="6089650" y="546579"/>
                  </a:lnTo>
                  <a:cubicBezTo>
                    <a:pt x="6089650" y="606954"/>
                    <a:pt x="6040706" y="655898"/>
                    <a:pt x="5980331" y="655898"/>
                  </a:cubicBezTo>
                  <a:lnTo>
                    <a:pt x="109319" y="655898"/>
                  </a:lnTo>
                  <a:cubicBezTo>
                    <a:pt x="48944" y="655898"/>
                    <a:pt x="0" y="606954"/>
                    <a:pt x="0" y="546579"/>
                  </a:cubicBezTo>
                  <a:lnTo>
                    <a:pt x="0" y="10931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98" tIns="138698" rIns="138698" bIns="138698" numCol="1" spcCol="1270" anchor="ctr" anchorCtr="0">
              <a:noAutofit/>
            </a:bodyPr>
            <a:lstStyle/>
            <a:p>
              <a:pPr algn="ctr" defTabSz="1244600">
                <a:spcBef>
                  <a:spcPct val="0"/>
                </a:spcBef>
              </a:pPr>
              <a:r>
                <a:rPr lang="en-US" sz="2800" b="1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rPr>
                <a:t>i=0</a:t>
              </a:r>
              <a:endParaRPr lang="en-US" sz="2800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278897-68C2-48E7-AEA3-7A6CBCDCEEA5}"/>
                </a:ext>
              </a:extLst>
            </p:cNvPr>
            <p:cNvSpPr/>
            <p:nvPr/>
          </p:nvSpPr>
          <p:spPr>
            <a:xfrm>
              <a:off x="2304052" y="2992402"/>
              <a:ext cx="1098026" cy="343932"/>
            </a:xfrm>
            <a:custGeom>
              <a:avLst/>
              <a:gdLst>
                <a:gd name="connsiteX0" fmla="*/ 0 w 6089650"/>
                <a:gd name="connsiteY0" fmla="*/ 109319 h 655898"/>
                <a:gd name="connsiteX1" fmla="*/ 109319 w 6089650"/>
                <a:gd name="connsiteY1" fmla="*/ 0 h 655898"/>
                <a:gd name="connsiteX2" fmla="*/ 5980331 w 6089650"/>
                <a:gd name="connsiteY2" fmla="*/ 0 h 655898"/>
                <a:gd name="connsiteX3" fmla="*/ 6089650 w 6089650"/>
                <a:gd name="connsiteY3" fmla="*/ 109319 h 655898"/>
                <a:gd name="connsiteX4" fmla="*/ 6089650 w 6089650"/>
                <a:gd name="connsiteY4" fmla="*/ 546579 h 655898"/>
                <a:gd name="connsiteX5" fmla="*/ 5980331 w 6089650"/>
                <a:gd name="connsiteY5" fmla="*/ 655898 h 655898"/>
                <a:gd name="connsiteX6" fmla="*/ 109319 w 6089650"/>
                <a:gd name="connsiteY6" fmla="*/ 655898 h 655898"/>
                <a:gd name="connsiteX7" fmla="*/ 0 w 6089650"/>
                <a:gd name="connsiteY7" fmla="*/ 546579 h 655898"/>
                <a:gd name="connsiteX8" fmla="*/ 0 w 6089650"/>
                <a:gd name="connsiteY8" fmla="*/ 109319 h 6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9650" h="655898">
                  <a:moveTo>
                    <a:pt x="0" y="109319"/>
                  </a:moveTo>
                  <a:cubicBezTo>
                    <a:pt x="0" y="48944"/>
                    <a:pt x="48944" y="0"/>
                    <a:pt x="109319" y="0"/>
                  </a:cubicBezTo>
                  <a:lnTo>
                    <a:pt x="5980331" y="0"/>
                  </a:lnTo>
                  <a:cubicBezTo>
                    <a:pt x="6040706" y="0"/>
                    <a:pt x="6089650" y="48944"/>
                    <a:pt x="6089650" y="109319"/>
                  </a:cubicBezTo>
                  <a:lnTo>
                    <a:pt x="6089650" y="546579"/>
                  </a:lnTo>
                  <a:cubicBezTo>
                    <a:pt x="6089650" y="606954"/>
                    <a:pt x="6040706" y="655898"/>
                    <a:pt x="5980331" y="655898"/>
                  </a:cubicBezTo>
                  <a:lnTo>
                    <a:pt x="109319" y="655898"/>
                  </a:lnTo>
                  <a:cubicBezTo>
                    <a:pt x="48944" y="655898"/>
                    <a:pt x="0" y="606954"/>
                    <a:pt x="0" y="546579"/>
                  </a:cubicBezTo>
                  <a:lnTo>
                    <a:pt x="0" y="10931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98" tIns="138698" rIns="138698" bIns="138698" numCol="1" spcCol="1270" anchor="ctr" anchorCtr="0">
              <a:noAutofit/>
            </a:bodyPr>
            <a:lstStyle/>
            <a:p>
              <a:pPr algn="ctr" defTabSz="1244600">
                <a:spcBef>
                  <a:spcPct val="0"/>
                </a:spcBef>
              </a:pPr>
              <a:r>
                <a:rPr lang="en-US" sz="2800" b="1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rPr>
                <a:t>i=1</a:t>
              </a:r>
              <a:endParaRPr lang="en-US" sz="2800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56CF9DFF-6CB3-4C1F-A277-6474EF3FAA13}"/>
                </a:ext>
              </a:extLst>
            </p:cNvPr>
            <p:cNvSpPr/>
            <p:nvPr/>
          </p:nvSpPr>
          <p:spPr>
            <a:xfrm>
              <a:off x="2571391" y="3539739"/>
              <a:ext cx="1098026" cy="343932"/>
            </a:xfrm>
            <a:custGeom>
              <a:avLst/>
              <a:gdLst>
                <a:gd name="connsiteX0" fmla="*/ 0 w 6089650"/>
                <a:gd name="connsiteY0" fmla="*/ 109319 h 655898"/>
                <a:gd name="connsiteX1" fmla="*/ 109319 w 6089650"/>
                <a:gd name="connsiteY1" fmla="*/ 0 h 655898"/>
                <a:gd name="connsiteX2" fmla="*/ 5980331 w 6089650"/>
                <a:gd name="connsiteY2" fmla="*/ 0 h 655898"/>
                <a:gd name="connsiteX3" fmla="*/ 6089650 w 6089650"/>
                <a:gd name="connsiteY3" fmla="*/ 109319 h 655898"/>
                <a:gd name="connsiteX4" fmla="*/ 6089650 w 6089650"/>
                <a:gd name="connsiteY4" fmla="*/ 546579 h 655898"/>
                <a:gd name="connsiteX5" fmla="*/ 5980331 w 6089650"/>
                <a:gd name="connsiteY5" fmla="*/ 655898 h 655898"/>
                <a:gd name="connsiteX6" fmla="*/ 109319 w 6089650"/>
                <a:gd name="connsiteY6" fmla="*/ 655898 h 655898"/>
                <a:gd name="connsiteX7" fmla="*/ 0 w 6089650"/>
                <a:gd name="connsiteY7" fmla="*/ 546579 h 655898"/>
                <a:gd name="connsiteX8" fmla="*/ 0 w 6089650"/>
                <a:gd name="connsiteY8" fmla="*/ 109319 h 65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9650" h="655898">
                  <a:moveTo>
                    <a:pt x="0" y="109319"/>
                  </a:moveTo>
                  <a:cubicBezTo>
                    <a:pt x="0" y="48944"/>
                    <a:pt x="48944" y="0"/>
                    <a:pt x="109319" y="0"/>
                  </a:cubicBezTo>
                  <a:lnTo>
                    <a:pt x="5980331" y="0"/>
                  </a:lnTo>
                  <a:cubicBezTo>
                    <a:pt x="6040706" y="0"/>
                    <a:pt x="6089650" y="48944"/>
                    <a:pt x="6089650" y="109319"/>
                  </a:cubicBezTo>
                  <a:lnTo>
                    <a:pt x="6089650" y="546579"/>
                  </a:lnTo>
                  <a:cubicBezTo>
                    <a:pt x="6089650" y="606954"/>
                    <a:pt x="6040706" y="655898"/>
                    <a:pt x="5980331" y="655898"/>
                  </a:cubicBezTo>
                  <a:lnTo>
                    <a:pt x="109319" y="655898"/>
                  </a:lnTo>
                  <a:cubicBezTo>
                    <a:pt x="48944" y="655898"/>
                    <a:pt x="0" y="606954"/>
                    <a:pt x="0" y="546579"/>
                  </a:cubicBezTo>
                  <a:lnTo>
                    <a:pt x="0" y="109319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8698" tIns="138698" rIns="138698" bIns="138698" numCol="1" spcCol="1270" anchor="ctr" anchorCtr="0">
              <a:noAutofit/>
            </a:bodyPr>
            <a:lstStyle/>
            <a:p>
              <a:pPr algn="ctr" defTabSz="1244600">
                <a:spcBef>
                  <a:spcPct val="0"/>
                </a:spcBef>
              </a:pPr>
              <a:r>
                <a:rPr lang="en-US" sz="2800" b="1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rPr>
                <a:t>i=2</a:t>
              </a:r>
              <a:endParaRPr lang="en-US" sz="2800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endParaRPr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55ECF03-40A7-48AB-A4FC-6743E0108649}"/>
                </a:ext>
              </a:extLst>
            </p:cNvPr>
            <p:cNvCxnSpPr>
              <a:cxnSpLocks/>
            </p:cNvCxnSpPr>
            <p:nvPr/>
          </p:nvCxnSpPr>
          <p:spPr>
            <a:xfrm>
              <a:off x="1410141" y="2297033"/>
              <a:ext cx="0" cy="173736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D77C880-28DE-4D1A-B05F-1EA9F00D2803}"/>
                </a:ext>
              </a:extLst>
            </p:cNvPr>
            <p:cNvCxnSpPr>
              <a:cxnSpLocks/>
            </p:cNvCxnSpPr>
            <p:nvPr/>
          </p:nvCxnSpPr>
          <p:spPr>
            <a:xfrm>
              <a:off x="1695891" y="2297033"/>
              <a:ext cx="0" cy="173736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</p:grpSp>
      <p:sp>
        <p:nvSpPr>
          <p:cNvPr id="21" name="Freeform 12">
            <a:extLst>
              <a:ext uri="{FF2B5EF4-FFF2-40B4-BE49-F238E27FC236}">
                <a16:creationId xmlns:a16="http://schemas.microsoft.com/office/drawing/2014/main" id="{5F9EA351-B66F-4CC5-A667-E76B2D4B4CFA}"/>
              </a:ext>
            </a:extLst>
          </p:cNvPr>
          <p:cNvSpPr/>
          <p:nvPr/>
        </p:nvSpPr>
        <p:spPr>
          <a:xfrm>
            <a:off x="2530526" y="4905069"/>
            <a:ext cx="1851562" cy="427765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 = 1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37" name="Freeform 12">
            <a:extLst>
              <a:ext uri="{FF2B5EF4-FFF2-40B4-BE49-F238E27FC236}">
                <a16:creationId xmlns:a16="http://schemas.microsoft.com/office/drawing/2014/main" id="{D0919EAF-0A78-4389-9FCA-76A1EDA1E701}"/>
              </a:ext>
            </a:extLst>
          </p:cNvPr>
          <p:cNvSpPr/>
          <p:nvPr/>
        </p:nvSpPr>
        <p:spPr>
          <a:xfrm>
            <a:off x="7616098" y="4932325"/>
            <a:ext cx="1851562" cy="427765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 = 2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EE18641-98CE-46EF-BCC3-703FFD1F4465}"/>
              </a:ext>
            </a:extLst>
          </p:cNvPr>
          <p:cNvGrpSpPr/>
          <p:nvPr/>
        </p:nvGrpSpPr>
        <p:grpSpPr>
          <a:xfrm>
            <a:off x="5874344" y="2235244"/>
            <a:ext cx="5980857" cy="2387509"/>
            <a:chOff x="6508141" y="2235245"/>
            <a:chExt cx="5980857" cy="238750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C010CE7-3CD7-46D1-984E-2EC738DEF946}"/>
                </a:ext>
              </a:extLst>
            </p:cNvPr>
            <p:cNvGrpSpPr/>
            <p:nvPr/>
          </p:nvGrpSpPr>
          <p:grpSpPr>
            <a:xfrm>
              <a:off x="6508141" y="2235245"/>
              <a:ext cx="5980857" cy="2387509"/>
              <a:chOff x="878890" y="2297033"/>
              <a:chExt cx="3286185" cy="1919607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3B1FDB5-A4A1-453F-A769-5213D26A7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8890" y="2297033"/>
                <a:ext cx="3010828" cy="1919607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2400" dirty="0">
                  <a:latin typeface="Aptos Display" panose="020B0004020202020204" pitchFamily="34" charset="0"/>
                </a:endParaRPr>
              </a:p>
            </p:txBody>
          </p:sp>
          <p:cxnSp>
            <p:nvCxnSpPr>
              <p:cNvPr id="24" name="Straight Arrow Connector 23">
                <a:extLst>
                  <a:ext uri="{FF2B5EF4-FFF2-40B4-BE49-F238E27FC236}">
                    <a16:creationId xmlns:a16="http://schemas.microsoft.com/office/drawing/2014/main" id="{F239B3BB-CF36-494D-8C05-DDC147A19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4906" y="4046673"/>
                <a:ext cx="269006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7D78E65-4B37-4D11-BAB1-7E7E05920C45}"/>
                  </a:ext>
                </a:extLst>
              </p:cNvPr>
              <p:cNvGrpSpPr/>
              <p:nvPr/>
            </p:nvGrpSpPr>
            <p:grpSpPr>
              <a:xfrm>
                <a:off x="1105341" y="2474849"/>
                <a:ext cx="2338448" cy="1459917"/>
                <a:chOff x="7162800" y="4698681"/>
                <a:chExt cx="2338448" cy="2003977"/>
              </a:xfrm>
            </p:grpSpPr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F13041E-935D-421D-8CA4-C1888AE32779}"/>
                    </a:ext>
                  </a:extLst>
                </p:cNvPr>
                <p:cNvSpPr/>
                <p:nvPr/>
              </p:nvSpPr>
              <p:spPr>
                <a:xfrm>
                  <a:off x="7162800" y="4698681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4869EF53-805E-4FE0-8398-D9D935F9DFE8}"/>
                    </a:ext>
                  </a:extLst>
                </p:cNvPr>
                <p:cNvSpPr/>
                <p:nvPr/>
              </p:nvSpPr>
              <p:spPr>
                <a:xfrm>
                  <a:off x="7162800" y="5042613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D6B95DFE-CFF4-4071-AA38-D54B2C271D0D}"/>
                    </a:ext>
                  </a:extLst>
                </p:cNvPr>
                <p:cNvSpPr/>
                <p:nvPr/>
              </p:nvSpPr>
              <p:spPr>
                <a:xfrm>
                  <a:off x="7753593" y="5401819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E8585871-852D-45C7-A655-EDE06AA11917}"/>
                    </a:ext>
                  </a:extLst>
                </p:cNvPr>
                <p:cNvSpPr/>
                <p:nvPr/>
              </p:nvSpPr>
              <p:spPr>
                <a:xfrm>
                  <a:off x="7753593" y="5745751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898A2240-6983-4A7F-A89F-DEC6075F0C6C}"/>
                    </a:ext>
                  </a:extLst>
                </p:cNvPr>
                <p:cNvSpPr/>
                <p:nvPr/>
              </p:nvSpPr>
              <p:spPr>
                <a:xfrm>
                  <a:off x="8320148" y="6112436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9B74E0C9-FC91-470C-B521-378B668A3575}"/>
                    </a:ext>
                  </a:extLst>
                </p:cNvPr>
                <p:cNvSpPr/>
                <p:nvPr/>
              </p:nvSpPr>
              <p:spPr>
                <a:xfrm>
                  <a:off x="8320148" y="6456368"/>
                  <a:ext cx="1181100" cy="246290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/>
                </a:p>
              </p:txBody>
            </p:sp>
          </p:grpSp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D4D73CE0-5A20-4A3F-8DD3-DB648A52121E}"/>
                  </a:ext>
                </a:extLst>
              </p:cNvPr>
              <p:cNvSpPr/>
              <p:nvPr/>
            </p:nvSpPr>
            <p:spPr>
              <a:xfrm>
                <a:off x="1963880" y="2480159"/>
                <a:ext cx="1098026" cy="343932"/>
              </a:xfrm>
              <a:custGeom>
                <a:avLst/>
                <a:gdLst>
                  <a:gd name="connsiteX0" fmla="*/ 0 w 6089650"/>
                  <a:gd name="connsiteY0" fmla="*/ 109319 h 655898"/>
                  <a:gd name="connsiteX1" fmla="*/ 109319 w 6089650"/>
                  <a:gd name="connsiteY1" fmla="*/ 0 h 655898"/>
                  <a:gd name="connsiteX2" fmla="*/ 5980331 w 6089650"/>
                  <a:gd name="connsiteY2" fmla="*/ 0 h 655898"/>
                  <a:gd name="connsiteX3" fmla="*/ 6089650 w 6089650"/>
                  <a:gd name="connsiteY3" fmla="*/ 109319 h 655898"/>
                  <a:gd name="connsiteX4" fmla="*/ 6089650 w 6089650"/>
                  <a:gd name="connsiteY4" fmla="*/ 546579 h 655898"/>
                  <a:gd name="connsiteX5" fmla="*/ 5980331 w 6089650"/>
                  <a:gd name="connsiteY5" fmla="*/ 655898 h 655898"/>
                  <a:gd name="connsiteX6" fmla="*/ 109319 w 6089650"/>
                  <a:gd name="connsiteY6" fmla="*/ 655898 h 655898"/>
                  <a:gd name="connsiteX7" fmla="*/ 0 w 6089650"/>
                  <a:gd name="connsiteY7" fmla="*/ 546579 h 655898"/>
                  <a:gd name="connsiteX8" fmla="*/ 0 w 6089650"/>
                  <a:gd name="connsiteY8" fmla="*/ 109319 h 65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9650" h="655898">
                    <a:moveTo>
                      <a:pt x="0" y="109319"/>
                    </a:moveTo>
                    <a:cubicBezTo>
                      <a:pt x="0" y="48944"/>
                      <a:pt x="48944" y="0"/>
                      <a:pt x="109319" y="0"/>
                    </a:cubicBezTo>
                    <a:lnTo>
                      <a:pt x="5980331" y="0"/>
                    </a:lnTo>
                    <a:cubicBezTo>
                      <a:pt x="6040706" y="0"/>
                      <a:pt x="6089650" y="48944"/>
                      <a:pt x="6089650" y="109319"/>
                    </a:cubicBezTo>
                    <a:lnTo>
                      <a:pt x="6089650" y="546579"/>
                    </a:lnTo>
                    <a:cubicBezTo>
                      <a:pt x="6089650" y="606954"/>
                      <a:pt x="6040706" y="655898"/>
                      <a:pt x="5980331" y="655898"/>
                    </a:cubicBezTo>
                    <a:lnTo>
                      <a:pt x="109319" y="655898"/>
                    </a:lnTo>
                    <a:cubicBezTo>
                      <a:pt x="48944" y="655898"/>
                      <a:pt x="0" y="606954"/>
                      <a:pt x="0" y="546579"/>
                    </a:cubicBezTo>
                    <a:lnTo>
                      <a:pt x="0" y="109319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8698" tIns="138698" rIns="138698" bIns="138698" numCol="1" spcCol="1270" anchor="ctr" anchorCtr="0">
                <a:noAutofit/>
              </a:bodyPr>
              <a:lstStyle/>
              <a:p>
                <a:pPr algn="ctr" defTabSz="1244600">
                  <a:spcBef>
                    <a:spcPct val="0"/>
                  </a:spcBef>
                </a:pPr>
                <a:r>
                  <a:rPr lang="en-US" sz="2800" b="1" dirty="0">
                    <a:solidFill>
                      <a:schemeClr val="tx1"/>
                    </a:solidFill>
                    <a:latin typeface="Aptos Display" panose="020B0004020202020204" pitchFamily="34" charset="0"/>
                    <a:ea typeface="Cambria" panose="02040503050406030204" pitchFamily="18" charset="0"/>
                    <a:cs typeface="Tahoma" panose="020B0604030504040204" pitchFamily="34" charset="0"/>
                  </a:rPr>
                  <a:t>i=0</a:t>
                </a:r>
                <a:endParaRPr lang="en-US" sz="2800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7" name="Freeform 12">
                <a:extLst>
                  <a:ext uri="{FF2B5EF4-FFF2-40B4-BE49-F238E27FC236}">
                    <a16:creationId xmlns:a16="http://schemas.microsoft.com/office/drawing/2014/main" id="{A829AA90-B97B-4DB9-ACA4-9E61F651CFB5}"/>
                  </a:ext>
                </a:extLst>
              </p:cNvPr>
              <p:cNvSpPr/>
              <p:nvPr/>
            </p:nvSpPr>
            <p:spPr>
              <a:xfrm>
                <a:off x="2487521" y="2991474"/>
                <a:ext cx="1098026" cy="343932"/>
              </a:xfrm>
              <a:custGeom>
                <a:avLst/>
                <a:gdLst>
                  <a:gd name="connsiteX0" fmla="*/ 0 w 6089650"/>
                  <a:gd name="connsiteY0" fmla="*/ 109319 h 655898"/>
                  <a:gd name="connsiteX1" fmla="*/ 109319 w 6089650"/>
                  <a:gd name="connsiteY1" fmla="*/ 0 h 655898"/>
                  <a:gd name="connsiteX2" fmla="*/ 5980331 w 6089650"/>
                  <a:gd name="connsiteY2" fmla="*/ 0 h 655898"/>
                  <a:gd name="connsiteX3" fmla="*/ 6089650 w 6089650"/>
                  <a:gd name="connsiteY3" fmla="*/ 109319 h 655898"/>
                  <a:gd name="connsiteX4" fmla="*/ 6089650 w 6089650"/>
                  <a:gd name="connsiteY4" fmla="*/ 546579 h 655898"/>
                  <a:gd name="connsiteX5" fmla="*/ 5980331 w 6089650"/>
                  <a:gd name="connsiteY5" fmla="*/ 655898 h 655898"/>
                  <a:gd name="connsiteX6" fmla="*/ 109319 w 6089650"/>
                  <a:gd name="connsiteY6" fmla="*/ 655898 h 655898"/>
                  <a:gd name="connsiteX7" fmla="*/ 0 w 6089650"/>
                  <a:gd name="connsiteY7" fmla="*/ 546579 h 655898"/>
                  <a:gd name="connsiteX8" fmla="*/ 0 w 6089650"/>
                  <a:gd name="connsiteY8" fmla="*/ 109319 h 65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9650" h="655898">
                    <a:moveTo>
                      <a:pt x="0" y="109319"/>
                    </a:moveTo>
                    <a:cubicBezTo>
                      <a:pt x="0" y="48944"/>
                      <a:pt x="48944" y="0"/>
                      <a:pt x="109319" y="0"/>
                    </a:cubicBezTo>
                    <a:lnTo>
                      <a:pt x="5980331" y="0"/>
                    </a:lnTo>
                    <a:cubicBezTo>
                      <a:pt x="6040706" y="0"/>
                      <a:pt x="6089650" y="48944"/>
                      <a:pt x="6089650" y="109319"/>
                    </a:cubicBezTo>
                    <a:lnTo>
                      <a:pt x="6089650" y="546579"/>
                    </a:lnTo>
                    <a:cubicBezTo>
                      <a:pt x="6089650" y="606954"/>
                      <a:pt x="6040706" y="655898"/>
                      <a:pt x="5980331" y="655898"/>
                    </a:cubicBezTo>
                    <a:lnTo>
                      <a:pt x="109319" y="655898"/>
                    </a:lnTo>
                    <a:cubicBezTo>
                      <a:pt x="48944" y="655898"/>
                      <a:pt x="0" y="606954"/>
                      <a:pt x="0" y="546579"/>
                    </a:cubicBezTo>
                    <a:lnTo>
                      <a:pt x="0" y="109319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8698" tIns="138698" rIns="138698" bIns="138698" numCol="1" spcCol="1270" anchor="ctr" anchorCtr="0">
                <a:noAutofit/>
              </a:bodyPr>
              <a:lstStyle/>
              <a:p>
                <a:pPr algn="ctr" defTabSz="1244600">
                  <a:spcBef>
                    <a:spcPct val="0"/>
                  </a:spcBef>
                </a:pPr>
                <a:r>
                  <a:rPr lang="en-US" sz="2800" b="1" dirty="0">
                    <a:solidFill>
                      <a:schemeClr val="tx1"/>
                    </a:solidFill>
                    <a:latin typeface="Aptos Display" panose="020B0004020202020204" pitchFamily="34" charset="0"/>
                    <a:ea typeface="Cambria" panose="02040503050406030204" pitchFamily="18" charset="0"/>
                    <a:cs typeface="Tahoma" panose="020B0604030504040204" pitchFamily="34" charset="0"/>
                  </a:rPr>
                  <a:t>i=1</a:t>
                </a:r>
                <a:endParaRPr lang="en-US" sz="2800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8" name="Freeform 12">
                <a:extLst>
                  <a:ext uri="{FF2B5EF4-FFF2-40B4-BE49-F238E27FC236}">
                    <a16:creationId xmlns:a16="http://schemas.microsoft.com/office/drawing/2014/main" id="{FD28EC46-4AE9-4ECB-A624-906E59F51FFE}"/>
                  </a:ext>
                </a:extLst>
              </p:cNvPr>
              <p:cNvSpPr/>
              <p:nvPr/>
            </p:nvSpPr>
            <p:spPr>
              <a:xfrm>
                <a:off x="3067049" y="3564457"/>
                <a:ext cx="1098026" cy="343932"/>
              </a:xfrm>
              <a:custGeom>
                <a:avLst/>
                <a:gdLst>
                  <a:gd name="connsiteX0" fmla="*/ 0 w 6089650"/>
                  <a:gd name="connsiteY0" fmla="*/ 109319 h 655898"/>
                  <a:gd name="connsiteX1" fmla="*/ 109319 w 6089650"/>
                  <a:gd name="connsiteY1" fmla="*/ 0 h 655898"/>
                  <a:gd name="connsiteX2" fmla="*/ 5980331 w 6089650"/>
                  <a:gd name="connsiteY2" fmla="*/ 0 h 655898"/>
                  <a:gd name="connsiteX3" fmla="*/ 6089650 w 6089650"/>
                  <a:gd name="connsiteY3" fmla="*/ 109319 h 655898"/>
                  <a:gd name="connsiteX4" fmla="*/ 6089650 w 6089650"/>
                  <a:gd name="connsiteY4" fmla="*/ 546579 h 655898"/>
                  <a:gd name="connsiteX5" fmla="*/ 5980331 w 6089650"/>
                  <a:gd name="connsiteY5" fmla="*/ 655898 h 655898"/>
                  <a:gd name="connsiteX6" fmla="*/ 109319 w 6089650"/>
                  <a:gd name="connsiteY6" fmla="*/ 655898 h 655898"/>
                  <a:gd name="connsiteX7" fmla="*/ 0 w 6089650"/>
                  <a:gd name="connsiteY7" fmla="*/ 546579 h 655898"/>
                  <a:gd name="connsiteX8" fmla="*/ 0 w 6089650"/>
                  <a:gd name="connsiteY8" fmla="*/ 109319 h 6558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089650" h="655898">
                    <a:moveTo>
                      <a:pt x="0" y="109319"/>
                    </a:moveTo>
                    <a:cubicBezTo>
                      <a:pt x="0" y="48944"/>
                      <a:pt x="48944" y="0"/>
                      <a:pt x="109319" y="0"/>
                    </a:cubicBezTo>
                    <a:lnTo>
                      <a:pt x="5980331" y="0"/>
                    </a:lnTo>
                    <a:cubicBezTo>
                      <a:pt x="6040706" y="0"/>
                      <a:pt x="6089650" y="48944"/>
                      <a:pt x="6089650" y="109319"/>
                    </a:cubicBezTo>
                    <a:lnTo>
                      <a:pt x="6089650" y="546579"/>
                    </a:lnTo>
                    <a:cubicBezTo>
                      <a:pt x="6089650" y="606954"/>
                      <a:pt x="6040706" y="655898"/>
                      <a:pt x="5980331" y="655898"/>
                    </a:cubicBezTo>
                    <a:lnTo>
                      <a:pt x="109319" y="655898"/>
                    </a:lnTo>
                    <a:cubicBezTo>
                      <a:pt x="48944" y="655898"/>
                      <a:pt x="0" y="606954"/>
                      <a:pt x="0" y="546579"/>
                    </a:cubicBezTo>
                    <a:lnTo>
                      <a:pt x="0" y="109319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38698" tIns="138698" rIns="138698" bIns="138698" numCol="1" spcCol="1270" anchor="ctr" anchorCtr="0">
                <a:noAutofit/>
              </a:bodyPr>
              <a:lstStyle/>
              <a:p>
                <a:pPr algn="ctr" defTabSz="1244600">
                  <a:spcBef>
                    <a:spcPct val="0"/>
                  </a:spcBef>
                </a:pPr>
                <a:r>
                  <a:rPr lang="en-US" sz="2800" b="1" dirty="0">
                    <a:solidFill>
                      <a:schemeClr val="tx1"/>
                    </a:solidFill>
                    <a:latin typeface="Aptos Display" panose="020B0004020202020204" pitchFamily="34" charset="0"/>
                    <a:ea typeface="Cambria" panose="02040503050406030204" pitchFamily="18" charset="0"/>
                    <a:cs typeface="Tahoma" panose="020B0604030504040204" pitchFamily="34" charset="0"/>
                  </a:rPr>
                  <a:t>i=2</a:t>
                </a:r>
                <a:endParaRPr lang="en-US" sz="2800" dirty="0">
                  <a:solidFill>
                    <a:schemeClr val="tx1"/>
                  </a:solidFill>
                  <a:latin typeface="Aptos Display" panose="020B0004020202020204" pitchFamily="34" charset="0"/>
                  <a:ea typeface="Cambria" panose="02040503050406030204" pitchFamily="18" charset="0"/>
                  <a:cs typeface="Tahoma" panose="020B0604030504040204" pitchFamily="34" charset="0"/>
                </a:endParaRPr>
              </a:p>
            </p:txBody>
          </p: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BBDB6CE8-0A15-4A6E-8302-CA629B9E54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10141" y="2297033"/>
                <a:ext cx="0" cy="173736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B30F1AD5-8C42-40B4-BBDA-5E9B4B214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95891" y="2297033"/>
                <a:ext cx="0" cy="1737360"/>
              </a:xfrm>
              <a:prstGeom prst="line">
                <a:avLst/>
              </a:prstGeom>
              <a:solidFill>
                <a:schemeClr val="bg1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  <a:miter lim="800000"/>
                <a:headEnd/>
                <a:tailEnd/>
              </a:ln>
              <a:effectLst/>
            </p:spPr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A678A53-F620-4E68-8C5D-EF362860143A}"/>
                </a:ext>
              </a:extLst>
            </p:cNvPr>
            <p:cNvCxnSpPr>
              <a:cxnSpLocks/>
            </p:cNvCxnSpPr>
            <p:nvPr/>
          </p:nvCxnSpPr>
          <p:spPr>
            <a:xfrm>
              <a:off x="8520721" y="2250518"/>
              <a:ext cx="0" cy="216084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8E212AB-D1D4-4271-AA36-5E3838090FAF}"/>
                </a:ext>
              </a:extLst>
            </p:cNvPr>
            <p:cNvCxnSpPr>
              <a:cxnSpLocks/>
            </p:cNvCxnSpPr>
            <p:nvPr/>
          </p:nvCxnSpPr>
          <p:spPr>
            <a:xfrm>
              <a:off x="9040786" y="2250518"/>
              <a:ext cx="0" cy="2160840"/>
            </a:xfrm>
            <a:prstGeom prst="line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  <a:miter lim="800000"/>
              <a:headEnd/>
              <a:tailEnd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8024F44-AB16-4749-9D56-E4A8175702F9}"/>
              </a:ext>
            </a:extLst>
          </p:cNvPr>
          <p:cNvGrpSpPr/>
          <p:nvPr/>
        </p:nvGrpSpPr>
        <p:grpSpPr>
          <a:xfrm>
            <a:off x="1577598" y="3803211"/>
            <a:ext cx="506688" cy="338038"/>
            <a:chOff x="-2778369" y="1701777"/>
            <a:chExt cx="785447" cy="464647"/>
          </a:xfrm>
        </p:grpSpPr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625DF68-CF7B-440D-BCCE-1573A85F9B5C}"/>
                </a:ext>
              </a:extLst>
            </p:cNvPr>
            <p:cNvCxnSpPr>
              <a:cxnSpLocks/>
            </p:cNvCxnSpPr>
            <p:nvPr/>
          </p:nvCxnSpPr>
          <p:spPr>
            <a:xfrm>
              <a:off x="-2778369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803AD99-57CC-4636-B1CD-8904134449EE}"/>
                </a:ext>
              </a:extLst>
            </p:cNvPr>
            <p:cNvCxnSpPr>
              <a:cxnSpLocks/>
            </p:cNvCxnSpPr>
            <p:nvPr/>
          </p:nvCxnSpPr>
          <p:spPr>
            <a:xfrm>
              <a:off x="-1992922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07B887B-3436-43A9-8272-FD8E966E94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78368" y="1934100"/>
              <a:ext cx="785446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3AE17F-B759-47F7-988F-F0CE07C58419}"/>
              </a:ext>
            </a:extLst>
          </p:cNvPr>
          <p:cNvGrpSpPr/>
          <p:nvPr/>
        </p:nvGrpSpPr>
        <p:grpSpPr>
          <a:xfrm>
            <a:off x="7372794" y="3870586"/>
            <a:ext cx="1005097" cy="338038"/>
            <a:chOff x="-2778369" y="1701777"/>
            <a:chExt cx="785447" cy="464647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5CB9725-67ED-4FEB-8B9F-AB2D94B15770}"/>
                </a:ext>
              </a:extLst>
            </p:cNvPr>
            <p:cNvCxnSpPr>
              <a:cxnSpLocks/>
            </p:cNvCxnSpPr>
            <p:nvPr/>
          </p:nvCxnSpPr>
          <p:spPr>
            <a:xfrm>
              <a:off x="-2778369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B3920D5-9B83-4518-94DB-C4C0AB56D61B}"/>
                </a:ext>
              </a:extLst>
            </p:cNvPr>
            <p:cNvCxnSpPr>
              <a:cxnSpLocks/>
            </p:cNvCxnSpPr>
            <p:nvPr/>
          </p:nvCxnSpPr>
          <p:spPr>
            <a:xfrm>
              <a:off x="-1992922" y="1701777"/>
              <a:ext cx="0" cy="464647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2BD8E8C-4603-4C97-A281-173E49788F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778368" y="1934100"/>
              <a:ext cx="785446" cy="0"/>
            </a:xfrm>
            <a:prstGeom prst="line">
              <a:avLst/>
            </a:prstGeom>
            <a:ln w="57150">
              <a:solidFill>
                <a:schemeClr val="accent4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6740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08519B-8293-48E0-8ED1-9282D0448852}"/>
              </a:ext>
            </a:extLst>
          </p:cNvPr>
          <p:cNvSpPr/>
          <p:nvPr/>
        </p:nvSpPr>
        <p:spPr>
          <a:xfrm>
            <a:off x="1702190" y="2637696"/>
            <a:ext cx="5162844" cy="14278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Not enough resource (e.g., memory not partitioned)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sum[i] += A[i][j] * B[i][j];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1752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Not enough resource (e.g., memory not partitioned)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sum[i] +=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A[i][j]</a:t>
            </a:r>
            <a:r>
              <a:rPr lang="en-US" dirty="0">
                <a:latin typeface="Consolas" panose="020B0609020204030204" pitchFamily="49" charset="0"/>
              </a:rPr>
              <a:t> * B[i][j];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C4EBF2-3421-4A42-9F9D-FF5FDAC096FF}"/>
              </a:ext>
            </a:extLst>
          </p:cNvPr>
          <p:cNvSpPr txBox="1"/>
          <p:nvPr/>
        </p:nvSpPr>
        <p:spPr>
          <a:xfrm>
            <a:off x="366345" y="4451591"/>
            <a:ext cx="117904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WARNING: [HLS 200-885] </a:t>
            </a:r>
            <a:r>
              <a:rPr lang="en-US" sz="2400" b="1" dirty="0">
                <a:solidFill>
                  <a:schemeClr val="accent1"/>
                </a:solidFill>
              </a:rPr>
              <a:t>Unable to schedule 'load' operation ('A_load_2', top.cpp:63) on array 'A' due to limited memory ports</a:t>
            </a:r>
            <a:r>
              <a:rPr lang="en-US" sz="2400" dirty="0"/>
              <a:t>. Please consider using a memory core with more ports or partitioning the array 'A'.</a:t>
            </a:r>
          </a:p>
          <a:p>
            <a:r>
              <a:rPr lang="en-US" sz="2400" dirty="0"/>
              <a:t>Resolution: For help on HLS 200-885 see …</a:t>
            </a:r>
          </a:p>
          <a:p>
            <a:r>
              <a:rPr lang="en-US" sz="2400" dirty="0"/>
              <a:t>INFO: [HLS 200-1470] Pipelining result : </a:t>
            </a:r>
            <a:r>
              <a:rPr lang="en-US" sz="2400" b="1" dirty="0">
                <a:solidFill>
                  <a:schemeClr val="accent1"/>
                </a:solidFill>
              </a:rPr>
              <a:t>Target II = 1, Final II = 50, Depth = 52, 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19181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Manual array partition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array_partition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 variable=A dim=2 complete</a:t>
            </a:r>
          </a:p>
          <a:p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array_partition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 variable=B dim=2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sum[i] += A[i][j] * B[i][j];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7975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A2CF7A-AEE0-463E-A1E6-0ED4EFE6289B}"/>
              </a:ext>
            </a:extLst>
          </p:cNvPr>
          <p:cNvSpPr/>
          <p:nvPr/>
        </p:nvSpPr>
        <p:spPr>
          <a:xfrm>
            <a:off x="1702190" y="2341546"/>
            <a:ext cx="8231944" cy="90809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083583" cy="770786"/>
          </a:xfrm>
        </p:spPr>
        <p:txBody>
          <a:bodyPr>
            <a:normAutofit/>
          </a:bodyPr>
          <a:lstStyle/>
          <a:p>
            <a:r>
              <a:rPr lang="en-US" sz="2800" dirty="0"/>
              <a:t>[</a:t>
            </a:r>
            <a:r>
              <a:rPr lang="en-US" sz="2800" dirty="0">
                <a:solidFill>
                  <a:schemeClr val="accent1"/>
                </a:solidFill>
              </a:rPr>
              <a:t>Caution</a:t>
            </a:r>
            <a:r>
              <a:rPr lang="en-US" sz="2800" dirty="0"/>
              <a:t>!] If array is from DRAM – copy to </a:t>
            </a:r>
            <a:r>
              <a:rPr lang="en-US" sz="2800" dirty="0">
                <a:solidFill>
                  <a:schemeClr val="accent1"/>
                </a:solidFill>
              </a:rPr>
              <a:t>local buffer (BRAM) </a:t>
            </a:r>
            <a:r>
              <a:rPr lang="en-US" sz="2800" dirty="0"/>
              <a:t>first!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Causes to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1702190" y="1785408"/>
            <a:ext cx="8231945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interface </a:t>
            </a:r>
            <a:r>
              <a:rPr lang="en-US" dirty="0" err="1">
                <a:latin typeface="Consolas" panose="020B0609020204030204" pitchFamily="49" charset="0"/>
              </a:rPr>
              <a:t>m_axi</a:t>
            </a:r>
            <a:r>
              <a:rPr lang="en-US" dirty="0">
                <a:latin typeface="Consolas" panose="020B0609020204030204" pitchFamily="49" charset="0"/>
              </a:rPr>
              <a:t> port=A offset=slave bundle=mem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interface </a:t>
            </a:r>
            <a:r>
              <a:rPr lang="en-US" dirty="0" err="1">
                <a:latin typeface="Consolas" panose="020B0609020204030204" pitchFamily="49" charset="0"/>
              </a:rPr>
              <a:t>m_axi</a:t>
            </a:r>
            <a:r>
              <a:rPr lang="en-US" dirty="0">
                <a:latin typeface="Consolas" panose="020B0609020204030204" pitchFamily="49" charset="0"/>
              </a:rPr>
              <a:t> port=B offset=slave bundle=mem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interface </a:t>
            </a:r>
            <a:r>
              <a:rPr lang="en-US" dirty="0" err="1">
                <a:latin typeface="Consolas" panose="020B0609020204030204" pitchFamily="49" charset="0"/>
              </a:rPr>
              <a:t>m_axi</a:t>
            </a:r>
            <a:r>
              <a:rPr lang="en-US" dirty="0">
                <a:latin typeface="Consolas" panose="020B0609020204030204" pitchFamily="49" charset="0"/>
              </a:rPr>
              <a:t> port=sum offset=slave bundle=mem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variable=A dim=2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variable=B dim=2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// copy A to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A_local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, B to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B_local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pipeline</a:t>
            </a:r>
          </a:p>
          <a:p>
            <a:r>
              <a:rPr lang="en-US" dirty="0">
                <a:latin typeface="Consolas" panose="020B0609020204030204" pitchFamily="49" charset="0"/>
              </a:rPr>
              <a:t>		for(int j = 0; j &lt; 100; </a:t>
            </a:r>
            <a:r>
              <a:rPr lang="en-US" dirty="0" err="1">
                <a:latin typeface="Consolas" panose="020B0609020204030204" pitchFamily="49" charset="0"/>
              </a:rPr>
              <a:t>j++</a:t>
            </a:r>
            <a:r>
              <a:rPr lang="en-US" dirty="0"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</a:rPr>
              <a:t>			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sum_local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[i] +=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A_local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[i][j] * </a:t>
            </a:r>
            <a:r>
              <a:rPr lang="en-US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B_local</a:t>
            </a:r>
            <a:r>
              <a:rPr lang="en-US" b="1" dirty="0">
                <a:solidFill>
                  <a:schemeClr val="accent1"/>
                </a:solidFill>
                <a:latin typeface="Consolas" panose="020B0609020204030204" pitchFamily="49" charset="0"/>
              </a:rPr>
              <a:t>[i][j];</a:t>
            </a:r>
          </a:p>
          <a:p>
            <a:r>
              <a:rPr lang="en-US" dirty="0">
                <a:latin typeface="Consolas" panose="020B0609020204030204" pitchFamily="49" charset="0"/>
              </a:rPr>
              <a:t>}}}</a:t>
            </a: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4E37B3F7-0CA1-4B44-ACC6-EEB6E4DBBE9F}"/>
              </a:ext>
            </a:extLst>
          </p:cNvPr>
          <p:cNvSpPr/>
          <p:nvPr/>
        </p:nvSpPr>
        <p:spPr>
          <a:xfrm>
            <a:off x="8981396" y="2255134"/>
            <a:ext cx="3210604" cy="2037033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A, B, and sum are from DRAM; cannot partition DRAM!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68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1644164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EF01D9-C70A-4C5D-A14C-62493083D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133481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800" dirty="0"/>
              <a:t>An iteration of a loop </a:t>
            </a:r>
            <a:r>
              <a:rPr lang="en-US" sz="2800" dirty="0">
                <a:solidFill>
                  <a:schemeClr val="accent1"/>
                </a:solidFill>
              </a:rPr>
              <a:t>depends on a result produced by a previous iteration</a:t>
            </a:r>
            <a:r>
              <a:rPr lang="en-US" sz="2800" dirty="0"/>
              <a:t>, which takes multiple cycles to complete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Can be </a:t>
            </a:r>
            <a:r>
              <a:rPr lang="en-US" sz="2800" dirty="0">
                <a:solidFill>
                  <a:schemeClr val="accent1"/>
                </a:solidFill>
              </a:rPr>
              <a:t>true</a:t>
            </a:r>
            <a:r>
              <a:rPr lang="en-US" sz="2800" dirty="0"/>
              <a:t> or </a:t>
            </a:r>
            <a:r>
              <a:rPr lang="en-US" sz="2800" dirty="0">
                <a:solidFill>
                  <a:schemeClr val="accent1"/>
                </a:solidFill>
              </a:rPr>
              <a:t>false</a:t>
            </a:r>
            <a:r>
              <a:rPr lang="en-US" sz="2800" dirty="0"/>
              <a:t> dependency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HLS tends to be conservative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7896E4-0DE9-4840-92D2-CA56D324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25410-3DFA-48E0-9A40-4E47E375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Loop-carried Dependency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29540A6-FF8B-4D46-ACE2-A5158DDD97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265370"/>
              </p:ext>
            </p:extLst>
          </p:nvPr>
        </p:nvGraphicFramePr>
        <p:xfrm>
          <a:off x="765907" y="3701896"/>
          <a:ext cx="3447367" cy="47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81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433949609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E9BF577-7F38-4261-8B13-34C6E1B64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054656"/>
              </p:ext>
            </p:extLst>
          </p:nvPr>
        </p:nvGraphicFramePr>
        <p:xfrm>
          <a:off x="3738879" y="4519695"/>
          <a:ext cx="3447367" cy="47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81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433949609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86D545-5D1B-48F2-8E66-F3B78800D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223800"/>
              </p:ext>
            </p:extLst>
          </p:nvPr>
        </p:nvGraphicFramePr>
        <p:xfrm>
          <a:off x="6718885" y="5337494"/>
          <a:ext cx="3447367" cy="476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481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433949609"/>
                    </a:ext>
                  </a:extLst>
                </a:gridCol>
                <a:gridCol w="492481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762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A306EDA-D0F5-45F7-9FFB-F6530DE983A6}"/>
              </a:ext>
            </a:extLst>
          </p:cNvPr>
          <p:cNvCxnSpPr>
            <a:cxnSpLocks/>
          </p:cNvCxnSpPr>
          <p:nvPr/>
        </p:nvCxnSpPr>
        <p:spPr>
          <a:xfrm>
            <a:off x="3974123" y="4178106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AB78C9A-EB5A-4EDF-9F47-BB2D799E80B6}"/>
              </a:ext>
            </a:extLst>
          </p:cNvPr>
          <p:cNvCxnSpPr>
            <a:cxnSpLocks/>
          </p:cNvCxnSpPr>
          <p:nvPr/>
        </p:nvCxnSpPr>
        <p:spPr>
          <a:xfrm>
            <a:off x="6947096" y="4995905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D41D265E-236A-4E56-9FCB-C2929443CF48}"/>
              </a:ext>
            </a:extLst>
          </p:cNvPr>
          <p:cNvSpPr/>
          <p:nvPr/>
        </p:nvSpPr>
        <p:spPr>
          <a:xfrm>
            <a:off x="3640198" y="3768035"/>
            <a:ext cx="3306898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 to Mem[i+1]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E8AC55D3-93A5-4609-97FA-DF4449F81B38}"/>
              </a:ext>
            </a:extLst>
          </p:cNvPr>
          <p:cNvSpPr/>
          <p:nvPr/>
        </p:nvSpPr>
        <p:spPr>
          <a:xfrm>
            <a:off x="964991" y="4553501"/>
            <a:ext cx="3009132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Read from Mem[i+1]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BE366B5A-BA7C-49CA-B2B5-0FE35484B6DB}"/>
              </a:ext>
            </a:extLst>
          </p:cNvPr>
          <p:cNvSpPr/>
          <p:nvPr/>
        </p:nvSpPr>
        <p:spPr>
          <a:xfrm>
            <a:off x="6938002" y="4571298"/>
            <a:ext cx="3009132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 to Mem[i+2]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6ABCC70D-93FA-4F91-90F9-63223CF27218}"/>
              </a:ext>
            </a:extLst>
          </p:cNvPr>
          <p:cNvSpPr/>
          <p:nvPr/>
        </p:nvSpPr>
        <p:spPr>
          <a:xfrm>
            <a:off x="408639" y="5575599"/>
            <a:ext cx="4740135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Initial Interval (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</a:t>
            </a: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) = 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6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209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4B8F3-E602-424C-B790-782E8696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5231F-8EC7-4D30-8934-43D7D849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True Dependency?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40AAA-DA3D-4F41-9379-AF763F39193F}"/>
              </a:ext>
            </a:extLst>
          </p:cNvPr>
          <p:cNvSpPr txBox="1"/>
          <p:nvPr/>
        </p:nvSpPr>
        <p:spPr>
          <a:xfrm>
            <a:off x="2344323" y="1060103"/>
            <a:ext cx="7180678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void test(float w, float mem[100])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for(int i = 1; i &lt; 100; i++) {    </a:t>
            </a:r>
          </a:p>
          <a:p>
            <a:r>
              <a:rPr lang="en-US" sz="2400" b="1" dirty="0">
                <a:solidFill>
                  <a:schemeClr val="accent1"/>
                </a:solidFill>
                <a:latin typeface="Consolas" panose="020B0609020204030204" pitchFamily="49" charset="0"/>
              </a:rPr>
              <a:t>#pragma HLS pipeline</a:t>
            </a:r>
            <a:endParaRPr lang="en-US" sz="2400" dirty="0"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		float a =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mem[i-1]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mem[i] = a * w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	}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F15802CA-18CB-4A86-9021-A216873E2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99969"/>
              </p:ext>
            </p:extLst>
          </p:nvPr>
        </p:nvGraphicFramePr>
        <p:xfrm>
          <a:off x="984982" y="4867275"/>
          <a:ext cx="4756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738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10" name="Freeform 12">
            <a:extLst>
              <a:ext uri="{FF2B5EF4-FFF2-40B4-BE49-F238E27FC236}">
                <a16:creationId xmlns:a16="http://schemas.microsoft.com/office/drawing/2014/main" id="{71CA621A-F287-49E2-8617-5EAF0E70768F}"/>
              </a:ext>
            </a:extLst>
          </p:cNvPr>
          <p:cNvSpPr/>
          <p:nvPr/>
        </p:nvSpPr>
        <p:spPr>
          <a:xfrm>
            <a:off x="6466883" y="4342784"/>
            <a:ext cx="4740135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Initial Interval (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II</a:t>
            </a: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) = </a:t>
            </a:r>
            <a:r>
              <a:rPr lang="en-US" sz="32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5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DC1DC9A6-8AF4-417D-A252-E78653E395E2}"/>
              </a:ext>
            </a:extLst>
          </p:cNvPr>
          <p:cNvSpPr/>
          <p:nvPr/>
        </p:nvSpPr>
        <p:spPr>
          <a:xfrm>
            <a:off x="409812" y="4118274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Mem[0]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Read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624FECD-DF64-4D43-92AD-296BF25D0BE0}"/>
              </a:ext>
            </a:extLst>
          </p:cNvPr>
          <p:cNvSpPr/>
          <p:nvPr/>
        </p:nvSpPr>
        <p:spPr>
          <a:xfrm>
            <a:off x="4286487" y="4118274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Mem[1]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6503661-EEA5-41ED-8888-16B83A0B7598}"/>
              </a:ext>
            </a:extLst>
          </p:cNvPr>
          <p:cNvSpPr/>
          <p:nvPr/>
        </p:nvSpPr>
        <p:spPr>
          <a:xfrm>
            <a:off x="2492956" y="4758791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FP </a:t>
            </a:r>
            <a:r>
              <a:rPr lang="en-US" sz="3200" b="1" dirty="0" err="1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mul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D90D1A24-3839-47BE-B422-5B8E3EA30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963406"/>
              </p:ext>
            </p:extLst>
          </p:nvPr>
        </p:nvGraphicFramePr>
        <p:xfrm>
          <a:off x="4942616" y="5825064"/>
          <a:ext cx="475642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738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792738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15" name="Freeform 12">
            <a:extLst>
              <a:ext uri="{FF2B5EF4-FFF2-40B4-BE49-F238E27FC236}">
                <a16:creationId xmlns:a16="http://schemas.microsoft.com/office/drawing/2014/main" id="{EC05DB28-A458-430C-8D8F-C3A88F052627}"/>
              </a:ext>
            </a:extLst>
          </p:cNvPr>
          <p:cNvSpPr/>
          <p:nvPr/>
        </p:nvSpPr>
        <p:spPr>
          <a:xfrm>
            <a:off x="3213166" y="5596464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Mem[1]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Read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0B2565B3-6AF7-4C3C-AC28-6490F4417AFE}"/>
              </a:ext>
            </a:extLst>
          </p:cNvPr>
          <p:cNvSpPr/>
          <p:nvPr/>
        </p:nvSpPr>
        <p:spPr>
          <a:xfrm>
            <a:off x="9474857" y="5596463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Mem[2]</a:t>
            </a:r>
          </a:p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Write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70A39FA2-26DF-4AAD-B62C-C000DB14005B}"/>
              </a:ext>
            </a:extLst>
          </p:cNvPr>
          <p:cNvSpPr/>
          <p:nvPr/>
        </p:nvSpPr>
        <p:spPr>
          <a:xfrm>
            <a:off x="6450590" y="5716580"/>
            <a:ext cx="1934511" cy="749001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lnSpc>
                <a:spcPct val="80000"/>
              </a:lnSpc>
              <a:spcBef>
                <a:spcPct val="0"/>
              </a:spcBef>
            </a:pPr>
            <a:r>
              <a:rPr lang="en-US" sz="32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FP </a:t>
            </a:r>
            <a:r>
              <a:rPr lang="en-US" sz="3200" b="1" dirty="0" err="1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mul</a:t>
            </a:r>
            <a:endParaRPr lang="en-US" sz="3200" dirty="0">
              <a:solidFill>
                <a:schemeClr val="accent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962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913D483-B4BE-40CF-A664-2038D8A34059}"/>
              </a:ext>
            </a:extLst>
          </p:cNvPr>
          <p:cNvSpPr/>
          <p:nvPr/>
        </p:nvSpPr>
        <p:spPr>
          <a:xfrm>
            <a:off x="7191375" y="4943913"/>
            <a:ext cx="4800599" cy="1225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DE8A764-3DCD-4E2A-9399-38EFC6A37421}"/>
              </a:ext>
            </a:extLst>
          </p:cNvPr>
          <p:cNvSpPr/>
          <p:nvPr/>
        </p:nvSpPr>
        <p:spPr>
          <a:xfrm>
            <a:off x="7191375" y="2877815"/>
            <a:ext cx="4800599" cy="1225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942EFD-CAB4-4480-8572-D28AF56B4B2C}"/>
              </a:ext>
            </a:extLst>
          </p:cNvPr>
          <p:cNvSpPr/>
          <p:nvPr/>
        </p:nvSpPr>
        <p:spPr>
          <a:xfrm>
            <a:off x="7191375" y="1476657"/>
            <a:ext cx="4800599" cy="12258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938010-90C8-47B8-9062-7B23C7701CD5}"/>
              </a:ext>
            </a:extLst>
          </p:cNvPr>
          <p:cNvSpPr/>
          <p:nvPr/>
        </p:nvSpPr>
        <p:spPr>
          <a:xfrm>
            <a:off x="1735179" y="3856524"/>
            <a:ext cx="4065546" cy="12155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4B8F3-E602-424C-B790-782E8696A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15231F-8EC7-4D30-8934-43D7D8490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True Dependency with Another Dimension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40AAA-DA3D-4F41-9379-AF763F39193F}"/>
              </a:ext>
            </a:extLst>
          </p:cNvPr>
          <p:cNvSpPr txBox="1"/>
          <p:nvPr/>
        </p:nvSpPr>
        <p:spPr>
          <a:xfrm>
            <a:off x="694403" y="1646314"/>
            <a:ext cx="5858605" cy="40934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#pragma HLS 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array_partition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variable=mem dim=1 complete</a:t>
            </a:r>
            <a:endParaRPr lang="en-US" sz="20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latin typeface="Consolas" panose="020B0609020204030204" pitchFamily="49" charset="0"/>
              </a:rPr>
              <a:t>void test(float w, float mem[10][100])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for(int j = 0; j &lt; 10; </a:t>
            </a:r>
            <a:r>
              <a:rPr lang="en-US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j++</a:t>
            </a:r>
            <a:r>
              <a:rPr lang="en-US" sz="20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#pragma HLS unroll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for(int i = 1; i &lt; 100; i++) {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		  float a = mem[j][i-1];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        mem[j][i] = a * w;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	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    }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5FE4B17C-87B5-4466-9A06-7586AA1E3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50820"/>
              </p:ext>
            </p:extLst>
          </p:nvPr>
        </p:nvGraphicFramePr>
        <p:xfrm>
          <a:off x="7339395" y="1536353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0" name="Table 6">
            <a:extLst>
              <a:ext uri="{FF2B5EF4-FFF2-40B4-BE49-F238E27FC236}">
                <a16:creationId xmlns:a16="http://schemas.microsoft.com/office/drawing/2014/main" id="{45EFB2E8-4C19-41A5-96FC-824DBBD79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903168"/>
              </p:ext>
            </p:extLst>
          </p:nvPr>
        </p:nvGraphicFramePr>
        <p:xfrm>
          <a:off x="8456607" y="1906726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3829AA1F-7966-4341-8E83-7B139BB90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264933"/>
              </p:ext>
            </p:extLst>
          </p:nvPr>
        </p:nvGraphicFramePr>
        <p:xfrm>
          <a:off x="10504482" y="2272486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E2E8ED05-C78E-4340-A6B2-D8DD46D5A6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038544"/>
              </p:ext>
            </p:extLst>
          </p:nvPr>
        </p:nvGraphicFramePr>
        <p:xfrm>
          <a:off x="7339395" y="2937511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3" name="Table 6">
            <a:extLst>
              <a:ext uri="{FF2B5EF4-FFF2-40B4-BE49-F238E27FC236}">
                <a16:creationId xmlns:a16="http://schemas.microsoft.com/office/drawing/2014/main" id="{509881E6-555D-4535-8E28-931BFC158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362831"/>
              </p:ext>
            </p:extLst>
          </p:nvPr>
        </p:nvGraphicFramePr>
        <p:xfrm>
          <a:off x="8456607" y="3307884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4" name="Table 6">
            <a:extLst>
              <a:ext uri="{FF2B5EF4-FFF2-40B4-BE49-F238E27FC236}">
                <a16:creationId xmlns:a16="http://schemas.microsoft.com/office/drawing/2014/main" id="{14E8A114-1D40-4B8C-8272-20EF9976B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862290"/>
              </p:ext>
            </p:extLst>
          </p:nvPr>
        </p:nvGraphicFramePr>
        <p:xfrm>
          <a:off x="10504482" y="3673644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D7674A3A-C41F-4326-914B-1B8CD396E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9359103"/>
              </p:ext>
            </p:extLst>
          </p:nvPr>
        </p:nvGraphicFramePr>
        <p:xfrm>
          <a:off x="7339395" y="5003609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7" name="Table 6">
            <a:extLst>
              <a:ext uri="{FF2B5EF4-FFF2-40B4-BE49-F238E27FC236}">
                <a16:creationId xmlns:a16="http://schemas.microsoft.com/office/drawing/2014/main" id="{27CC3241-9260-4CA6-9979-7AFBB67D1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536022"/>
              </p:ext>
            </p:extLst>
          </p:nvPr>
        </p:nvGraphicFramePr>
        <p:xfrm>
          <a:off x="8456607" y="5373982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graphicFrame>
        <p:nvGraphicFramePr>
          <p:cNvPr id="28" name="Table 6">
            <a:extLst>
              <a:ext uri="{FF2B5EF4-FFF2-40B4-BE49-F238E27FC236}">
                <a16:creationId xmlns:a16="http://schemas.microsoft.com/office/drawing/2014/main" id="{B0EC0D34-3ACA-4C3F-B076-DEAD4A43E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86225"/>
              </p:ext>
            </p:extLst>
          </p:nvPr>
        </p:nvGraphicFramePr>
        <p:xfrm>
          <a:off x="10504482" y="5739742"/>
          <a:ext cx="132483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06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220806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30" name="Freeform 12">
            <a:extLst>
              <a:ext uri="{FF2B5EF4-FFF2-40B4-BE49-F238E27FC236}">
                <a16:creationId xmlns:a16="http://schemas.microsoft.com/office/drawing/2014/main" id="{FA7955FB-7E02-4FB6-AC71-0B01EB3FD7DD}"/>
              </a:ext>
            </a:extLst>
          </p:cNvPr>
          <p:cNvSpPr/>
          <p:nvPr/>
        </p:nvSpPr>
        <p:spPr>
          <a:xfrm>
            <a:off x="8087108" y="4341879"/>
            <a:ext cx="3009132" cy="343932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0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…</a:t>
            </a:r>
            <a:endParaRPr lang="en-US" sz="20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7020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B493CF-118B-4CC7-96E7-9F86E03D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2" y="1226826"/>
            <a:ext cx="7591424" cy="792474"/>
          </a:xfrm>
        </p:spPr>
        <p:txBody>
          <a:bodyPr>
            <a:normAutofit/>
          </a:bodyPr>
          <a:lstStyle/>
          <a:p>
            <a:r>
              <a:rPr lang="en-US" sz="3200" dirty="0"/>
              <a:t>But only do it when you’re sure it’s safe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26D217-EDC3-43F8-B367-5478234B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193824-A39D-4B1A-8E66-6F41E0B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False Dependency? Remove it!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17FDB-AC31-4B64-B2A1-234891D5E62E}"/>
              </a:ext>
            </a:extLst>
          </p:cNvPr>
          <p:cNvSpPr txBox="1"/>
          <p:nvPr/>
        </p:nvSpPr>
        <p:spPr>
          <a:xfrm>
            <a:off x="438883" y="2214854"/>
            <a:ext cx="5952392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test(int* A, float B[100])</a:t>
            </a:r>
          </a:p>
          <a:p>
            <a:r>
              <a:rPr lang="en-US" dirty="0"/>
              <a:t>{</a:t>
            </a:r>
          </a:p>
          <a:p>
            <a:endParaRPr lang="en-US" dirty="0"/>
          </a:p>
          <a:p>
            <a:r>
              <a:rPr lang="en-US" dirty="0"/>
              <a:t>    for(int i = 0; i &lt; 100; i++) {</a:t>
            </a:r>
          </a:p>
          <a:p>
            <a:r>
              <a:rPr lang="en-US" dirty="0"/>
              <a:t>        </a:t>
            </a:r>
            <a:r>
              <a:rPr lang="en-US" b="1" dirty="0">
                <a:solidFill>
                  <a:schemeClr val="accent1"/>
                </a:solidFill>
              </a:rPr>
              <a:t>int x = A[i];</a:t>
            </a:r>
          </a:p>
          <a:p>
            <a:r>
              <a:rPr lang="en-US" b="1" dirty="0">
                <a:solidFill>
                  <a:schemeClr val="accent1"/>
                </a:solidFill>
              </a:rPr>
              <a:t>        B[x] *= B[x];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}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57923A-D89D-46A2-AA76-C46734632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206932"/>
              </p:ext>
            </p:extLst>
          </p:nvPr>
        </p:nvGraphicFramePr>
        <p:xfrm>
          <a:off x="6763331" y="2952750"/>
          <a:ext cx="3169932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2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357700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A35893C-FA01-4B8D-8138-668A64B5F57B}"/>
              </a:ext>
            </a:extLst>
          </p:cNvPr>
          <p:cNvSpPr txBox="1">
            <a:spLocks/>
          </p:cNvSpPr>
          <p:nvPr/>
        </p:nvSpPr>
        <p:spPr>
          <a:xfrm>
            <a:off x="6391275" y="2436501"/>
            <a:ext cx="1675085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ptos Display" panose="020B0004020202020204" pitchFamily="34" charset="0"/>
              </a:rPr>
              <a:t>B[x] read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A42587FF-544C-45A9-AA84-CEC67008224D}"/>
              </a:ext>
            </a:extLst>
          </p:cNvPr>
          <p:cNvSpPr txBox="1">
            <a:spLocks/>
          </p:cNvSpPr>
          <p:nvPr/>
        </p:nvSpPr>
        <p:spPr>
          <a:xfrm>
            <a:off x="8886825" y="2436500"/>
            <a:ext cx="2027510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ptos Display" panose="020B0004020202020204" pitchFamily="34" charset="0"/>
              </a:rPr>
              <a:t>B[x] write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5298CE7-C33A-4BB9-B42B-86D1DFC1E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595726"/>
              </p:ext>
            </p:extLst>
          </p:nvPr>
        </p:nvGraphicFramePr>
        <p:xfrm>
          <a:off x="9426525" y="4213848"/>
          <a:ext cx="158496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322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528322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507B5C5C-B105-48CC-8EC3-58FE1F59332C}"/>
              </a:ext>
            </a:extLst>
          </p:cNvPr>
          <p:cNvSpPr txBox="1">
            <a:spLocks/>
          </p:cNvSpPr>
          <p:nvPr/>
        </p:nvSpPr>
        <p:spPr>
          <a:xfrm>
            <a:off x="9054469" y="3697599"/>
            <a:ext cx="1675085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ptos Display" panose="020B0004020202020204" pitchFamily="34" charset="0"/>
              </a:rPr>
              <a:t>B[x] read</a:t>
            </a:r>
            <a:endParaRPr lang="en-US" sz="2800" dirty="0">
              <a:latin typeface="Aptos Display" panose="020B0004020202020204" pitchFamily="34" charset="0"/>
            </a:endParaRPr>
          </a:p>
        </p:txBody>
      </p: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9AFCC876-E2E0-456B-BD6C-13881CAA87AC}"/>
              </a:ext>
            </a:extLst>
          </p:cNvPr>
          <p:cNvSpPr txBox="1">
            <a:spLocks/>
          </p:cNvSpPr>
          <p:nvPr/>
        </p:nvSpPr>
        <p:spPr>
          <a:xfrm>
            <a:off x="11011491" y="4070023"/>
            <a:ext cx="641981" cy="744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2800" dirty="0">
                <a:latin typeface="Aptos Display" panose="020B0004020202020204" pitchFamily="34" charset="0"/>
              </a:rPr>
              <a:t>…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5B1F7B-52EB-46C7-8CAF-F8CCFDBD93DC}"/>
              </a:ext>
            </a:extLst>
          </p:cNvPr>
          <p:cNvSpPr/>
          <p:nvPr/>
        </p:nvSpPr>
        <p:spPr>
          <a:xfrm>
            <a:off x="8598585" y="1964540"/>
            <a:ext cx="2271938" cy="2967022"/>
          </a:xfrm>
          <a:prstGeom prst="ellipse">
            <a:avLst/>
          </a:prstGeom>
          <a:noFill/>
          <a:ln w="571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66696289-F5BD-4855-BCCC-95662EC0CEB2}"/>
              </a:ext>
            </a:extLst>
          </p:cNvPr>
          <p:cNvSpPr txBox="1">
            <a:spLocks/>
          </p:cNvSpPr>
          <p:nvPr/>
        </p:nvSpPr>
        <p:spPr>
          <a:xfrm>
            <a:off x="5305425" y="5127116"/>
            <a:ext cx="6886575" cy="1230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Don’t know if they’re the same B[x]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Aptos Display" panose="020B0004020202020204" pitchFamily="34" charset="0"/>
              </a:rPr>
              <a:t>So II = 3</a:t>
            </a:r>
          </a:p>
        </p:txBody>
      </p:sp>
    </p:spTree>
    <p:extLst>
      <p:ext uri="{BB962C8B-B14F-4D97-AF65-F5344CB8AC3E}">
        <p14:creationId xmlns:p14="http://schemas.microsoft.com/office/powerpoint/2010/main" val="2258109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B493CF-118B-4CC7-96E7-9F86E03DC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2" y="1226826"/>
            <a:ext cx="7591424" cy="792474"/>
          </a:xfrm>
        </p:spPr>
        <p:txBody>
          <a:bodyPr>
            <a:normAutofit/>
          </a:bodyPr>
          <a:lstStyle/>
          <a:p>
            <a:r>
              <a:rPr lang="en-US" sz="3200" dirty="0"/>
              <a:t>But only do it when you’re sure it’s safe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26D217-EDC3-43F8-B367-5478234B8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C193824-A39D-4B1A-8E66-6F41E0B5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If False Dependency? Remove it!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17FDB-AC31-4B64-B2A1-234891D5E62E}"/>
              </a:ext>
            </a:extLst>
          </p:cNvPr>
          <p:cNvSpPr txBox="1"/>
          <p:nvPr/>
        </p:nvSpPr>
        <p:spPr>
          <a:xfrm>
            <a:off x="438882" y="2214854"/>
            <a:ext cx="8952767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test(int* A, float B[100])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#pragma HLS DEPENDENCE variable=B inter false</a:t>
            </a:r>
          </a:p>
          <a:p>
            <a:r>
              <a:rPr lang="en-US" dirty="0"/>
              <a:t>    for(int i = 0; i &lt; 100; i++) {</a:t>
            </a:r>
          </a:p>
          <a:p>
            <a:r>
              <a:rPr lang="en-US" dirty="0"/>
              <a:t>        </a:t>
            </a:r>
            <a:r>
              <a:rPr lang="en-US" b="1" dirty="0">
                <a:solidFill>
                  <a:schemeClr val="accent1"/>
                </a:solidFill>
              </a:rPr>
              <a:t>int x = A[i];</a:t>
            </a:r>
          </a:p>
          <a:p>
            <a:r>
              <a:rPr lang="en-US" b="1" dirty="0">
                <a:solidFill>
                  <a:schemeClr val="accent1"/>
                </a:solidFill>
              </a:rPr>
              <a:t>        B[x] *= B[x];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}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48B92937-8D1D-49DB-8D0B-D1453B593E1E}"/>
              </a:ext>
            </a:extLst>
          </p:cNvPr>
          <p:cNvSpPr txBox="1">
            <a:spLocks/>
          </p:cNvSpPr>
          <p:nvPr/>
        </p:nvSpPr>
        <p:spPr>
          <a:xfrm>
            <a:off x="438882" y="5185641"/>
            <a:ext cx="11514992" cy="122754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400041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857229" indent="-400041" algn="l" defTabSz="914377" rtl="0" eaLnBrk="1" latinLnBrk="0" hangingPunct="1">
              <a:lnSpc>
                <a:spcPct val="100000"/>
              </a:lnSpc>
              <a:spcBef>
                <a:spcPts val="0"/>
              </a:spcBef>
              <a:buSzPct val="80000"/>
              <a:buFont typeface="Courier New" panose="02070309020205020404" pitchFamily="49" charset="0"/>
              <a:buChar char="o"/>
              <a:defRPr sz="20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2971" indent="-28574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Corbel" panose="020B0503020204020204" pitchFamily="34" charset="0"/>
              <a:buChar char="‐"/>
              <a:defRPr sz="18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But if you know for sure: e.g., array A is </a:t>
            </a:r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m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onotonically increasing </a:t>
            </a:r>
          </a:p>
          <a:p>
            <a:pPr marL="0" indent="0"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II = 1</a:t>
            </a:r>
          </a:p>
        </p:txBody>
      </p:sp>
    </p:spTree>
    <p:extLst>
      <p:ext uri="{BB962C8B-B14F-4D97-AF65-F5344CB8AC3E}">
        <p14:creationId xmlns:p14="http://schemas.microsoft.com/office/powerpoint/2010/main" val="3892655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0FA31-6F05-D1FE-C6BC-B82A32B7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A40CC5-7420-5D42-FB71-FAC80908C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Critical Warnings</a:t>
            </a:r>
          </a:p>
          <a:p>
            <a:r>
              <a:rPr lang="en-US" sz="2000" dirty="0"/>
              <a:t>Outer loop pipelining forces inner loop full unrolling</a:t>
            </a:r>
            <a:br>
              <a:rPr lang="en-US" sz="2000" dirty="0"/>
            </a:br>
            <a:r>
              <a:rPr lang="en-US" sz="2000" b="0" dirty="0"/>
              <a:t>→ Can easily cause resource explosion</a:t>
            </a:r>
          </a:p>
          <a:p>
            <a:r>
              <a:rPr lang="en-US" sz="2000" dirty="0"/>
              <a:t>Floating-point accumulation almost always causes II &gt; 1</a:t>
            </a:r>
            <a:br>
              <a:rPr lang="en-US" sz="2000" dirty="0"/>
            </a:br>
            <a:r>
              <a:rPr lang="en-US" sz="2000" b="0" dirty="0"/>
              <a:t>→ FP adder latency &gt; 1 cycle</a:t>
            </a:r>
          </a:p>
          <a:p>
            <a:r>
              <a:rPr lang="en-US" sz="2000" dirty="0"/>
              <a:t>DRAM arrays cannot be partitioned</a:t>
            </a:r>
            <a:br>
              <a:rPr lang="en-US" sz="2000" dirty="0"/>
            </a:br>
            <a:r>
              <a:rPr lang="en-US" sz="2000" b="0" dirty="0"/>
              <a:t>→ Always copy to local memory before pipelining/unroll</a:t>
            </a:r>
          </a:p>
          <a:p>
            <a:r>
              <a:rPr lang="en-US" sz="2000"/>
              <a:t>Dependence </a:t>
            </a:r>
            <a:r>
              <a:rPr lang="en-US" sz="2000" dirty="0"/>
              <a:t>inter false is a promise, not a hint</a:t>
            </a:r>
            <a:br>
              <a:rPr lang="en-US" sz="2000" dirty="0"/>
            </a:br>
            <a:r>
              <a:rPr lang="en-US" sz="2000" b="0" dirty="0"/>
              <a:t>→ If you are wrong, the bug is yours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Debugging Checklist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Check achieved II in the HLS report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If II &gt; 1 → identify resource vs dependency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Fix memory first, then dependency</a:t>
            </a:r>
          </a:p>
          <a:p>
            <a:pPr lvl="1">
              <a:tabLst>
                <a:tab pos="742950" algn="l"/>
              </a:tabLst>
            </a:pPr>
            <a:r>
              <a:rPr lang="en-US" sz="1800" b="0" dirty="0"/>
              <a:t>Control parallelism before increasing 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38CD51-6D59-3228-DB3A-80E7EDA20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29933F1-8F5E-B1A5-5742-2D4FF5A2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for now</a:t>
            </a:r>
          </a:p>
        </p:txBody>
      </p:sp>
    </p:spTree>
    <p:extLst>
      <p:ext uri="{BB962C8B-B14F-4D97-AF65-F5344CB8AC3E}">
        <p14:creationId xmlns:p14="http://schemas.microsoft.com/office/powerpoint/2010/main" val="28522373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chemeClr val="accent1"/>
                </a:solidFill>
              </a:rPr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31266525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0487B4-EBFB-4B07-9A17-2BB82261A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Pipeline over function: the function must be </a:t>
            </a:r>
            <a:r>
              <a:rPr lang="en-US" sz="3600" dirty="0" err="1"/>
              <a:t>inlined</a:t>
            </a:r>
            <a:endParaRPr lang="en-US" sz="3600" dirty="0"/>
          </a:p>
          <a:p>
            <a:r>
              <a:rPr lang="en-US" sz="3600" dirty="0"/>
              <a:t>Unroll over function: the function will be duplicated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15FE9-224D-43C1-B65D-492482C2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14802D-23A4-4303-9F03-E1DF277F2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Pipeline and Unroll over Functions</a:t>
            </a:r>
          </a:p>
        </p:txBody>
      </p:sp>
    </p:spTree>
    <p:extLst>
      <p:ext uri="{BB962C8B-B14F-4D97-AF65-F5344CB8AC3E}">
        <p14:creationId xmlns:p14="http://schemas.microsoft.com/office/powerpoint/2010/main" val="1931413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486418" cy="770786"/>
          </a:xfrm>
        </p:spPr>
        <p:txBody>
          <a:bodyPr>
            <a:normAutofit/>
          </a:bodyPr>
          <a:lstStyle/>
          <a:p>
            <a:r>
              <a:rPr lang="en-US" sz="2800" dirty="0"/>
              <a:t>If a function inside pipeline region – the function must be </a:t>
            </a:r>
            <a:r>
              <a:rPr lang="en-US" sz="2800" dirty="0" err="1">
                <a:solidFill>
                  <a:schemeClr val="accent1"/>
                </a:solidFill>
              </a:rPr>
              <a:t>inlined</a:t>
            </a:r>
            <a:endParaRPr lang="en-US" sz="280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Pipeline over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511565" y="1843378"/>
            <a:ext cx="752753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variable=A dim=1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variable=B dim=1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for(int i = 0; i &lt; 10; i++) {</a:t>
            </a:r>
          </a:p>
          <a:p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#pragma HLS pipeline II=1</a:t>
            </a:r>
          </a:p>
          <a:p>
            <a:r>
              <a:rPr lang="en-US" dirty="0">
                <a:latin typeface="Consolas" panose="020B0609020204030204" pitchFamily="49" charset="0"/>
              </a:rPr>
              <a:t>		sum[i] +=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en-US" dirty="0">
                <a:latin typeface="Consolas" panose="020B0609020204030204" pitchFamily="49" charset="0"/>
              </a:rPr>
              <a:t>(A[i], B[i]);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7DAB5-356C-433B-A252-B972CA8B3753}"/>
              </a:ext>
            </a:extLst>
          </p:cNvPr>
          <p:cNvSpPr txBox="1"/>
          <p:nvPr/>
        </p:nvSpPr>
        <p:spPr>
          <a:xfrm>
            <a:off x="6634749" y="3702040"/>
            <a:ext cx="455712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int </a:t>
            </a:r>
            <a:r>
              <a:rPr lang="en-US" b="1" dirty="0">
                <a:highlight>
                  <a:srgbClr val="FFFF00"/>
                </a:highlight>
              </a:rPr>
              <a:t>foo</a:t>
            </a:r>
            <a:r>
              <a:rPr lang="en-US" dirty="0"/>
              <a:t>(int A[100], int B[100])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inline</a:t>
            </a:r>
          </a:p>
          <a:p>
            <a:endParaRPr lang="en-US" dirty="0"/>
          </a:p>
          <a:p>
            <a:r>
              <a:rPr lang="en-US" dirty="0"/>
              <a:t>	int add = 0;</a:t>
            </a:r>
          </a:p>
          <a:p>
            <a:r>
              <a:rPr lang="en-US" dirty="0"/>
              <a:t>	for(int i = 0; i &lt; 10; i++)</a:t>
            </a:r>
          </a:p>
          <a:p>
            <a:r>
              <a:rPr lang="en-US" dirty="0"/>
              <a:t>	    add += A[i] * B[i]; </a:t>
            </a:r>
          </a:p>
          <a:p>
            <a:r>
              <a:rPr lang="en-US" dirty="0"/>
              <a:t>	return add;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58840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A079BF-4D5F-4F62-92FA-A9C8EB11A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26827"/>
            <a:ext cx="11486418" cy="770786"/>
          </a:xfrm>
        </p:spPr>
        <p:txBody>
          <a:bodyPr>
            <a:normAutofit/>
          </a:bodyPr>
          <a:lstStyle/>
          <a:p>
            <a:r>
              <a:rPr lang="en-US" sz="2800" dirty="0"/>
              <a:t>Unroll a loop involving a function – the function will be </a:t>
            </a:r>
            <a:r>
              <a:rPr lang="en-US" sz="2800" dirty="0">
                <a:solidFill>
                  <a:schemeClr val="accent1"/>
                </a:solidFill>
              </a:rPr>
              <a:t>duplicated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43AF6E-3E5C-460B-AB0D-C21F01EB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3DC130-22F3-4C3E-A77B-05B5E28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Unroll over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85928-6CC0-4DBD-9E45-A52DEC287825}"/>
              </a:ext>
            </a:extLst>
          </p:cNvPr>
          <p:cNvSpPr txBox="1"/>
          <p:nvPr/>
        </p:nvSpPr>
        <p:spPr>
          <a:xfrm>
            <a:off x="511565" y="1843378"/>
            <a:ext cx="7527535" cy="36933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void test(int sum[10], int A[10][100], int B[10][100])</a:t>
            </a:r>
          </a:p>
          <a:p>
            <a:r>
              <a:rPr lang="en-US" dirty="0">
                <a:latin typeface="Consolas" panose="020B0609020204030204" pitchFamily="49" charset="0"/>
              </a:rPr>
              <a:t>{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variable=A dim=1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variable=B dim=1 complete</a:t>
            </a:r>
          </a:p>
          <a:p>
            <a:r>
              <a:rPr lang="en-US" dirty="0">
                <a:latin typeface="Consolas" panose="020B0609020204030204" pitchFamily="49" charset="0"/>
              </a:rPr>
              <a:t>#pragma HLS </a:t>
            </a:r>
            <a:r>
              <a:rPr lang="en-US" dirty="0" err="1">
                <a:latin typeface="Consolas" panose="020B0609020204030204" pitchFamily="49" charset="0"/>
              </a:rPr>
              <a:t>array_partition</a:t>
            </a:r>
            <a:r>
              <a:rPr lang="en-US" dirty="0">
                <a:latin typeface="Consolas" panose="020B0609020204030204" pitchFamily="49" charset="0"/>
              </a:rPr>
              <a:t> variable=sum complete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	loop_L1: for(int i = 0; i &lt; 10; i++) {</a:t>
            </a:r>
          </a:p>
          <a:p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#pragma HLS unroll</a:t>
            </a:r>
          </a:p>
          <a:p>
            <a:r>
              <a:rPr lang="en-US" dirty="0">
                <a:latin typeface="Consolas" panose="020B0609020204030204" pitchFamily="49" charset="0"/>
              </a:rPr>
              <a:t>		sum[i] =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foo</a:t>
            </a:r>
            <a:r>
              <a:rPr lang="en-US" dirty="0">
                <a:latin typeface="Consolas" panose="020B0609020204030204" pitchFamily="49" charset="0"/>
              </a:rPr>
              <a:t>(A[i], B[i]);</a:t>
            </a:r>
          </a:p>
          <a:p>
            <a:r>
              <a:rPr lang="en-US" dirty="0">
                <a:latin typeface="Consolas" panose="020B0609020204030204" pitchFamily="49" charset="0"/>
              </a:rPr>
              <a:t>        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7DAB5-356C-433B-A252-B972CA8B3753}"/>
              </a:ext>
            </a:extLst>
          </p:cNvPr>
          <p:cNvSpPr txBox="1"/>
          <p:nvPr/>
        </p:nvSpPr>
        <p:spPr>
          <a:xfrm>
            <a:off x="6869358" y="3968740"/>
            <a:ext cx="455712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int </a:t>
            </a:r>
            <a:r>
              <a:rPr lang="en-US" b="1" dirty="0">
                <a:highlight>
                  <a:srgbClr val="FFFF00"/>
                </a:highlight>
              </a:rPr>
              <a:t>foo</a:t>
            </a:r>
            <a:r>
              <a:rPr lang="en-US" dirty="0"/>
              <a:t>(int A[100], int B[100])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	int add = 0;</a:t>
            </a:r>
          </a:p>
          <a:p>
            <a:r>
              <a:rPr lang="en-US" dirty="0"/>
              <a:t>	for(int i = 0; i &lt; 10; i++)</a:t>
            </a:r>
          </a:p>
          <a:p>
            <a:r>
              <a:rPr lang="en-US" dirty="0"/>
              <a:t>	    add += A[i] * B[i]; </a:t>
            </a:r>
          </a:p>
          <a:p>
            <a:r>
              <a:rPr lang="en-US" dirty="0"/>
              <a:t>	return add;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56C7475E-38C6-4466-9577-47A47D6BB95C}"/>
              </a:ext>
            </a:extLst>
          </p:cNvPr>
          <p:cNvSpPr/>
          <p:nvPr/>
        </p:nvSpPr>
        <p:spPr>
          <a:xfrm>
            <a:off x="8215880" y="2584283"/>
            <a:ext cx="3210604" cy="1384457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accent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foo</a:t>
            </a: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 is duplicated by 10 copies which run in parallel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666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1"/>
                </a:solidFill>
              </a:rPr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016911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1A675-7907-48C0-BBCA-2FA7F9E8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1361629"/>
          </a:xfrm>
        </p:spPr>
        <p:txBody>
          <a:bodyPr>
            <a:normAutofit/>
          </a:bodyPr>
          <a:lstStyle/>
          <a:p>
            <a:r>
              <a:rPr lang="en-US" sz="2800" dirty="0"/>
              <a:t>When you have multiple loops, or the loop count is too big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22021-01AD-41C8-8FC9-EBA261C1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668340-B503-424E-AA99-1EC98ABC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Tiling – Controlled Parallelism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0699A-7270-4E76-A7FC-E9230037D13B}"/>
              </a:ext>
            </a:extLst>
          </p:cNvPr>
          <p:cNvSpPr txBox="1"/>
          <p:nvPr/>
        </p:nvSpPr>
        <p:spPr>
          <a:xfrm>
            <a:off x="766690" y="1993735"/>
            <a:ext cx="10775851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//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array_partition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omitted</a:t>
            </a:r>
            <a:br>
              <a:rPr lang="en-US" dirty="0"/>
            </a:br>
            <a:r>
              <a:rPr lang="en-US" dirty="0"/>
              <a:t>    for(int i = 0; i &lt; 1024; i++) 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pipeline</a:t>
            </a:r>
          </a:p>
          <a:p>
            <a:r>
              <a:rPr lang="en-US" dirty="0"/>
              <a:t>       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dirty="0" err="1"/>
              <a:t>j++</a:t>
            </a:r>
            <a:r>
              <a:rPr lang="en-US" dirty="0"/>
              <a:t>) {</a:t>
            </a:r>
          </a:p>
          <a:p>
            <a:r>
              <a:rPr lang="en-US" dirty="0"/>
              <a:t>            sum[i] += A[i][j] * B[i][j];</a:t>
            </a:r>
          </a:p>
          <a:p>
            <a:r>
              <a:rPr lang="en-US" dirty="0"/>
              <a:t>        }</a:t>
            </a:r>
          </a:p>
          <a:p>
            <a:r>
              <a:rPr lang="en-US" dirty="0"/>
              <a:t>    }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E50D548C-2AFB-43CE-A8C0-997979DEE164}"/>
              </a:ext>
            </a:extLst>
          </p:cNvPr>
          <p:cNvSpPr/>
          <p:nvPr/>
        </p:nvSpPr>
        <p:spPr>
          <a:xfrm>
            <a:off x="7032289" y="4783828"/>
            <a:ext cx="4575902" cy="1299663"/>
          </a:xfrm>
          <a:custGeom>
            <a:avLst/>
            <a:gdLst>
              <a:gd name="connsiteX0" fmla="*/ 0 w 6089650"/>
              <a:gd name="connsiteY0" fmla="*/ 109319 h 655898"/>
              <a:gd name="connsiteX1" fmla="*/ 109319 w 6089650"/>
              <a:gd name="connsiteY1" fmla="*/ 0 h 655898"/>
              <a:gd name="connsiteX2" fmla="*/ 5980331 w 6089650"/>
              <a:gd name="connsiteY2" fmla="*/ 0 h 655898"/>
              <a:gd name="connsiteX3" fmla="*/ 6089650 w 6089650"/>
              <a:gd name="connsiteY3" fmla="*/ 109319 h 655898"/>
              <a:gd name="connsiteX4" fmla="*/ 6089650 w 6089650"/>
              <a:gd name="connsiteY4" fmla="*/ 546579 h 655898"/>
              <a:gd name="connsiteX5" fmla="*/ 5980331 w 6089650"/>
              <a:gd name="connsiteY5" fmla="*/ 655898 h 655898"/>
              <a:gd name="connsiteX6" fmla="*/ 109319 w 6089650"/>
              <a:gd name="connsiteY6" fmla="*/ 655898 h 655898"/>
              <a:gd name="connsiteX7" fmla="*/ 0 w 6089650"/>
              <a:gd name="connsiteY7" fmla="*/ 546579 h 655898"/>
              <a:gd name="connsiteX8" fmla="*/ 0 w 6089650"/>
              <a:gd name="connsiteY8" fmla="*/ 109319 h 65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89650" h="655898">
                <a:moveTo>
                  <a:pt x="0" y="109319"/>
                </a:moveTo>
                <a:cubicBezTo>
                  <a:pt x="0" y="48944"/>
                  <a:pt x="48944" y="0"/>
                  <a:pt x="109319" y="0"/>
                </a:cubicBezTo>
                <a:lnTo>
                  <a:pt x="5980331" y="0"/>
                </a:lnTo>
                <a:cubicBezTo>
                  <a:pt x="6040706" y="0"/>
                  <a:pt x="6089650" y="48944"/>
                  <a:pt x="6089650" y="109319"/>
                </a:cubicBezTo>
                <a:lnTo>
                  <a:pt x="6089650" y="546579"/>
                </a:lnTo>
                <a:cubicBezTo>
                  <a:pt x="6089650" y="606954"/>
                  <a:pt x="6040706" y="655898"/>
                  <a:pt x="5980331" y="655898"/>
                </a:cubicBezTo>
                <a:lnTo>
                  <a:pt x="109319" y="655898"/>
                </a:lnTo>
                <a:cubicBezTo>
                  <a:pt x="48944" y="655898"/>
                  <a:pt x="0" y="606954"/>
                  <a:pt x="0" y="546579"/>
                </a:cubicBezTo>
                <a:lnTo>
                  <a:pt x="0" y="109319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Unable to pipeline, crashes, or hangs forever</a:t>
            </a:r>
            <a:endParaRPr lang="en-US" sz="28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65073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D1A675-7907-48C0-BBCA-2FA7F9E8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2838737"/>
          </a:xfrm>
        </p:spPr>
        <p:txBody>
          <a:bodyPr>
            <a:normAutofit/>
          </a:bodyPr>
          <a:lstStyle/>
          <a:p>
            <a:r>
              <a:rPr lang="en-US" sz="3600" dirty="0"/>
              <a:t>Step 1: break them into tiles</a:t>
            </a:r>
          </a:p>
          <a:p>
            <a:r>
              <a:rPr lang="en-US" sz="3600" dirty="0"/>
              <a:t>Step 2: parallelize within one tile</a:t>
            </a:r>
          </a:p>
          <a:p>
            <a:r>
              <a:rPr lang="en-US" sz="3600" dirty="0"/>
              <a:t>Step 3: pipeline across different tiles</a:t>
            </a:r>
          </a:p>
          <a:p>
            <a:pPr lvl="1"/>
            <a:r>
              <a:rPr lang="en-US" sz="3200" dirty="0"/>
              <a:t>We’ll see another example of II violation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722021-01AD-41C8-8FC9-EBA261C1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668340-B503-424E-AA99-1EC98ABCA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Tiling – Controlled Parallelism</a:t>
            </a:r>
          </a:p>
        </p:txBody>
      </p:sp>
    </p:spTree>
    <p:extLst>
      <p:ext uri="{BB962C8B-B14F-4D97-AF65-F5344CB8AC3E}">
        <p14:creationId xmlns:p14="http://schemas.microsoft.com/office/powerpoint/2010/main" val="3428417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E6068-F69B-9939-3AFD-CE0F048C0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005A84-C2FA-182F-8CF0-19CE8FA2DF79}"/>
              </a:ext>
            </a:extLst>
          </p:cNvPr>
          <p:cNvSpPr/>
          <p:nvPr/>
        </p:nvSpPr>
        <p:spPr>
          <a:xfrm>
            <a:off x="5216332" y="4836790"/>
            <a:ext cx="4863172" cy="5581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0722DA-493E-F4AD-162A-E47E2D54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D920BE-A4E7-1107-6804-312EE895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Break into Tiles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0C8F9F-3086-FC7E-9B10-46A5F8B573C6}"/>
              </a:ext>
            </a:extLst>
          </p:cNvPr>
          <p:cNvSpPr txBox="1"/>
          <p:nvPr/>
        </p:nvSpPr>
        <p:spPr>
          <a:xfrm>
            <a:off x="841717" y="1239318"/>
            <a:ext cx="1068675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b="1" dirty="0">
              <a:solidFill>
                <a:schemeClr val="accent1"/>
              </a:solidFill>
            </a:endParaRPr>
          </a:p>
          <a:p>
            <a:endParaRPr lang="en-US" dirty="0"/>
          </a:p>
          <a:p>
            <a:r>
              <a:rPr lang="en-US" dirty="0"/>
              <a:t>    L1: for(int i = 0; i &lt; 1024; i++) {</a:t>
            </a:r>
            <a:br>
              <a:rPr lang="en-US" dirty="0"/>
            </a:br>
            <a:r>
              <a:rPr lang="en-US" dirty="0"/>
              <a:t>        L2: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 += 16</a:t>
            </a:r>
            <a:r>
              <a:rPr lang="en-US" dirty="0"/>
              <a:t>) {</a:t>
            </a:r>
          </a:p>
          <a:p>
            <a:br>
              <a:rPr lang="en-US" dirty="0"/>
            </a:br>
            <a:r>
              <a:rPr lang="en-US" b="1" dirty="0"/>
              <a:t>            L3: for(int </a:t>
            </a:r>
            <a:r>
              <a:rPr lang="en-US" b="1" dirty="0" err="1"/>
              <a:t>jj</a:t>
            </a:r>
            <a:r>
              <a:rPr lang="en-US" b="1" dirty="0"/>
              <a:t> = 0; </a:t>
            </a:r>
            <a:r>
              <a:rPr lang="en-US" b="1" dirty="0" err="1"/>
              <a:t>jj</a:t>
            </a:r>
            <a:r>
              <a:rPr lang="en-US" b="1" dirty="0"/>
              <a:t> &lt; 16; </a:t>
            </a:r>
            <a:r>
              <a:rPr lang="en-US" b="1" dirty="0" err="1"/>
              <a:t>jj</a:t>
            </a:r>
            <a:r>
              <a:rPr lang="en-US" b="1" dirty="0"/>
              <a:t>++) {</a:t>
            </a:r>
          </a:p>
          <a:p>
            <a:endParaRPr lang="en-US" b="1" dirty="0"/>
          </a:p>
          <a:p>
            <a:r>
              <a:rPr lang="en-US" b="1" dirty="0"/>
              <a:t>                sum[i] += A[i][j + </a:t>
            </a:r>
            <a:r>
              <a:rPr lang="en-US" b="1" dirty="0" err="1"/>
              <a:t>jj</a:t>
            </a:r>
            <a:r>
              <a:rPr lang="en-US" b="1" dirty="0"/>
              <a:t>] * B[i][j + </a:t>
            </a:r>
            <a:r>
              <a:rPr lang="en-US" b="1" dirty="0" err="1"/>
              <a:t>jj</a:t>
            </a:r>
            <a:r>
              <a:rPr lang="en-US" b="1" dirty="0"/>
              <a:t>];</a:t>
            </a:r>
          </a:p>
          <a:p>
            <a:r>
              <a:rPr lang="en-US" b="1" dirty="0"/>
              <a:t>}}}}</a:t>
            </a:r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78BFA9C7-5C5F-4BF9-A0B1-EE556A6C1A14}"/>
              </a:ext>
            </a:extLst>
          </p:cNvPr>
          <p:cNvSpPr/>
          <p:nvPr/>
        </p:nvSpPr>
        <p:spPr>
          <a:xfrm>
            <a:off x="9304532" y="2972280"/>
            <a:ext cx="2383394" cy="169401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/>
          <a:p>
            <a:pPr algn="ctr" defTabSz="1244600">
              <a:spcBef>
                <a:spcPct val="0"/>
              </a:spcBef>
            </a:pPr>
            <a:r>
              <a:rPr lang="en-US" sz="2400" b="1" dirty="0">
                <a:solidFill>
                  <a:schemeClr val="tx1"/>
                </a:solidFill>
                <a:latin typeface="Aptos Display" panose="020B0004020202020204" pitchFamily="34" charset="0"/>
                <a:ea typeface="Cambria" panose="02040503050406030204" pitchFamily="18" charset="0"/>
                <a:cs typeface="Tahoma" panose="020B0604030504040204" pitchFamily="34" charset="0"/>
              </a:rPr>
              <a:t>Let these 16 multiplications execute in parallel</a:t>
            </a:r>
            <a:endParaRPr lang="en-US" sz="2400" dirty="0">
              <a:solidFill>
                <a:schemeClr val="tx1"/>
              </a:solidFill>
              <a:latin typeface="Aptos Display" panose="020B0004020202020204" pitchFamily="34" charset="0"/>
              <a:ea typeface="Cambria" panose="02040503050406030204" pitchFamily="18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268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ED640A-745F-4998-BF4C-45209D89CF10}"/>
              </a:ext>
            </a:extLst>
          </p:cNvPr>
          <p:cNvSpPr/>
          <p:nvPr/>
        </p:nvSpPr>
        <p:spPr>
          <a:xfrm>
            <a:off x="5216332" y="4836790"/>
            <a:ext cx="4863172" cy="5581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E091A-7A0B-40D1-ADD9-D3047572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B70C23-6A89-44D7-9D2C-120ACA4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Parallelize with one tile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A5557-9443-48BF-9EE2-457978161FA7}"/>
              </a:ext>
            </a:extLst>
          </p:cNvPr>
          <p:cNvSpPr txBox="1"/>
          <p:nvPr/>
        </p:nvSpPr>
        <p:spPr>
          <a:xfrm>
            <a:off x="841717" y="1239318"/>
            <a:ext cx="1068675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variable=A dim=2 factor=16 cyclic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variable=B dim=2 factor=16 cyclic</a:t>
            </a:r>
          </a:p>
          <a:p>
            <a:endParaRPr lang="en-US" dirty="0"/>
          </a:p>
          <a:p>
            <a:r>
              <a:rPr lang="en-US" dirty="0"/>
              <a:t>    L1: for(int i = 0; i &lt; 1024; i++) {</a:t>
            </a:r>
            <a:br>
              <a:rPr lang="en-US" dirty="0"/>
            </a:br>
            <a:r>
              <a:rPr lang="en-US" dirty="0"/>
              <a:t>        L2: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 += 16</a:t>
            </a:r>
            <a:r>
              <a:rPr lang="en-US" dirty="0"/>
              <a:t>) {</a:t>
            </a:r>
          </a:p>
          <a:p>
            <a:br>
              <a:rPr lang="en-US" dirty="0"/>
            </a:br>
            <a:r>
              <a:rPr lang="en-US" b="1" dirty="0"/>
              <a:t>            L3: for(int </a:t>
            </a:r>
            <a:r>
              <a:rPr lang="en-US" b="1" dirty="0" err="1"/>
              <a:t>jj</a:t>
            </a:r>
            <a:r>
              <a:rPr lang="en-US" b="1" dirty="0"/>
              <a:t> = 0; </a:t>
            </a:r>
            <a:r>
              <a:rPr lang="en-US" b="1" dirty="0" err="1"/>
              <a:t>jj</a:t>
            </a:r>
            <a:r>
              <a:rPr lang="en-US" b="1" dirty="0"/>
              <a:t> &lt; 16; </a:t>
            </a:r>
            <a:r>
              <a:rPr lang="en-US" b="1" dirty="0" err="1"/>
              <a:t>jj</a:t>
            </a:r>
            <a:r>
              <a:rPr lang="en-US" b="1" dirty="0"/>
              <a:t>++)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unroll</a:t>
            </a:r>
          </a:p>
          <a:p>
            <a:r>
              <a:rPr lang="en-US" b="1" dirty="0"/>
              <a:t>                sum[i] += A[i][j + </a:t>
            </a:r>
            <a:r>
              <a:rPr lang="en-US" b="1" dirty="0" err="1"/>
              <a:t>jj</a:t>
            </a:r>
            <a:r>
              <a:rPr lang="en-US" b="1" dirty="0"/>
              <a:t>] * B[i][j + </a:t>
            </a:r>
            <a:r>
              <a:rPr lang="en-US" b="1" dirty="0" err="1"/>
              <a:t>jj</a:t>
            </a:r>
            <a:r>
              <a:rPr lang="en-US" b="1" dirty="0"/>
              <a:t>];</a:t>
            </a:r>
          </a:p>
          <a:p>
            <a:r>
              <a:rPr lang="en-US" b="1" dirty="0"/>
              <a:t>}}}}</a:t>
            </a:r>
          </a:p>
        </p:txBody>
      </p:sp>
    </p:spTree>
    <p:extLst>
      <p:ext uri="{BB962C8B-B14F-4D97-AF65-F5344CB8AC3E}">
        <p14:creationId xmlns:p14="http://schemas.microsoft.com/office/powerpoint/2010/main" val="13984923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F5C5486-A031-459D-9ED1-56F12F700B69}"/>
              </a:ext>
            </a:extLst>
          </p:cNvPr>
          <p:cNvSpPr/>
          <p:nvPr/>
        </p:nvSpPr>
        <p:spPr>
          <a:xfrm>
            <a:off x="5216332" y="4836790"/>
            <a:ext cx="4863172" cy="55817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1E091A-7A0B-40D1-ADD9-D3047572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B70C23-6A89-44D7-9D2C-120ACA4AC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</a:t>
            </a:r>
            <a:r>
              <a:rPr lang="en-US" sz="4400" dirty="0"/>
              <a:t>Pipeline across Different Tiles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A5557-9443-48BF-9EE2-457978161FA7}"/>
              </a:ext>
            </a:extLst>
          </p:cNvPr>
          <p:cNvSpPr txBox="1"/>
          <p:nvPr/>
        </p:nvSpPr>
        <p:spPr>
          <a:xfrm>
            <a:off x="841717" y="1239318"/>
            <a:ext cx="1068675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dirty="0"/>
              <a:t>void test(int A[1024][1024], int B[1024][1024], int sum[1024])</a:t>
            </a:r>
          </a:p>
          <a:p>
            <a:r>
              <a:rPr lang="en-US" dirty="0"/>
              <a:t>{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variable=A dim=2 factor=16 cyclic</a:t>
            </a:r>
          </a:p>
          <a:p>
            <a:r>
              <a:rPr lang="en-US" b="1" dirty="0">
                <a:solidFill>
                  <a:schemeClr val="accent1"/>
                </a:solidFill>
              </a:rPr>
              <a:t>#pragma HLS </a:t>
            </a:r>
            <a:r>
              <a:rPr lang="en-US" b="1" dirty="0" err="1">
                <a:solidFill>
                  <a:schemeClr val="accent1"/>
                </a:solidFill>
              </a:rPr>
              <a:t>array_partition</a:t>
            </a:r>
            <a:r>
              <a:rPr lang="en-US" b="1" dirty="0">
                <a:solidFill>
                  <a:schemeClr val="accent1"/>
                </a:solidFill>
              </a:rPr>
              <a:t> variable=B dim=2 factor=16 cyclic</a:t>
            </a:r>
          </a:p>
          <a:p>
            <a:endParaRPr lang="en-US" dirty="0"/>
          </a:p>
          <a:p>
            <a:r>
              <a:rPr lang="en-US" dirty="0"/>
              <a:t>    L1: for(int i = 0; i &lt; 1024; i++) {</a:t>
            </a:r>
            <a:br>
              <a:rPr lang="en-US" dirty="0"/>
            </a:br>
            <a:r>
              <a:rPr lang="en-US" dirty="0"/>
              <a:t>        L2: for(int j = 0; j &lt;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1024</a:t>
            </a:r>
            <a:r>
              <a:rPr lang="en-US" dirty="0"/>
              <a:t>;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j += 16</a:t>
            </a:r>
            <a:r>
              <a:rPr lang="en-US" dirty="0"/>
              <a:t>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pipeline</a:t>
            </a:r>
            <a:br>
              <a:rPr lang="en-US" dirty="0"/>
            </a:br>
            <a:r>
              <a:rPr lang="en-US" b="1" dirty="0"/>
              <a:t>            L3: for(int </a:t>
            </a:r>
            <a:r>
              <a:rPr lang="en-US" b="1" dirty="0" err="1"/>
              <a:t>jj</a:t>
            </a:r>
            <a:r>
              <a:rPr lang="en-US" b="1" dirty="0"/>
              <a:t> = 0; </a:t>
            </a:r>
            <a:r>
              <a:rPr lang="en-US" b="1" dirty="0" err="1"/>
              <a:t>jj</a:t>
            </a:r>
            <a:r>
              <a:rPr lang="en-US" b="1" dirty="0"/>
              <a:t> &lt; 16; </a:t>
            </a:r>
            <a:r>
              <a:rPr lang="en-US" b="1" dirty="0" err="1"/>
              <a:t>jj</a:t>
            </a:r>
            <a:r>
              <a:rPr lang="en-US" b="1" dirty="0"/>
              <a:t>++) {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#pragma HLS unroll</a:t>
            </a:r>
          </a:p>
          <a:p>
            <a:r>
              <a:rPr lang="en-US" b="1" dirty="0"/>
              <a:t>                sum[i] += A[i][j + </a:t>
            </a:r>
            <a:r>
              <a:rPr lang="en-US" b="1" dirty="0" err="1"/>
              <a:t>jj</a:t>
            </a:r>
            <a:r>
              <a:rPr lang="en-US" b="1" dirty="0"/>
              <a:t>] * B[i][j + </a:t>
            </a:r>
            <a:r>
              <a:rPr lang="en-US" b="1" dirty="0" err="1"/>
              <a:t>jj</a:t>
            </a:r>
            <a:r>
              <a:rPr lang="en-US" b="1" dirty="0"/>
              <a:t>];</a:t>
            </a:r>
          </a:p>
          <a:p>
            <a:r>
              <a:rPr lang="en-US" b="1" dirty="0"/>
              <a:t>}}}}</a:t>
            </a:r>
          </a:p>
        </p:txBody>
      </p:sp>
    </p:spTree>
    <p:extLst>
      <p:ext uri="{BB962C8B-B14F-4D97-AF65-F5344CB8AC3E}">
        <p14:creationId xmlns:p14="http://schemas.microsoft.com/office/powerpoint/2010/main" val="3512531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BBF07A-F222-4E91-8DBC-9FE8EEDF1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Not because of multiplication but because of the </a:t>
            </a:r>
            <a:r>
              <a:rPr lang="en-US" sz="2800" dirty="0">
                <a:solidFill>
                  <a:schemeClr val="accent1"/>
                </a:solidFill>
              </a:rPr>
              <a:t>accumulation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9B03E3-7308-4E19-A3DF-93B9E4BD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378A17F-702C-4F67-9D3D-69F857CA1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[Caution!] You May Run into II Violation</a:t>
            </a: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47A95156-8B60-4FB7-9E1B-1C4BBC521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836749"/>
              </p:ext>
            </p:extLst>
          </p:nvPr>
        </p:nvGraphicFramePr>
        <p:xfrm>
          <a:off x="1971998" y="2070925"/>
          <a:ext cx="7586432" cy="946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304">
                  <a:extLst>
                    <a:ext uri="{9D8B030D-6E8A-4147-A177-3AD203B41FA5}">
                      <a16:colId xmlns:a16="http://schemas.microsoft.com/office/drawing/2014/main" val="2636441051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1894422074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1459876396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812945416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2349400527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2510756094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925576531"/>
                    </a:ext>
                  </a:extLst>
                </a:gridCol>
                <a:gridCol w="948304">
                  <a:extLst>
                    <a:ext uri="{9D8B030D-6E8A-4147-A177-3AD203B41FA5}">
                      <a16:colId xmlns:a16="http://schemas.microsoft.com/office/drawing/2014/main" val="172142500"/>
                    </a:ext>
                  </a:extLst>
                </a:gridCol>
              </a:tblGrid>
              <a:tr h="946595">
                <a:tc>
                  <a:txBody>
                    <a:bodyPr/>
                    <a:lstStyle/>
                    <a:p>
                      <a:pPr algn="ctr"/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sz="4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27214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57CDE56E-36A2-40E5-A401-4530C99C2056}"/>
              </a:ext>
            </a:extLst>
          </p:cNvPr>
          <p:cNvSpPr/>
          <p:nvPr/>
        </p:nvSpPr>
        <p:spPr>
          <a:xfrm>
            <a:off x="4895557" y="4199207"/>
            <a:ext cx="1702192" cy="583809"/>
          </a:xfrm>
          <a:prstGeom prst="rect">
            <a:avLst/>
          </a:prstGeom>
          <a:solidFill>
            <a:srgbClr val="0030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ptos Display" panose="020B0004020202020204" pitchFamily="34" charset="0"/>
              </a:rPr>
              <a:t>Sum[i]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4564057-F952-414B-8DC0-DE64ABC43661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2447778" y="3017520"/>
            <a:ext cx="3298875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821644-7721-433C-9FFF-3F03FB93C03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3404382" y="3017520"/>
            <a:ext cx="2342271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063D3C-5713-424E-9FDE-F4445F836D1D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96154" y="3017520"/>
            <a:ext cx="1350499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7F06F81-FAC0-4271-BD29-8C02D64D88AA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338689" y="3017520"/>
            <a:ext cx="407964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C82462-C8D1-4174-A39A-B0A885D8988F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499404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9CA435D-35A0-4E16-B8AC-532A9BCD4337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1491176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5121E82-2DCE-47C9-A057-E95F5EE405A6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2447780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ECBF297-E632-4AB8-B486-DC2A6BCAB58A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5746653" y="3017520"/>
            <a:ext cx="3404382" cy="11816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F0E40AC-0151-45A3-8816-3C1DD022BA24}"/>
              </a:ext>
            </a:extLst>
          </p:cNvPr>
          <p:cNvSpPr/>
          <p:nvPr/>
        </p:nvSpPr>
        <p:spPr>
          <a:xfrm>
            <a:off x="342901" y="5053019"/>
            <a:ext cx="11579468" cy="1123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41" indent="-400041" defTabSz="914377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</a:rPr>
              <a:t>16 multiplications can be done in 1 cycle but not the </a:t>
            </a:r>
            <a:r>
              <a:rPr lang="en-US" sz="2800" b="1" dirty="0" err="1">
                <a:solidFill>
                  <a:schemeClr val="accent1"/>
                </a:solidFill>
                <a:latin typeface="Aptos Display" panose="020B0004020202020204" pitchFamily="34" charset="0"/>
              </a:rPr>
              <a:t>fixed_point</a:t>
            </a:r>
            <a:r>
              <a:rPr lang="en-US" sz="28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</a:rPr>
              <a:t>or </a:t>
            </a:r>
            <a:r>
              <a:rPr lang="en-US" sz="2800" b="1" dirty="0" err="1">
                <a:solidFill>
                  <a:schemeClr val="accent1"/>
                </a:solidFill>
                <a:latin typeface="Aptos Display" panose="020B0004020202020204" pitchFamily="34" charset="0"/>
              </a:rPr>
              <a:t>floating_point</a:t>
            </a:r>
            <a:r>
              <a:rPr lang="en-US" sz="2800" b="1" dirty="0">
                <a:solidFill>
                  <a:schemeClr val="accent1"/>
                </a:solidFill>
                <a:latin typeface="Aptos Display" panose="020B0004020202020204" pitchFamily="34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ptos Display" panose="020B0004020202020204" pitchFamily="34" charset="0"/>
              </a:rPr>
              <a:t>accumulation…</a:t>
            </a:r>
          </a:p>
        </p:txBody>
      </p:sp>
    </p:spTree>
    <p:extLst>
      <p:ext uri="{BB962C8B-B14F-4D97-AF65-F5344CB8AC3E}">
        <p14:creationId xmlns:p14="http://schemas.microsoft.com/office/powerpoint/2010/main" val="4093155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5A97FB-9E1B-4E25-B674-297C222B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37124C-0E39-44B4-840B-EBCA6BB95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is the II Violation in Vitis HLS Scheduler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0E72D9-EAB1-4915-869D-59395D6AE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66" y="1232833"/>
            <a:ext cx="11018312" cy="486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15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1ED26D-AC9F-4B94-A2EF-17F34917D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5BD07ED-96F6-4744-A6C2-BBCECCF8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Resolve the II Violation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6CB74-2D96-4034-B295-F63EE1365324}"/>
              </a:ext>
            </a:extLst>
          </p:cNvPr>
          <p:cNvSpPr txBox="1"/>
          <p:nvPr/>
        </p:nvSpPr>
        <p:spPr>
          <a:xfrm>
            <a:off x="752621" y="1115315"/>
            <a:ext cx="11004453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/>
              <a:t>void test(FIX_TYPE A[1024][1024], FIX_TYPE B[1024][1024], FIX_TYPE sum[1024])</a:t>
            </a:r>
          </a:p>
          <a:p>
            <a:r>
              <a:rPr lang="en-US" sz="2000" dirty="0"/>
              <a:t>{</a:t>
            </a:r>
          </a:p>
          <a:p>
            <a:r>
              <a:rPr lang="en-US" sz="2000" dirty="0"/>
              <a:t>#pragma HLS </a:t>
            </a:r>
            <a:r>
              <a:rPr lang="en-US" sz="2000" dirty="0" err="1"/>
              <a:t>array_partition</a:t>
            </a:r>
            <a:r>
              <a:rPr lang="en-US" sz="2000" dirty="0"/>
              <a:t> variable=A dim=2 factor=16 cyclic</a:t>
            </a:r>
          </a:p>
          <a:p>
            <a:r>
              <a:rPr lang="en-US" sz="2000" dirty="0"/>
              <a:t>#pragma HLS </a:t>
            </a:r>
            <a:r>
              <a:rPr lang="en-US" sz="2000" dirty="0" err="1"/>
              <a:t>array_partition</a:t>
            </a:r>
            <a:r>
              <a:rPr lang="en-US" sz="2000" dirty="0"/>
              <a:t> variable=B dim=2 factor=16 cyclic</a:t>
            </a:r>
          </a:p>
          <a:p>
            <a:br>
              <a:rPr lang="en-US" sz="2000" dirty="0"/>
            </a:br>
            <a:r>
              <a:rPr lang="en-US" sz="2000" dirty="0"/>
              <a:t>    L1: for(int i = 0; i &lt; 1024; i++) {</a:t>
            </a:r>
            <a:br>
              <a:rPr lang="en-US" sz="2000" dirty="0"/>
            </a:br>
            <a:r>
              <a:rPr lang="en-US" sz="2000" dirty="0"/>
              <a:t>        L2: for(int j = 0; j &lt; 1024; j += 16) {</a:t>
            </a:r>
          </a:p>
          <a:p>
            <a:r>
              <a:rPr lang="en-US" sz="2000" dirty="0"/>
              <a:t>#pragma HLS pipeline</a:t>
            </a:r>
          </a:p>
          <a:p>
            <a:br>
              <a:rPr lang="en-US" sz="2000" dirty="0"/>
            </a:br>
            <a:r>
              <a:rPr lang="en-US" sz="2000" dirty="0"/>
              <a:t>            FIX_TYPE </a:t>
            </a:r>
            <a:r>
              <a:rPr lang="en-US" sz="2000" b="1" dirty="0" err="1">
                <a:solidFill>
                  <a:schemeClr val="accent1"/>
                </a:solidFill>
              </a:rPr>
              <a:t>sum_local</a:t>
            </a:r>
            <a:r>
              <a:rPr lang="en-US" sz="2000" dirty="0"/>
              <a:t>[16];</a:t>
            </a:r>
            <a:br>
              <a:rPr lang="en-US" sz="2000" dirty="0"/>
            </a:br>
            <a:r>
              <a:rPr lang="en-US" sz="2000" dirty="0"/>
              <a:t>            L3: for(int </a:t>
            </a:r>
            <a:r>
              <a:rPr lang="en-US" sz="2000" dirty="0" err="1"/>
              <a:t>jj</a:t>
            </a:r>
            <a:r>
              <a:rPr lang="en-US" sz="2000" dirty="0"/>
              <a:t> = 0; </a:t>
            </a:r>
            <a:r>
              <a:rPr lang="en-US" sz="2000" dirty="0" err="1"/>
              <a:t>jj</a:t>
            </a:r>
            <a:r>
              <a:rPr lang="en-US" sz="2000" dirty="0"/>
              <a:t> &lt; 16; </a:t>
            </a:r>
            <a:r>
              <a:rPr lang="en-US" sz="2000" dirty="0" err="1"/>
              <a:t>jj</a:t>
            </a:r>
            <a:r>
              <a:rPr lang="en-US" sz="2000" dirty="0"/>
              <a:t>++)</a:t>
            </a:r>
          </a:p>
          <a:p>
            <a:r>
              <a:rPr lang="en-US" sz="2000" dirty="0"/>
              <a:t>                </a:t>
            </a:r>
            <a:r>
              <a:rPr lang="en-US" sz="2000" b="1" dirty="0" err="1">
                <a:solidFill>
                  <a:schemeClr val="accent1"/>
                </a:solidFill>
              </a:rPr>
              <a:t>sum_local</a:t>
            </a:r>
            <a:r>
              <a:rPr lang="en-US" sz="2000" b="1" dirty="0">
                <a:solidFill>
                  <a:schemeClr val="accent1"/>
                </a:solidFill>
              </a:rPr>
              <a:t>[</a:t>
            </a:r>
            <a:r>
              <a:rPr lang="en-US" sz="2000" b="1" dirty="0" err="1">
                <a:solidFill>
                  <a:schemeClr val="accent1"/>
                </a:solidFill>
              </a:rPr>
              <a:t>jj</a:t>
            </a:r>
            <a:r>
              <a:rPr lang="en-US" sz="2000" b="1" dirty="0">
                <a:solidFill>
                  <a:schemeClr val="accent1"/>
                </a:solidFill>
              </a:rPr>
              <a:t>] = A[i][j + </a:t>
            </a:r>
            <a:r>
              <a:rPr lang="en-US" sz="2000" b="1" dirty="0" err="1">
                <a:solidFill>
                  <a:schemeClr val="accent1"/>
                </a:solidFill>
              </a:rPr>
              <a:t>jj</a:t>
            </a:r>
            <a:r>
              <a:rPr lang="en-US" sz="2000" b="1" dirty="0">
                <a:solidFill>
                  <a:schemeClr val="accent1"/>
                </a:solidFill>
              </a:rPr>
              <a:t>] * B[i][j + </a:t>
            </a:r>
            <a:r>
              <a:rPr lang="en-US" sz="2000" b="1" dirty="0" err="1">
                <a:solidFill>
                  <a:schemeClr val="accent1"/>
                </a:solidFill>
              </a:rPr>
              <a:t>jj</a:t>
            </a:r>
            <a:r>
              <a:rPr lang="en-US" sz="2000" b="1" dirty="0">
                <a:solidFill>
                  <a:schemeClr val="accent1"/>
                </a:solidFill>
              </a:rPr>
              <a:t>];</a:t>
            </a:r>
          </a:p>
          <a:p>
            <a:br>
              <a:rPr lang="en-US" sz="2000" dirty="0"/>
            </a:br>
            <a:r>
              <a:rPr lang="en-US" sz="2000" dirty="0"/>
              <a:t>            L4: for(int k = 0; k &lt; 16; k++)</a:t>
            </a:r>
          </a:p>
          <a:p>
            <a:r>
              <a:rPr lang="en-US" sz="2000" dirty="0"/>
              <a:t>                </a:t>
            </a:r>
            <a:r>
              <a:rPr lang="en-US" sz="2000" b="1" dirty="0">
                <a:solidFill>
                  <a:schemeClr val="accent1"/>
                </a:solidFill>
              </a:rPr>
              <a:t>sum[i] += </a:t>
            </a:r>
            <a:r>
              <a:rPr lang="en-US" sz="2000" b="1" dirty="0" err="1">
                <a:solidFill>
                  <a:schemeClr val="accent1"/>
                </a:solidFill>
              </a:rPr>
              <a:t>sum_local</a:t>
            </a:r>
            <a:r>
              <a:rPr lang="en-US" sz="2000" b="1" dirty="0">
                <a:solidFill>
                  <a:schemeClr val="accent1"/>
                </a:solidFill>
              </a:rPr>
              <a:t>[k];</a:t>
            </a:r>
          </a:p>
          <a:p>
            <a:r>
              <a:rPr lang="en-US" sz="2000" dirty="0"/>
              <a:t>}}}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3CFB43-C004-450A-8B0C-BBEE79B2955C}"/>
              </a:ext>
            </a:extLst>
          </p:cNvPr>
          <p:cNvSpPr txBox="1"/>
          <p:nvPr/>
        </p:nvSpPr>
        <p:spPr>
          <a:xfrm>
            <a:off x="6696226" y="3418449"/>
            <a:ext cx="5437158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ysDash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Consolas" panose="020B0609020204030204" pitchFamily="49" charset="0"/>
              </a:defRPr>
            </a:lvl1pPr>
          </a:lstStyle>
          <a:p>
            <a:r>
              <a:rPr lang="en-US" sz="1800" dirty="0"/>
              <a:t>L3: for(int </a:t>
            </a:r>
            <a:r>
              <a:rPr lang="en-US" sz="1800" dirty="0" err="1"/>
              <a:t>jj</a:t>
            </a:r>
            <a:r>
              <a:rPr lang="en-US" sz="1800" dirty="0"/>
              <a:t> = 0; </a:t>
            </a:r>
            <a:r>
              <a:rPr lang="en-US" sz="1800" dirty="0" err="1"/>
              <a:t>jj</a:t>
            </a:r>
            <a:r>
              <a:rPr lang="en-US" sz="1800" dirty="0"/>
              <a:t> &lt; 16; </a:t>
            </a:r>
            <a:r>
              <a:rPr lang="en-US" sz="1800" dirty="0" err="1"/>
              <a:t>jj</a:t>
            </a:r>
            <a:r>
              <a:rPr lang="en-US" sz="1800" dirty="0"/>
              <a:t>++)</a:t>
            </a:r>
          </a:p>
          <a:p>
            <a:r>
              <a:rPr lang="en-US" sz="1800" dirty="0"/>
              <a:t>	sum[i] += A[i][j + </a:t>
            </a:r>
            <a:r>
              <a:rPr lang="en-US" sz="1800" dirty="0" err="1"/>
              <a:t>jj</a:t>
            </a:r>
            <a:r>
              <a:rPr lang="en-US" sz="1800" dirty="0"/>
              <a:t>] * B[i][j + </a:t>
            </a:r>
            <a:r>
              <a:rPr lang="en-US" sz="1800" dirty="0" err="1"/>
              <a:t>jj</a:t>
            </a:r>
            <a:r>
              <a:rPr lang="en-US" sz="1800" dirty="0"/>
              <a:t>];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01F31B-4CDA-4949-985D-D5473527A63D}"/>
              </a:ext>
            </a:extLst>
          </p:cNvPr>
          <p:cNvCxnSpPr>
            <a:cxnSpLocks/>
          </p:cNvCxnSpPr>
          <p:nvPr/>
        </p:nvCxnSpPr>
        <p:spPr>
          <a:xfrm>
            <a:off x="8335108" y="4157005"/>
            <a:ext cx="0" cy="344657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F0B512-5456-45D3-AD98-5EAFC02EDF0C}"/>
              </a:ext>
            </a:extLst>
          </p:cNvPr>
          <p:cNvSpPr txBox="1"/>
          <p:nvPr/>
        </p:nvSpPr>
        <p:spPr>
          <a:xfrm>
            <a:off x="7129408" y="4945418"/>
            <a:ext cx="4699910" cy="10333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3200" dirty="0">
                <a:latin typeface="Aptos Display" panose="020B0004020202020204" pitchFamily="34" charset="0"/>
              </a:rPr>
              <a:t>Use a partitioned local buffer (registers)</a:t>
            </a:r>
          </a:p>
        </p:txBody>
      </p:sp>
    </p:spTree>
    <p:extLst>
      <p:ext uri="{BB962C8B-B14F-4D97-AF65-F5344CB8AC3E}">
        <p14:creationId xmlns:p14="http://schemas.microsoft.com/office/powerpoint/2010/main" val="13437832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FFD69E-992A-4FC4-9300-09179DB9F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Seems that HLS is smart enough to build an efficient adder tree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D850E-587E-45E1-BC9C-A4B0C654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6F500F-7B91-4759-B384-0391B20B3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This is the schedule after II Violation Resolved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1B528-6169-4FA0-9650-ED33CC33E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33" y="1759524"/>
            <a:ext cx="11400566" cy="441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0569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B1993B-BA1D-7766-D0F4-ECF09DD1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75D270-95C6-1D35-014A-039CA323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Partial Unroll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8308D-326B-6E34-FBA1-FA868DB653D2}"/>
              </a:ext>
            </a:extLst>
          </p:cNvPr>
          <p:cNvSpPr txBox="1"/>
          <p:nvPr/>
        </p:nvSpPr>
        <p:spPr>
          <a:xfrm>
            <a:off x="1062632" y="1534211"/>
            <a:ext cx="3766543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for(int i = 0; i &lt; 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 i++)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solidFill>
                  <a:srgbClr val="444444"/>
                </a:solidFill>
                <a:latin typeface="Consolas" panose="020B0609020204030204" pitchFamily="49" charset="0"/>
              </a:rPr>
              <a:t>#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pragma HLS unroll </a:t>
            </a:r>
            <a:r>
              <a:rPr lang="en-US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complete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   a[i] = b[i] + c[i];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D0094-5B5E-7164-0D83-AE35E83CCAF2}"/>
              </a:ext>
            </a:extLst>
          </p:cNvPr>
          <p:cNvSpPr txBox="1"/>
          <p:nvPr/>
        </p:nvSpPr>
        <p:spPr>
          <a:xfrm>
            <a:off x="6544269" y="1534211"/>
            <a:ext cx="4010024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for(int i = 0; i &lt; </a:t>
            </a:r>
            <a:r>
              <a:rPr lang="en-US" b="0" i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; i++)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dirty="0">
                <a:solidFill>
                  <a:srgbClr val="444444"/>
                </a:solidFill>
                <a:latin typeface="Consolas" panose="020B0609020204030204" pitchFamily="49" charset="0"/>
              </a:rPr>
              <a:t>#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pragma HLS unroll </a:t>
            </a:r>
            <a:r>
              <a:rPr lang="en-US" b="0" i="0" dirty="0">
                <a:solidFill>
                  <a:srgbClr val="397300"/>
                </a:solidFill>
                <a:effectLst/>
                <a:latin typeface="Consolas" panose="020B0609020204030204" pitchFamily="49" charset="0"/>
              </a:rPr>
              <a:t>factor</a:t>
            </a:r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=2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    a[i] = b[i] + c[i]; </a:t>
            </a:r>
          </a:p>
          <a:p>
            <a:r>
              <a:rPr lang="en-US" b="0" i="0" dirty="0">
                <a:solidFill>
                  <a:srgbClr val="44444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53CF0E-63C7-B7B6-EE3B-76E0EFBD03AC}"/>
              </a:ext>
            </a:extLst>
          </p:cNvPr>
          <p:cNvSpPr txBox="1"/>
          <p:nvPr/>
        </p:nvSpPr>
        <p:spPr>
          <a:xfrm>
            <a:off x="595948" y="3011539"/>
            <a:ext cx="4699910" cy="1033352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X</a:t>
            </a:r>
            <a:r>
              <a:rPr lang="en-US" sz="2400" b="0" dirty="0">
                <a:latin typeface="Aptos Display" panose="020B0004020202020204" pitchFamily="34" charset="0"/>
              </a:rPr>
              <a:t> must be known at compile time</a:t>
            </a:r>
          </a:p>
          <a:p>
            <a:r>
              <a:rPr lang="en-US" sz="2400" b="0" dirty="0">
                <a:latin typeface="Aptos Display" panose="020B0004020202020204" pitchFamily="34" charset="0"/>
              </a:rPr>
              <a:t>Why?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42100F-527F-9F41-1FBD-6E5A0704F145}"/>
              </a:ext>
            </a:extLst>
          </p:cNvPr>
          <p:cNvSpPr txBox="1"/>
          <p:nvPr/>
        </p:nvSpPr>
        <p:spPr>
          <a:xfrm>
            <a:off x="6096000" y="3011539"/>
            <a:ext cx="4699910" cy="1033352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X</a:t>
            </a:r>
            <a:r>
              <a:rPr lang="en-US" sz="2400" b="0" dirty="0">
                <a:latin typeface="Aptos Display" panose="020B0004020202020204" pitchFamily="34" charset="0"/>
              </a:rPr>
              <a:t> can be unknown at compile time</a:t>
            </a:r>
          </a:p>
          <a:p>
            <a:r>
              <a:rPr lang="en-US" sz="2400" b="0" dirty="0">
                <a:latin typeface="Aptos Display" panose="020B0004020202020204" pitchFamily="34" charset="0"/>
              </a:rPr>
              <a:t>Why?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DDC1C-9073-A505-0A46-9A629B02DF0D}"/>
              </a:ext>
            </a:extLst>
          </p:cNvPr>
          <p:cNvSpPr txBox="1"/>
          <p:nvPr/>
        </p:nvSpPr>
        <p:spPr>
          <a:xfrm>
            <a:off x="6544269" y="4134433"/>
            <a:ext cx="4010024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0" i="0">
                <a:solidFill>
                  <a:srgbClr val="444444"/>
                </a:solidFill>
                <a:effectLst/>
                <a:latin typeface="Consolas" panose="020B0609020204030204" pitchFamily="49" charset="0"/>
              </a:defRPr>
            </a:lvl1pPr>
          </a:lstStyle>
          <a:p>
            <a:r>
              <a:rPr lang="nn-NO" dirty="0"/>
              <a:t>for(int i = 0; i &lt; X; i += 2) </a:t>
            </a:r>
          </a:p>
          <a:p>
            <a:r>
              <a:rPr lang="nn-NO" dirty="0"/>
              <a:t>{ </a:t>
            </a:r>
          </a:p>
          <a:p>
            <a:r>
              <a:rPr lang="nn-NO" dirty="0"/>
              <a:t>    a[i] = b[i] + c[i]; </a:t>
            </a:r>
          </a:p>
          <a:p>
            <a:r>
              <a:rPr lang="nn-NO" dirty="0"/>
              <a:t>    if (i+1 &gt;= X) break; </a:t>
            </a:r>
          </a:p>
          <a:p>
            <a:r>
              <a:rPr lang="nn-NO" dirty="0"/>
              <a:t>    a[i+1] = b[i+1] + c[i+1]; </a:t>
            </a:r>
          </a:p>
          <a:p>
            <a:r>
              <a:rPr lang="nn-NO" dirty="0"/>
              <a:t>}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39218-4524-D089-2DD0-09048ECED2D0}"/>
              </a:ext>
            </a:extLst>
          </p:cNvPr>
          <p:cNvSpPr txBox="1"/>
          <p:nvPr/>
        </p:nvSpPr>
        <p:spPr>
          <a:xfrm>
            <a:off x="6199326" y="5822156"/>
            <a:ext cx="4699910" cy="523586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b="0" dirty="0">
                <a:solidFill>
                  <a:schemeClr val="tx1"/>
                </a:solidFill>
                <a:latin typeface="Aptos Display" panose="020B0004020202020204" pitchFamily="34" charset="0"/>
              </a:rPr>
              <a:t>HLS can add a condition check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179B0D-337A-1523-55C1-1BD779CD59DC}"/>
              </a:ext>
            </a:extLst>
          </p:cNvPr>
          <p:cNvSpPr txBox="1"/>
          <p:nvPr/>
        </p:nvSpPr>
        <p:spPr>
          <a:xfrm>
            <a:off x="855463" y="4283720"/>
            <a:ext cx="4495206" cy="1455751"/>
          </a:xfrm>
          <a:prstGeom prst="rect">
            <a:avLst/>
          </a:prstGeom>
          <a:noFill/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  <a:latin typeface="Aptos Display" panose="020B0004020202020204" pitchFamily="34" charset="0"/>
              </a:rPr>
              <a:t>Question: </a:t>
            </a:r>
            <a:r>
              <a:rPr lang="en-US" sz="2400" b="0" dirty="0">
                <a:solidFill>
                  <a:schemeClr val="tx1"/>
                </a:solidFill>
                <a:latin typeface="Aptos Display" panose="020B0004020202020204" pitchFamily="34" charset="0"/>
              </a:rPr>
              <a:t>Does this mean partial unroll can replace loop tiling?</a:t>
            </a:r>
          </a:p>
        </p:txBody>
      </p:sp>
    </p:spTree>
    <p:extLst>
      <p:ext uri="{BB962C8B-B14F-4D97-AF65-F5344CB8AC3E}">
        <p14:creationId xmlns:p14="http://schemas.microsoft.com/office/powerpoint/2010/main" val="1467522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0460-1293-D67F-2D61-661E60C8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046E5-4DCF-843C-D083-81BC0530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FB0BA0-785C-0BD4-2163-91526112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Tiling </a:t>
            </a:r>
            <a:r>
              <a:rPr lang="en-US" dirty="0" err="1"/>
              <a:t>v.s</a:t>
            </a:r>
            <a:r>
              <a:rPr lang="en-US" dirty="0"/>
              <a:t>. Partial Unroll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9EF543A-9409-3CE8-C533-A8A5F9BB2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62442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When to use which?</a:t>
            </a:r>
            <a:endParaRPr lang="en-US" sz="2400" dirty="0">
              <a:solidFill>
                <a:schemeClr val="accent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31E67F3-69E5-09B0-EA8E-A31FD0DA5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9526232"/>
              </p:ext>
            </p:extLst>
          </p:nvPr>
        </p:nvGraphicFramePr>
        <p:xfrm>
          <a:off x="1487806" y="1934104"/>
          <a:ext cx="9629775" cy="405963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6305">
                  <a:extLst>
                    <a:ext uri="{9D8B030D-6E8A-4147-A177-3AD203B41FA5}">
                      <a16:colId xmlns:a16="http://schemas.microsoft.com/office/drawing/2014/main" val="2619247635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321579749"/>
                    </a:ext>
                  </a:extLst>
                </a:gridCol>
                <a:gridCol w="3126735">
                  <a:extLst>
                    <a:ext uri="{9D8B030D-6E8A-4147-A177-3AD203B41FA5}">
                      <a16:colId xmlns:a16="http://schemas.microsoft.com/office/drawing/2014/main" val="1173702964"/>
                    </a:ext>
                  </a:extLst>
                </a:gridCol>
              </a:tblGrid>
              <a:tr h="48638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Loop Tiling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Partial Unroll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632658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# of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Can tile nested loops</a:t>
                      </a:r>
                    </a:p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(e.g., processing a tensor)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Single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085295"/>
                  </a:ext>
                </a:extLst>
              </a:tr>
              <a:tr h="48638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Memory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Can optimize memory access pattern</a:t>
                      </a:r>
                    </a:p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(e.g., load a smaller tensor)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Do not optimize 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098609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Across-iteration accumulation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Can address accumulations (as in previous example)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Aptos Display" panose="020B0004020202020204" pitchFamily="34" charset="0"/>
                          <a:ea typeface="+mn-ea"/>
                          <a:cs typeface="+mn-cs"/>
                        </a:rPr>
                        <a:t>Cannot address accumulations</a:t>
                      </a:r>
                      <a:endParaRPr lang="en-US" sz="20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354696"/>
                  </a:ext>
                </a:extLst>
              </a:tr>
              <a:tr h="860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Together with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ptos Display" panose="020B0004020202020204" pitchFamily="34" charset="0"/>
                        </a:rPr>
                        <a:t>Pipeline will override partial unroll and change to complete unroll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121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1514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C843E4-E4F5-4C3F-86F2-AA806F203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dirty="0"/>
              <a:t>Initial Interval (II) Violation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Pipeline and Unroll over Functions</a:t>
            </a:r>
          </a:p>
          <a:p>
            <a:pPr>
              <a:lnSpc>
                <a:spcPct val="120000"/>
              </a:lnSpc>
            </a:pPr>
            <a:r>
              <a:rPr lang="en-US" altLang="zh-CN" sz="2800" dirty="0"/>
              <a:t>Loop-carried Dependency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Loop Tiling and Partial Unroll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1"/>
                </a:solidFill>
              </a:rPr>
              <a:t>Loop Fusion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Parallel loops fused into single loop</a:t>
            </a:r>
          </a:p>
          <a:p>
            <a:pPr lvl="1">
              <a:lnSpc>
                <a:spcPct val="120000"/>
              </a:lnSpc>
            </a:pPr>
            <a:r>
              <a:rPr lang="en-US" altLang="zh-CN" dirty="0"/>
              <a:t>Wrap loops into functions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819D5A-1868-4E0F-BF6E-7129C54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486C48-B3C5-418A-B823-206BFA71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Loop Optimizations</a:t>
            </a:r>
          </a:p>
        </p:txBody>
      </p:sp>
    </p:spTree>
    <p:extLst>
      <p:ext uri="{BB962C8B-B14F-4D97-AF65-F5344CB8AC3E}">
        <p14:creationId xmlns:p14="http://schemas.microsoft.com/office/powerpoint/2010/main" val="2226243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4B04CD-003C-43A3-A14E-DD302036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6"/>
            <a:ext cx="11486417" cy="805956"/>
          </a:xfrm>
        </p:spPr>
        <p:txBody>
          <a:bodyPr>
            <a:normAutofit/>
          </a:bodyPr>
          <a:lstStyle/>
          <a:p>
            <a:r>
              <a:rPr lang="en-US" sz="3200" dirty="0"/>
              <a:t>When we have multiple loops, and they are independent: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522416-47D4-462B-8C4A-9833CFE8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8C755FD-1DBF-430F-9816-C9B0DF28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Loop Fusion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44094-7772-41E9-90B6-BCB8350974E1}"/>
              </a:ext>
            </a:extLst>
          </p:cNvPr>
          <p:cNvSpPr txBox="1"/>
          <p:nvPr/>
        </p:nvSpPr>
        <p:spPr>
          <a:xfrm>
            <a:off x="677154" y="3330976"/>
            <a:ext cx="4007387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/>
              <a:t>for(int i = 0; i &lt; I1; i++)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Do_Homework</a:t>
            </a:r>
            <a:r>
              <a:rPr lang="en-US" sz="2000" dirty="0"/>
              <a:t>(i);</a:t>
            </a:r>
          </a:p>
          <a:p>
            <a:endParaRPr lang="en-US" sz="2000" dirty="0"/>
          </a:p>
          <a:p>
            <a:r>
              <a:rPr lang="en-US" sz="2000" dirty="0"/>
              <a:t>for(int j = 0; j &lt; I2; </a:t>
            </a:r>
            <a:r>
              <a:rPr lang="en-US" sz="2000" dirty="0" err="1"/>
              <a:t>j++</a:t>
            </a:r>
            <a:r>
              <a:rPr lang="en-US" sz="2000" dirty="0"/>
              <a:t>)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Watch_A_Movie</a:t>
            </a:r>
            <a:r>
              <a:rPr lang="en-US" sz="2000" dirty="0"/>
              <a:t>(j);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F8C69-6DD3-43D3-A1BB-1CA5759CE00D}"/>
              </a:ext>
            </a:extLst>
          </p:cNvPr>
          <p:cNvSpPr txBox="1"/>
          <p:nvPr/>
        </p:nvSpPr>
        <p:spPr>
          <a:xfrm>
            <a:off x="5950195" y="2032782"/>
            <a:ext cx="528285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/>
              <a:t>for(int i = 0; i &lt; max(I1, I2); i++)</a:t>
            </a:r>
          </a:p>
          <a:p>
            <a:r>
              <a:rPr lang="en-US" sz="2000" dirty="0"/>
              <a:t>	if(i &lt; I1) </a:t>
            </a:r>
            <a:r>
              <a:rPr lang="en-US" sz="2000" b="1" dirty="0" err="1"/>
              <a:t>Do_Homework</a:t>
            </a:r>
            <a:r>
              <a:rPr lang="en-US" sz="2000" b="1" dirty="0"/>
              <a:t>(i)</a:t>
            </a:r>
            <a:r>
              <a:rPr lang="en-US" sz="2000" dirty="0"/>
              <a:t>;</a:t>
            </a:r>
          </a:p>
          <a:p>
            <a:r>
              <a:rPr lang="en-US" sz="2000" dirty="0"/>
              <a:t>	if(i &lt; I2) </a:t>
            </a:r>
            <a:r>
              <a:rPr lang="en-US" sz="2000" b="1" dirty="0" err="1"/>
              <a:t>Watch_A_Movie</a:t>
            </a:r>
            <a:r>
              <a:rPr lang="en-US" sz="2000" b="1" dirty="0"/>
              <a:t>(i)</a:t>
            </a:r>
            <a:r>
              <a:rPr lang="en-US" sz="2000" dirty="0"/>
              <a:t>;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6113566-286F-407D-9CFA-212553A124E9}"/>
              </a:ext>
            </a:extLst>
          </p:cNvPr>
          <p:cNvSpPr/>
          <p:nvPr/>
        </p:nvSpPr>
        <p:spPr>
          <a:xfrm>
            <a:off x="10467828" y="2397738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2B146F-D64B-4045-8652-63F41EC23467}"/>
              </a:ext>
            </a:extLst>
          </p:cNvPr>
          <p:cNvSpPr/>
          <p:nvPr/>
        </p:nvSpPr>
        <p:spPr>
          <a:xfrm>
            <a:off x="10467828" y="2723091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9BC0F7-C4D4-4D13-83CC-6A3EB563FE57}"/>
              </a:ext>
            </a:extLst>
          </p:cNvPr>
          <p:cNvSpPr txBox="1"/>
          <p:nvPr/>
        </p:nvSpPr>
        <p:spPr>
          <a:xfrm>
            <a:off x="5430130" y="3877663"/>
            <a:ext cx="614758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Consolas" panose="020B0609020204030204" pitchFamily="49" charset="0"/>
              </a:defRPr>
            </a:lvl1pPr>
          </a:lstStyle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// definition</a:t>
            </a:r>
          </a:p>
          <a:p>
            <a:r>
              <a:rPr lang="en-US" sz="2000" dirty="0" err="1"/>
              <a:t>Do_Homework_Wrapper</a:t>
            </a:r>
            <a:r>
              <a:rPr lang="en-US" sz="2000" dirty="0"/>
              <a:t>() { </a:t>
            </a:r>
            <a:r>
              <a:rPr lang="en-US" sz="2000" dirty="0" err="1"/>
              <a:t>first_for_loop</a:t>
            </a:r>
            <a:r>
              <a:rPr lang="en-US" sz="2000" dirty="0"/>
              <a:t>}</a:t>
            </a:r>
          </a:p>
          <a:p>
            <a:r>
              <a:rPr lang="en-US" sz="2000" dirty="0" err="1"/>
              <a:t>Watch_A_Movie_Wrapper</a:t>
            </a:r>
            <a:r>
              <a:rPr lang="en-US" sz="2000" dirty="0"/>
              <a:t>() { </a:t>
            </a:r>
            <a:r>
              <a:rPr lang="en-US" sz="2000" dirty="0" err="1"/>
              <a:t>second_for_loop</a:t>
            </a:r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// function call</a:t>
            </a:r>
          </a:p>
          <a:p>
            <a:r>
              <a:rPr lang="en-US" sz="2000" b="1" dirty="0" err="1"/>
              <a:t>Do_Homework_Wrapper</a:t>
            </a:r>
            <a:r>
              <a:rPr lang="en-US" sz="2000" b="1" dirty="0"/>
              <a:t>();</a:t>
            </a:r>
          </a:p>
          <a:p>
            <a:r>
              <a:rPr lang="en-US" sz="2000" b="1" dirty="0" err="1"/>
              <a:t>Watch_A_Movie_Wrapper</a:t>
            </a:r>
            <a:r>
              <a:rPr lang="en-US" sz="2000" b="1" dirty="0"/>
              <a:t>();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E4A56E6-432D-4A06-8E2F-F02D44E86213}"/>
              </a:ext>
            </a:extLst>
          </p:cNvPr>
          <p:cNvSpPr/>
          <p:nvPr/>
        </p:nvSpPr>
        <p:spPr>
          <a:xfrm>
            <a:off x="8974308" y="5448082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0E02733-E37C-44A6-9466-793A43431474}"/>
              </a:ext>
            </a:extLst>
          </p:cNvPr>
          <p:cNvSpPr/>
          <p:nvPr/>
        </p:nvSpPr>
        <p:spPr>
          <a:xfrm>
            <a:off x="8974308" y="5773435"/>
            <a:ext cx="285750" cy="285750"/>
          </a:xfrm>
          <a:custGeom>
            <a:avLst/>
            <a:gdLst>
              <a:gd name="connsiteX0" fmla="*/ 142875 w 285750"/>
              <a:gd name="connsiteY0" fmla="*/ 0 h 285750"/>
              <a:gd name="connsiteX1" fmla="*/ 0 w 285750"/>
              <a:gd name="connsiteY1" fmla="*/ 142875 h 285750"/>
              <a:gd name="connsiteX2" fmla="*/ 142875 w 285750"/>
              <a:gd name="connsiteY2" fmla="*/ 285750 h 285750"/>
              <a:gd name="connsiteX3" fmla="*/ 285750 w 285750"/>
              <a:gd name="connsiteY3" fmla="*/ 142875 h 285750"/>
              <a:gd name="connsiteX4" fmla="*/ 142875 w 285750"/>
              <a:gd name="connsiteY4" fmla="*/ 0 h 285750"/>
              <a:gd name="connsiteX5" fmla="*/ 114300 w 285750"/>
              <a:gd name="connsiteY5" fmla="*/ 210703 h 285750"/>
              <a:gd name="connsiteX6" fmla="*/ 47044 w 285750"/>
              <a:gd name="connsiteY6" fmla="*/ 143456 h 285750"/>
              <a:gd name="connsiteX7" fmla="*/ 67256 w 285750"/>
              <a:gd name="connsiteY7" fmla="*/ 123244 h 285750"/>
              <a:gd name="connsiteX8" fmla="*/ 114300 w 285750"/>
              <a:gd name="connsiteY8" fmla="*/ 170297 h 285750"/>
              <a:gd name="connsiteX9" fmla="*/ 208969 w 285750"/>
              <a:gd name="connsiteY9" fmla="*/ 75619 h 285750"/>
              <a:gd name="connsiteX10" fmla="*/ 229181 w 285750"/>
              <a:gd name="connsiteY10" fmla="*/ 95831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750" h="285750">
                <a:moveTo>
                  <a:pt x="142875" y="0"/>
                </a:moveTo>
                <a:cubicBezTo>
                  <a:pt x="63967" y="0"/>
                  <a:pt x="0" y="63967"/>
                  <a:pt x="0" y="142875"/>
                </a:cubicBezTo>
                <a:cubicBezTo>
                  <a:pt x="0" y="221783"/>
                  <a:pt x="63967" y="285750"/>
                  <a:pt x="142875" y="285750"/>
                </a:cubicBezTo>
                <a:cubicBezTo>
                  <a:pt x="221783" y="285750"/>
                  <a:pt x="285750" y="221783"/>
                  <a:pt x="285750" y="142875"/>
                </a:cubicBezTo>
                <a:cubicBezTo>
                  <a:pt x="285750" y="63967"/>
                  <a:pt x="221783" y="0"/>
                  <a:pt x="142875" y="0"/>
                </a:cubicBezTo>
                <a:close/>
                <a:moveTo>
                  <a:pt x="114300" y="210703"/>
                </a:moveTo>
                <a:lnTo>
                  <a:pt x="47044" y="143456"/>
                </a:lnTo>
                <a:lnTo>
                  <a:pt x="67256" y="123244"/>
                </a:lnTo>
                <a:lnTo>
                  <a:pt x="114300" y="170297"/>
                </a:lnTo>
                <a:lnTo>
                  <a:pt x="208969" y="75619"/>
                </a:lnTo>
                <a:lnTo>
                  <a:pt x="229181" y="95831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F699F19-77A7-4136-96B9-2785747D255F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4102523" y="1483303"/>
            <a:ext cx="425998" cy="326934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964111F-E43F-49A0-A256-2AEE67B655AF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3842622" y="3800418"/>
            <a:ext cx="425734" cy="274928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AA422C-EBC5-4E32-B4B8-DC8BAD9202FD}"/>
              </a:ext>
            </a:extLst>
          </p:cNvPr>
          <p:cNvSpPr txBox="1"/>
          <p:nvPr/>
        </p:nvSpPr>
        <p:spPr>
          <a:xfrm>
            <a:off x="1941342" y="2308004"/>
            <a:ext cx="2989384" cy="5026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3200" dirty="0">
                <a:latin typeface="Aptos Display" panose="020B0004020202020204" pitchFamily="34" charset="0"/>
              </a:rPr>
              <a:t>Merge into one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9774EF-705E-467B-9ED6-184753F04174}"/>
              </a:ext>
            </a:extLst>
          </p:cNvPr>
          <p:cNvSpPr txBox="1"/>
          <p:nvPr/>
        </p:nvSpPr>
        <p:spPr>
          <a:xfrm>
            <a:off x="1941342" y="5504847"/>
            <a:ext cx="2989384" cy="5026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r>
              <a:rPr lang="en-US" sz="3200" dirty="0">
                <a:latin typeface="Aptos Display" panose="020B0004020202020204" pitchFamily="34" charset="0"/>
              </a:rPr>
              <a:t>Wrap them up</a:t>
            </a:r>
          </a:p>
        </p:txBody>
      </p:sp>
    </p:spTree>
    <p:extLst>
      <p:ext uri="{BB962C8B-B14F-4D97-AF65-F5344CB8AC3E}">
        <p14:creationId xmlns:p14="http://schemas.microsoft.com/office/powerpoint/2010/main" val="38636841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82135C-2F10-4C8E-8BBE-6DADEBED7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226825"/>
            <a:ext cx="11486417" cy="520914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Initial Interval (II) Violation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Can be caused by unpartitioned array, memory port limitation, repeated accumulation, true/false dependencies, etc.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Loop transform (change orders), create local buffers, etc.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Pipeline and Unroll over Functions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Loop-carried Dependency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Loop reorder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Remove false dependency</a:t>
            </a:r>
          </a:p>
          <a:p>
            <a:pPr>
              <a:lnSpc>
                <a:spcPct val="110000"/>
              </a:lnSpc>
            </a:pPr>
            <a:r>
              <a:rPr lang="en-US" dirty="0"/>
              <a:t>Loop Tiling: controlled parallelism – not too large!</a:t>
            </a:r>
          </a:p>
          <a:p>
            <a:pPr>
              <a:lnSpc>
                <a:spcPct val="110000"/>
              </a:lnSpc>
            </a:pPr>
            <a:r>
              <a:rPr lang="en-US" dirty="0"/>
              <a:t>Loop Fusion</a:t>
            </a:r>
          </a:p>
          <a:p>
            <a:pPr lvl="1">
              <a:lnSpc>
                <a:spcPct val="110000"/>
              </a:lnSpc>
            </a:pPr>
            <a:r>
              <a:rPr lang="en-US" altLang="zh-CN" dirty="0"/>
              <a:t>Parallel loops fused into single loop or wrap loops into functions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BF7331-8146-4074-B7B8-647C379B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B0814A-5891-46FA-A112-8F792CDA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– Loop Optimizations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3876A-949C-4762-A704-688742FFF7F0}"/>
              </a:ext>
            </a:extLst>
          </p:cNvPr>
          <p:cNvSpPr txBox="1"/>
          <p:nvPr/>
        </p:nvSpPr>
        <p:spPr>
          <a:xfrm>
            <a:off x="8349175" y="2725081"/>
            <a:ext cx="3480143" cy="31622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8698" tIns="138698" rIns="138698" bIns="138698" numCol="1" spcCol="1270" anchor="ctr" anchorCtr="0">
            <a:noAutofit/>
          </a:bodyPr>
          <a:lstStyle>
            <a:defPPr>
              <a:defRPr lang="en-US"/>
            </a:defPPr>
            <a:lvl1pPr algn="ctr" defTabSz="1244600">
              <a:spcBef>
                <a:spcPct val="0"/>
              </a:spcBef>
              <a:defRPr sz="2800" b="1">
                <a:latin typeface="Corbel" panose="020B0503020204020204" pitchFamily="34" charset="0"/>
                <a:ea typeface="Cambria" panose="02040503050406030204" pitchFamily="18" charset="0"/>
                <a:cs typeface="Tahoma" panose="020B0604030504040204" pitchFamily="34" charset="0"/>
              </a:defRPr>
            </a:lvl1pPr>
            <a:lvl2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2pPr>
            <a:lvl3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3pPr>
            <a:lvl4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4pPr>
            <a:lvl5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5pPr>
            <a:lvl6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6pPr>
            <a:lvl7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7pPr>
            <a:lvl8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8pPr>
            <a:lvl9pPr>
              <a:defRPr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There are many more tricks/pitfalls – I hope I can tell you all of them but impossible to enumerate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Aptos Display" panose="020B000402020202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Aptos Display" panose="020B0004020202020204" pitchFamily="34" charset="0"/>
              </a:rPr>
              <a:t>Hopefully, you can learn how to fix them on your own (Xilinx manual, etc.)</a:t>
            </a:r>
          </a:p>
        </p:txBody>
      </p:sp>
    </p:spTree>
    <p:extLst>
      <p:ext uri="{BB962C8B-B14F-4D97-AF65-F5344CB8AC3E}">
        <p14:creationId xmlns:p14="http://schemas.microsoft.com/office/powerpoint/2010/main" val="192910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Tech_PPTtemplate_2021_wide" id="{E85096BA-033B-D848-B268-A76C8AE5D2A4}" vid="{1C4A0A5B-2267-F04A-B00C-3FCDF7CFA02E}"/>
    </a:ext>
  </a:extLst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33315</TotalTime>
  <Words>4453</Words>
  <Application>Microsoft Office PowerPoint</Application>
  <PresentationFormat>Widescreen</PresentationFormat>
  <Paragraphs>627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Aptos Display</vt:lpstr>
      <vt:lpstr>Arial</vt:lpstr>
      <vt:lpstr>Calibri</vt:lpstr>
      <vt:lpstr>Consolas</vt:lpstr>
      <vt:lpstr>Corbel</vt:lpstr>
      <vt:lpstr>Courier New</vt:lpstr>
      <vt:lpstr>Roboto</vt:lpstr>
      <vt:lpstr>Wingdings</vt:lpstr>
      <vt:lpstr>Office Theme</vt:lpstr>
      <vt:lpstr>Custom Design</vt:lpstr>
      <vt:lpstr>1_Office Theme</vt:lpstr>
      <vt:lpstr>More about Loop Optimization</vt:lpstr>
      <vt:lpstr>Hardware Design with HLS</vt:lpstr>
      <vt:lpstr>Put-together: Pipeline + Unroll +Partition</vt:lpstr>
      <vt:lpstr>HLS Pragmas</vt:lpstr>
      <vt:lpstr>More HLS Resources</vt:lpstr>
      <vt:lpstr>Put-together: Pipeline + Unroll +Partition</vt:lpstr>
      <vt:lpstr>Effective Region of Unroll and Pipeline</vt:lpstr>
      <vt:lpstr>Effective Region of Unroll and Pipeline</vt:lpstr>
      <vt:lpstr>Effective Region of Unroll and Pipeline</vt:lpstr>
      <vt:lpstr>Effective Region of Unroll and Pipeline</vt:lpstr>
      <vt:lpstr>Unroll v.s. Pipeline</vt:lpstr>
      <vt:lpstr>More Loop Optimizations</vt:lpstr>
      <vt:lpstr>A very Common Error: II Violation </vt:lpstr>
      <vt:lpstr>The most important factor about pipelining</vt:lpstr>
      <vt:lpstr>Causes to II violation</vt:lpstr>
      <vt:lpstr>Causes to II violation</vt:lpstr>
      <vt:lpstr>Causes to II violation</vt:lpstr>
      <vt:lpstr>Causes to II violation</vt:lpstr>
      <vt:lpstr>More Loop Optimizations</vt:lpstr>
      <vt:lpstr>Loop-carried Dependency</vt:lpstr>
      <vt:lpstr>If True Dependency?</vt:lpstr>
      <vt:lpstr>If True Dependency with Another Dimension</vt:lpstr>
      <vt:lpstr>If False Dependency? Remove it!</vt:lpstr>
      <vt:lpstr>If False Dependency? Remove it!</vt:lpstr>
      <vt:lpstr>Summary for now</vt:lpstr>
      <vt:lpstr>More Loop Optimizations</vt:lpstr>
      <vt:lpstr>Pipeline and Unroll over Functions</vt:lpstr>
      <vt:lpstr>Pipeline over Function</vt:lpstr>
      <vt:lpstr>Unroll over Function</vt:lpstr>
      <vt:lpstr>More Loop Optimizations</vt:lpstr>
      <vt:lpstr>Loop Tiling – Controlled Parallelism</vt:lpstr>
      <vt:lpstr>Loop Tiling – Controlled Parallelism</vt:lpstr>
      <vt:lpstr>Step 1: Break into Tiles</vt:lpstr>
      <vt:lpstr>Step 2: Parallelize with one tile</vt:lpstr>
      <vt:lpstr>Step 3: Pipeline across Different Tiles</vt:lpstr>
      <vt:lpstr>[Caution!] You May Run into II Violation</vt:lpstr>
      <vt:lpstr>This is the II Violation in Vitis HLS Scheduler</vt:lpstr>
      <vt:lpstr>Resolve the II Violation</vt:lpstr>
      <vt:lpstr>This is the schedule after II Violation Resolved</vt:lpstr>
      <vt:lpstr>Loop Partial Unroll</vt:lpstr>
      <vt:lpstr>Loop Tiling v.s. Partial Unroll</vt:lpstr>
      <vt:lpstr>More Loop Optimizations</vt:lpstr>
      <vt:lpstr>Loop Fusion</vt:lpstr>
      <vt:lpstr>Summary – Loop Optimizations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Hao, Callie</cp:lastModifiedBy>
  <cp:revision>3505</cp:revision>
  <dcterms:created xsi:type="dcterms:W3CDTF">2014-06-12T21:03:18Z</dcterms:created>
  <dcterms:modified xsi:type="dcterms:W3CDTF">2026-02-03T17:51:39Z</dcterms:modified>
</cp:coreProperties>
</file>