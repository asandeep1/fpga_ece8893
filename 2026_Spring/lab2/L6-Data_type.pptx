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3"/>
  </p:notesMasterIdLst>
  <p:handoutMasterIdLst>
    <p:handoutMasterId r:id="rId44"/>
  </p:handoutMasterIdLst>
  <p:sldIdLst>
    <p:sldId id="261" r:id="rId4"/>
    <p:sldId id="1383" r:id="rId5"/>
    <p:sldId id="1470" r:id="rId6"/>
    <p:sldId id="1431" r:id="rId7"/>
    <p:sldId id="1436" r:id="rId8"/>
    <p:sldId id="1434" r:id="rId9"/>
    <p:sldId id="1466" r:id="rId10"/>
    <p:sldId id="1467" r:id="rId11"/>
    <p:sldId id="1442" r:id="rId12"/>
    <p:sldId id="1435" r:id="rId13"/>
    <p:sldId id="1462" r:id="rId14"/>
    <p:sldId id="1471" r:id="rId15"/>
    <p:sldId id="1438" r:id="rId16"/>
    <p:sldId id="1439" r:id="rId17"/>
    <p:sldId id="1444" r:id="rId18"/>
    <p:sldId id="1468" r:id="rId19"/>
    <p:sldId id="1440" r:id="rId20"/>
    <p:sldId id="1464" r:id="rId21"/>
    <p:sldId id="1443" r:id="rId22"/>
    <p:sldId id="1445" r:id="rId23"/>
    <p:sldId id="1469" r:id="rId24"/>
    <p:sldId id="1465" r:id="rId25"/>
    <p:sldId id="1446" r:id="rId26"/>
    <p:sldId id="1447" r:id="rId27"/>
    <p:sldId id="1448" r:id="rId28"/>
    <p:sldId id="1451" r:id="rId29"/>
    <p:sldId id="1450" r:id="rId30"/>
    <p:sldId id="1452" r:id="rId31"/>
    <p:sldId id="1453" r:id="rId32"/>
    <p:sldId id="1454" r:id="rId33"/>
    <p:sldId id="1455" r:id="rId34"/>
    <p:sldId id="1456" r:id="rId35"/>
    <p:sldId id="1457" r:id="rId36"/>
    <p:sldId id="1458" r:id="rId37"/>
    <p:sldId id="1459" r:id="rId38"/>
    <p:sldId id="1460" r:id="rId39"/>
    <p:sldId id="1472" r:id="rId40"/>
    <p:sldId id="1473" r:id="rId41"/>
    <p:sldId id="146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7AFF"/>
    <a:srgbClr val="FFB602"/>
    <a:srgbClr val="FFC000"/>
    <a:srgbClr val="BF9000"/>
    <a:srgbClr val="920000"/>
    <a:srgbClr val="000000"/>
    <a:srgbClr val="C00000"/>
    <a:srgbClr val="9DC3E6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DB970-CD50-4C01-93A7-6F2843CABA93}" v="20" dt="2026-02-10T16:48:42.154"/>
    <p1510:client id="{EAFC9193-DFA2-4282-B11F-86EC02A90B41}" v="1" dt="2026-02-10T16:00:18.050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35" autoAdjust="0"/>
    <p:restoredTop sz="86375" autoAdjust="0"/>
  </p:normalViewPr>
  <p:slideViewPr>
    <p:cSldViewPr snapToGrid="0">
      <p:cViewPr varScale="1">
        <p:scale>
          <a:sx n="134" d="100"/>
          <a:sy n="134" d="100"/>
        </p:scale>
        <p:origin x="3954" y="48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ie HAO" userId="3585240736_tp_dropbox_plus" providerId="OAuth2" clId="{D92016F0-DD02-46BC-B50B-2C8397356949}"/>
    <pc:docChg chg="undo custSel addSld modSld sldOrd modMainMaster">
      <pc:chgData name="Callie HAO" userId="3585240736_tp_dropbox_plus" providerId="OAuth2" clId="{D92016F0-DD02-46BC-B50B-2C8397356949}" dt="2026-02-10T16:48:54.942" v="279" actId="20577"/>
      <pc:docMkLst>
        <pc:docMk/>
      </pc:docMkLst>
      <pc:sldChg chg="addSp modSp mod">
        <pc:chgData name="Callie HAO" userId="3585240736_tp_dropbox_plus" providerId="OAuth2" clId="{D92016F0-DD02-46BC-B50B-2C8397356949}" dt="2026-02-10T16:12:13.941" v="29" actId="166"/>
        <pc:sldMkLst>
          <pc:docMk/>
          <pc:sldMk cId="2558422051" sldId="1383"/>
        </pc:sldMkLst>
        <pc:spChg chg="mod ord">
          <ac:chgData name="Callie HAO" userId="3585240736_tp_dropbox_plus" providerId="OAuth2" clId="{D92016F0-DD02-46BC-B50B-2C8397356949}" dt="2026-02-10T16:12:13.941" v="29" actId="166"/>
          <ac:spMkLst>
            <pc:docMk/>
            <pc:sldMk cId="2558422051" sldId="1383"/>
            <ac:spMk id="6" creationId="{3FB0A168-E82A-5BC1-E986-DB5264A12087}"/>
          </ac:spMkLst>
        </pc:spChg>
        <pc:spChg chg="add mod">
          <ac:chgData name="Callie HAO" userId="3585240736_tp_dropbox_plus" providerId="OAuth2" clId="{D92016F0-DD02-46BC-B50B-2C8397356949}" dt="2026-02-10T16:12:01.288" v="24" actId="14100"/>
          <ac:spMkLst>
            <pc:docMk/>
            <pc:sldMk cId="2558422051" sldId="1383"/>
            <ac:spMk id="7" creationId="{C177008A-7AF0-174F-65C9-5F6364F8AE75}"/>
          </ac:spMkLst>
        </pc:spChg>
        <pc:spChg chg="add mod">
          <ac:chgData name="Callie HAO" userId="3585240736_tp_dropbox_plus" providerId="OAuth2" clId="{D92016F0-DD02-46BC-B50B-2C8397356949}" dt="2026-02-10T16:12:06.428" v="27"/>
          <ac:spMkLst>
            <pc:docMk/>
            <pc:sldMk cId="2558422051" sldId="1383"/>
            <ac:spMk id="10" creationId="{1CB85BEA-ACEE-A1E5-7BB0-D23F8F48F0D1}"/>
          </ac:spMkLst>
        </pc:spChg>
        <pc:picChg chg="add mod">
          <ac:chgData name="Callie HAO" userId="3585240736_tp_dropbox_plus" providerId="OAuth2" clId="{D92016F0-DD02-46BC-B50B-2C8397356949}" dt="2026-02-10T16:11:56.188" v="23" actId="1076"/>
          <ac:picMkLst>
            <pc:docMk/>
            <pc:sldMk cId="2558422051" sldId="1383"/>
            <ac:picMk id="9" creationId="{160A83A0-697A-2CD9-5D22-7026DE3CDC62}"/>
          </ac:picMkLst>
        </pc:picChg>
      </pc:sldChg>
      <pc:sldChg chg="modSp mod">
        <pc:chgData name="Callie HAO" userId="3585240736_tp_dropbox_plus" providerId="OAuth2" clId="{D92016F0-DD02-46BC-B50B-2C8397356949}" dt="2026-02-10T15:47:45.795" v="2" actId="14100"/>
        <pc:sldMkLst>
          <pc:docMk/>
          <pc:sldMk cId="2877922985" sldId="1438"/>
        </pc:sldMkLst>
        <pc:spChg chg="mod">
          <ac:chgData name="Callie HAO" userId="3585240736_tp_dropbox_plus" providerId="OAuth2" clId="{D92016F0-DD02-46BC-B50B-2C8397356949}" dt="2026-02-10T15:47:45.795" v="2" actId="14100"/>
          <ac:spMkLst>
            <pc:docMk/>
            <pc:sldMk cId="2877922985" sldId="1438"/>
            <ac:spMk id="13" creationId="{6C4F5C86-0871-4BC7-87C6-8453647C244A}"/>
          </ac:spMkLst>
        </pc:spChg>
      </pc:sldChg>
      <pc:sldChg chg="modSp mod">
        <pc:chgData name="Callie HAO" userId="3585240736_tp_dropbox_plus" providerId="OAuth2" clId="{D92016F0-DD02-46BC-B50B-2C8397356949}" dt="2026-02-03T19:43:16.008" v="0" actId="27636"/>
        <pc:sldMkLst>
          <pc:docMk/>
          <pc:sldMk cId="3464068488" sldId="1439"/>
        </pc:sldMkLst>
        <pc:spChg chg="mod">
          <ac:chgData name="Callie HAO" userId="3585240736_tp_dropbox_plus" providerId="OAuth2" clId="{D92016F0-DD02-46BC-B50B-2C8397356949}" dt="2026-02-03T19:43:16.008" v="0" actId="27636"/>
          <ac:spMkLst>
            <pc:docMk/>
            <pc:sldMk cId="3464068488" sldId="1439"/>
            <ac:spMk id="8" creationId="{C9D354D0-A4AA-46FD-9E69-101FD0CEFE16}"/>
          </ac:spMkLst>
        </pc:spChg>
      </pc:sldChg>
      <pc:sldChg chg="addSp modSp mod">
        <pc:chgData name="Callie HAO" userId="3585240736_tp_dropbox_plus" providerId="OAuth2" clId="{D92016F0-DD02-46BC-B50B-2C8397356949}" dt="2026-02-10T16:00:26.892" v="15" actId="14100"/>
        <pc:sldMkLst>
          <pc:docMk/>
          <pc:sldMk cId="3879303790" sldId="1443"/>
        </pc:sldMkLst>
        <pc:spChg chg="add mod">
          <ac:chgData name="Callie HAO" userId="3585240736_tp_dropbox_plus" providerId="OAuth2" clId="{D92016F0-DD02-46BC-B50B-2C8397356949}" dt="2026-02-10T16:00:26.892" v="15" actId="14100"/>
          <ac:spMkLst>
            <pc:docMk/>
            <pc:sldMk cId="3879303790" sldId="1443"/>
            <ac:spMk id="7" creationId="{123730F7-445C-AF26-5694-45A31CD3B1E8}"/>
          </ac:spMkLst>
        </pc:spChg>
      </pc:sldChg>
      <pc:sldChg chg="addSp delSp mod">
        <pc:chgData name="Callie HAO" userId="3585240736_tp_dropbox_plus" providerId="OAuth2" clId="{D92016F0-DD02-46BC-B50B-2C8397356949}" dt="2026-02-10T16:46:05.081" v="241" actId="22"/>
        <pc:sldMkLst>
          <pc:docMk/>
          <pc:sldMk cId="717933578" sldId="1460"/>
        </pc:sldMkLst>
        <pc:spChg chg="add del">
          <ac:chgData name="Callie HAO" userId="3585240736_tp_dropbox_plus" providerId="OAuth2" clId="{D92016F0-DD02-46BC-B50B-2C8397356949}" dt="2026-02-10T16:46:05.081" v="241" actId="22"/>
          <ac:spMkLst>
            <pc:docMk/>
            <pc:sldMk cId="717933578" sldId="1460"/>
            <ac:spMk id="5" creationId="{B97AA034-91C5-C291-D9D3-15A154FBEDFF}"/>
          </ac:spMkLst>
        </pc:spChg>
      </pc:sldChg>
      <pc:sldChg chg="modSp mod">
        <pc:chgData name="Callie HAO" userId="3585240736_tp_dropbox_plus" providerId="OAuth2" clId="{D92016F0-DD02-46BC-B50B-2C8397356949}" dt="2026-02-03T19:43:16.018" v="1" actId="27636"/>
        <pc:sldMkLst>
          <pc:docMk/>
          <pc:sldMk cId="3384574270" sldId="1464"/>
        </pc:sldMkLst>
        <pc:spChg chg="mod">
          <ac:chgData name="Callie HAO" userId="3585240736_tp_dropbox_plus" providerId="OAuth2" clId="{D92016F0-DD02-46BC-B50B-2C8397356949}" dt="2026-02-03T19:43:16.018" v="1" actId="27636"/>
          <ac:spMkLst>
            <pc:docMk/>
            <pc:sldMk cId="3384574270" sldId="1464"/>
            <ac:spMk id="10" creationId="{0A26E75E-13C6-49BB-AE92-18F6DE059A2F}"/>
          </ac:spMkLst>
        </pc:spChg>
      </pc:sldChg>
      <pc:sldChg chg="modSp mod">
        <pc:chgData name="Callie HAO" userId="3585240736_tp_dropbox_plus" providerId="OAuth2" clId="{D92016F0-DD02-46BC-B50B-2C8397356949}" dt="2026-02-10T15:49:16.081" v="5" actId="403"/>
        <pc:sldMkLst>
          <pc:docMk/>
          <pc:sldMk cId="2735457853" sldId="1468"/>
        </pc:sldMkLst>
        <pc:spChg chg="mod">
          <ac:chgData name="Callie HAO" userId="3585240736_tp_dropbox_plus" providerId="OAuth2" clId="{D92016F0-DD02-46BC-B50B-2C8397356949}" dt="2026-02-10T15:49:16.081" v="5" actId="403"/>
          <ac:spMkLst>
            <pc:docMk/>
            <pc:sldMk cId="2735457853" sldId="1468"/>
            <ac:spMk id="8" creationId="{3883B268-1A2D-F0F7-06B8-17370A538DA4}"/>
          </ac:spMkLst>
        </pc:spChg>
      </pc:sldChg>
      <pc:sldChg chg="modSp mod ord">
        <pc:chgData name="Callie HAO" userId="3585240736_tp_dropbox_plus" providerId="OAuth2" clId="{D92016F0-DD02-46BC-B50B-2C8397356949}" dt="2026-02-10T16:34:44.313" v="239" actId="1076"/>
        <pc:sldMkLst>
          <pc:docMk/>
          <pc:sldMk cId="1661572672" sldId="1469"/>
        </pc:sldMkLst>
        <pc:spChg chg="mod">
          <ac:chgData name="Callie HAO" userId="3585240736_tp_dropbox_plus" providerId="OAuth2" clId="{D92016F0-DD02-46BC-B50B-2C8397356949}" dt="2026-02-10T16:34:26.638" v="238" actId="20577"/>
          <ac:spMkLst>
            <pc:docMk/>
            <pc:sldMk cId="1661572672" sldId="1469"/>
            <ac:spMk id="2" creationId="{FDFECF0B-72C3-5B12-0ACE-4BFD1F726D57}"/>
          </ac:spMkLst>
        </pc:spChg>
        <pc:spChg chg="mod">
          <ac:chgData name="Callie HAO" userId="3585240736_tp_dropbox_plus" providerId="OAuth2" clId="{D92016F0-DD02-46BC-B50B-2C8397356949}" dt="2026-02-10T16:33:39.264" v="203" actId="20577"/>
          <ac:spMkLst>
            <pc:docMk/>
            <pc:sldMk cId="1661572672" sldId="1469"/>
            <ac:spMk id="4" creationId="{B0DD88B5-E187-C239-928D-D42A63DAEE60}"/>
          </ac:spMkLst>
        </pc:spChg>
        <pc:spChg chg="mod">
          <ac:chgData name="Callie HAO" userId="3585240736_tp_dropbox_plus" providerId="OAuth2" clId="{D92016F0-DD02-46BC-B50B-2C8397356949}" dt="2026-02-10T16:34:44.313" v="239" actId="1076"/>
          <ac:spMkLst>
            <pc:docMk/>
            <pc:sldMk cId="1661572672" sldId="1469"/>
            <ac:spMk id="6" creationId="{6734B0C4-8FBA-EE5D-893B-962D9DFD0489}"/>
          </ac:spMkLst>
        </pc:spChg>
      </pc:sldChg>
      <pc:sldChg chg="modSp new mod">
        <pc:chgData name="Callie HAO" userId="3585240736_tp_dropbox_plus" providerId="OAuth2" clId="{D92016F0-DD02-46BC-B50B-2C8397356949}" dt="2026-02-10T16:20:04.279" v="69" actId="113"/>
        <pc:sldMkLst>
          <pc:docMk/>
          <pc:sldMk cId="3393493865" sldId="1470"/>
        </pc:sldMkLst>
        <pc:spChg chg="mod">
          <ac:chgData name="Callie HAO" userId="3585240736_tp_dropbox_plus" providerId="OAuth2" clId="{D92016F0-DD02-46BC-B50B-2C8397356949}" dt="2026-02-10T16:20:04.279" v="69" actId="113"/>
          <ac:spMkLst>
            <pc:docMk/>
            <pc:sldMk cId="3393493865" sldId="1470"/>
            <ac:spMk id="2" creationId="{6E093A71-1586-641E-0D28-6DC10B9E76F9}"/>
          </ac:spMkLst>
        </pc:spChg>
        <pc:spChg chg="mod">
          <ac:chgData name="Callie HAO" userId="3585240736_tp_dropbox_plus" providerId="OAuth2" clId="{D92016F0-DD02-46BC-B50B-2C8397356949}" dt="2026-02-10T16:19:34.163" v="57" actId="20577"/>
          <ac:spMkLst>
            <pc:docMk/>
            <pc:sldMk cId="3393493865" sldId="1470"/>
            <ac:spMk id="4" creationId="{AB1B587E-F715-8565-4A7E-EABDA167E4A2}"/>
          </ac:spMkLst>
        </pc:spChg>
      </pc:sldChg>
      <pc:sldChg chg="addSp delSp modSp new mod">
        <pc:chgData name="Callie HAO" userId="3585240736_tp_dropbox_plus" providerId="OAuth2" clId="{D92016F0-DD02-46BC-B50B-2C8397356949}" dt="2026-02-10T16:31:56.346" v="196" actId="20577"/>
        <pc:sldMkLst>
          <pc:docMk/>
          <pc:sldMk cId="1786562426" sldId="1471"/>
        </pc:sldMkLst>
        <pc:spChg chg="add del">
          <ac:chgData name="Callie HAO" userId="3585240736_tp_dropbox_plus" providerId="OAuth2" clId="{D92016F0-DD02-46BC-B50B-2C8397356949}" dt="2026-02-10T16:21:34.338" v="75"/>
          <ac:spMkLst>
            <pc:docMk/>
            <pc:sldMk cId="1786562426" sldId="1471"/>
            <ac:spMk id="2" creationId="{5A47D5EA-4308-FF78-71A5-630635C89DA8}"/>
          </ac:spMkLst>
        </pc:spChg>
        <pc:spChg chg="mod">
          <ac:chgData name="Callie HAO" userId="3585240736_tp_dropbox_plus" providerId="OAuth2" clId="{D92016F0-DD02-46BC-B50B-2C8397356949}" dt="2026-02-10T16:20:52.150" v="72" actId="27636"/>
          <ac:spMkLst>
            <pc:docMk/>
            <pc:sldMk cId="1786562426" sldId="1471"/>
            <ac:spMk id="4" creationId="{0D8C4A61-0C61-3652-FF64-A91EE11A0BDC}"/>
          </ac:spMkLst>
        </pc:spChg>
        <pc:spChg chg="add mod">
          <ac:chgData name="Callie HAO" userId="3585240736_tp_dropbox_plus" providerId="OAuth2" clId="{D92016F0-DD02-46BC-B50B-2C8397356949}" dt="2026-02-10T16:21:30.728" v="74"/>
          <ac:spMkLst>
            <pc:docMk/>
            <pc:sldMk cId="1786562426" sldId="1471"/>
            <ac:spMk id="5" creationId="{0DBDFFAA-D4A4-C650-5144-AB4002DFA24F}"/>
          </ac:spMkLst>
        </pc:spChg>
        <pc:spChg chg="add del mod">
          <ac:chgData name="Callie HAO" userId="3585240736_tp_dropbox_plus" providerId="OAuth2" clId="{D92016F0-DD02-46BC-B50B-2C8397356949}" dt="2026-02-10T16:22:24.171" v="91"/>
          <ac:spMkLst>
            <pc:docMk/>
            <pc:sldMk cId="1786562426" sldId="1471"/>
            <ac:spMk id="8" creationId="{38B4C624-7704-E651-344F-10EB93DBCD3B}"/>
          </ac:spMkLst>
        </pc:spChg>
        <pc:spChg chg="add mod">
          <ac:chgData name="Callie HAO" userId="3585240736_tp_dropbox_plus" providerId="OAuth2" clId="{D92016F0-DD02-46BC-B50B-2C8397356949}" dt="2026-02-10T16:24:58.314" v="107" actId="14100"/>
          <ac:spMkLst>
            <pc:docMk/>
            <pc:sldMk cId="1786562426" sldId="1471"/>
            <ac:spMk id="9" creationId="{6D824998-6D8E-AE80-92C1-ABB86B2D867D}"/>
          </ac:spMkLst>
        </pc:spChg>
        <pc:graphicFrameChg chg="add mod modGraphic">
          <ac:chgData name="Callie HAO" userId="3585240736_tp_dropbox_plus" providerId="OAuth2" clId="{D92016F0-DD02-46BC-B50B-2C8397356949}" dt="2026-02-10T16:31:56.346" v="196" actId="20577"/>
          <ac:graphicFrameMkLst>
            <pc:docMk/>
            <pc:sldMk cId="1786562426" sldId="1471"/>
            <ac:graphicFrameMk id="6" creationId="{CBF61D63-4167-241E-5B86-1E5A284DCA96}"/>
          </ac:graphicFrameMkLst>
        </pc:graphicFrameChg>
      </pc:sldChg>
      <pc:sldChg chg="modSp new mod">
        <pc:chgData name="Callie HAO" userId="3585240736_tp_dropbox_plus" providerId="OAuth2" clId="{D92016F0-DD02-46BC-B50B-2C8397356949}" dt="2026-02-10T16:46:29.916" v="260" actId="20577"/>
        <pc:sldMkLst>
          <pc:docMk/>
          <pc:sldMk cId="136800243" sldId="1472"/>
        </pc:sldMkLst>
        <pc:spChg chg="mod">
          <ac:chgData name="Callie HAO" userId="3585240736_tp_dropbox_plus" providerId="OAuth2" clId="{D92016F0-DD02-46BC-B50B-2C8397356949}" dt="2026-02-10T16:46:29.916" v="260" actId="20577"/>
          <ac:spMkLst>
            <pc:docMk/>
            <pc:sldMk cId="136800243" sldId="1472"/>
            <ac:spMk id="2" creationId="{AE864A4E-D114-ED3E-00ED-B0475774A598}"/>
          </ac:spMkLst>
        </pc:spChg>
        <pc:spChg chg="mod">
          <ac:chgData name="Callie HAO" userId="3585240736_tp_dropbox_plus" providerId="OAuth2" clId="{D92016F0-DD02-46BC-B50B-2C8397356949}" dt="2026-02-10T16:46:13.373" v="247"/>
          <ac:spMkLst>
            <pc:docMk/>
            <pc:sldMk cId="136800243" sldId="1472"/>
            <ac:spMk id="4" creationId="{32824A53-9077-B952-CACA-CB2AFCF6D062}"/>
          </ac:spMkLst>
        </pc:spChg>
      </pc:sldChg>
      <pc:sldChg chg="modSp new mod">
        <pc:chgData name="Callie HAO" userId="3585240736_tp_dropbox_plus" providerId="OAuth2" clId="{D92016F0-DD02-46BC-B50B-2C8397356949}" dt="2026-02-10T16:48:54.942" v="279" actId="20577"/>
        <pc:sldMkLst>
          <pc:docMk/>
          <pc:sldMk cId="1663500197" sldId="1473"/>
        </pc:sldMkLst>
        <pc:spChg chg="mod">
          <ac:chgData name="Callie HAO" userId="3585240736_tp_dropbox_plus" providerId="OAuth2" clId="{D92016F0-DD02-46BC-B50B-2C8397356949}" dt="2026-02-10T16:48:54.942" v="279" actId="20577"/>
          <ac:spMkLst>
            <pc:docMk/>
            <pc:sldMk cId="1663500197" sldId="1473"/>
            <ac:spMk id="2" creationId="{1054F062-A2A4-F936-8AA4-314D39797A14}"/>
          </ac:spMkLst>
        </pc:spChg>
        <pc:spChg chg="mod">
          <ac:chgData name="Callie HAO" userId="3585240736_tp_dropbox_plus" providerId="OAuth2" clId="{D92016F0-DD02-46BC-B50B-2C8397356949}" dt="2026-02-10T16:48:43.351" v="268" actId="20577"/>
          <ac:spMkLst>
            <pc:docMk/>
            <pc:sldMk cId="1663500197" sldId="1473"/>
            <ac:spMk id="4" creationId="{90339D9E-7C61-07F4-25C0-2CACB44E4AAE}"/>
          </ac:spMkLst>
        </pc:spChg>
      </pc:sldChg>
      <pc:sldMasterChg chg="modSldLayout">
        <pc:chgData name="Callie HAO" userId="3585240736_tp_dropbox_plus" providerId="OAuth2" clId="{D92016F0-DD02-46BC-B50B-2C8397356949}" dt="2026-02-10T16:02:25.285" v="21" actId="14100"/>
        <pc:sldMasterMkLst>
          <pc:docMk/>
          <pc:sldMasterMk cId="3184660265" sldId="2147483680"/>
        </pc:sldMasterMkLst>
        <pc:sldLayoutChg chg="modSp mod">
          <pc:chgData name="Callie HAO" userId="3585240736_tp_dropbox_plus" providerId="OAuth2" clId="{D92016F0-DD02-46BC-B50B-2C8397356949}" dt="2026-02-10T16:02:25.285" v="21" actId="14100"/>
          <pc:sldLayoutMkLst>
            <pc:docMk/>
            <pc:sldMasterMk cId="3184660265" sldId="2147483680"/>
            <pc:sldLayoutMk cId="4239270474" sldId="2147483682"/>
          </pc:sldLayoutMkLst>
          <pc:spChg chg="mod">
            <ac:chgData name="Callie HAO" userId="3585240736_tp_dropbox_plus" providerId="OAuth2" clId="{D92016F0-DD02-46BC-B50B-2C8397356949}" dt="2026-02-10T16:02:23.302" v="20" actId="14100"/>
            <ac:spMkLst>
              <pc:docMk/>
              <pc:sldMasterMk cId="3184660265" sldId="2147483680"/>
              <pc:sldLayoutMk cId="4239270474" sldId="2147483682"/>
              <ac:spMk id="7" creationId="{C8F84CF5-63C1-475F-B006-D6DCB1C29CF7}"/>
            </ac:spMkLst>
          </pc:spChg>
          <pc:spChg chg="mod">
            <ac:chgData name="Callie HAO" userId="3585240736_tp_dropbox_plus" providerId="OAuth2" clId="{D92016F0-DD02-46BC-B50B-2C8397356949}" dt="2026-02-10T16:02:25.285" v="21" actId="14100"/>
            <ac:spMkLst>
              <pc:docMk/>
              <pc:sldMasterMk cId="3184660265" sldId="2147483680"/>
              <pc:sldLayoutMk cId="4239270474" sldId="2147483682"/>
              <ac:spMk id="16" creationId="{17831D84-8318-4BE3-8B04-5B15FD0019F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903022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2" y="6491970"/>
            <a:ext cx="3033015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3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5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23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52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776" y="893968"/>
            <a:ext cx="9227819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Data Type and Quantization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" panose="020B0004020202020204" pitchFamily="34" charset="0"/>
              </a:rPr>
              <a:t>Sharc-lab @ Georgia Tech </a:t>
            </a:r>
            <a:r>
              <a:rPr lang="en-US" sz="2000" i="1" dirty="0">
                <a:latin typeface="Aptos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168992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18707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Badge Tick1 with solid fill">
            <a:extLst>
              <a:ext uri="{FF2B5EF4-FFF2-40B4-BE49-F238E27FC236}">
                <a16:creationId xmlns:a16="http://schemas.microsoft.com/office/drawing/2014/main" id="{3E9CB576-DF46-F582-86F5-7FEC5BC5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28" y="2999848"/>
            <a:ext cx="429152" cy="4291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77008A-7AF0-174F-65C9-5F6364F8AE75}"/>
              </a:ext>
            </a:extLst>
          </p:cNvPr>
          <p:cNvSpPr/>
          <p:nvPr/>
        </p:nvSpPr>
        <p:spPr>
          <a:xfrm>
            <a:off x="765515" y="4014669"/>
            <a:ext cx="5276859" cy="1000935"/>
          </a:xfrm>
          <a:custGeom>
            <a:avLst/>
            <a:gdLst>
              <a:gd name="csX0" fmla="*/ 0 w 5276859"/>
              <a:gd name="csY0" fmla="*/ 0 h 1000935"/>
              <a:gd name="csX1" fmla="*/ 639086 w 5276859"/>
              <a:gd name="csY1" fmla="*/ 0 h 1000935"/>
              <a:gd name="csX2" fmla="*/ 1278173 w 5276859"/>
              <a:gd name="csY2" fmla="*/ 0 h 1000935"/>
              <a:gd name="csX3" fmla="*/ 1706184 w 5276859"/>
              <a:gd name="csY3" fmla="*/ 0 h 1000935"/>
              <a:gd name="csX4" fmla="*/ 2345271 w 5276859"/>
              <a:gd name="csY4" fmla="*/ 0 h 1000935"/>
              <a:gd name="csX5" fmla="*/ 2984357 w 5276859"/>
              <a:gd name="csY5" fmla="*/ 0 h 1000935"/>
              <a:gd name="csX6" fmla="*/ 3623443 w 5276859"/>
              <a:gd name="csY6" fmla="*/ 0 h 1000935"/>
              <a:gd name="csX7" fmla="*/ 4104224 w 5276859"/>
              <a:gd name="csY7" fmla="*/ 0 h 1000935"/>
              <a:gd name="csX8" fmla="*/ 4743310 w 5276859"/>
              <a:gd name="csY8" fmla="*/ 0 h 1000935"/>
              <a:gd name="csX9" fmla="*/ 5276859 w 5276859"/>
              <a:gd name="csY9" fmla="*/ 0 h 1000935"/>
              <a:gd name="csX10" fmla="*/ 5276859 w 5276859"/>
              <a:gd name="csY10" fmla="*/ 490458 h 1000935"/>
              <a:gd name="csX11" fmla="*/ 5276859 w 5276859"/>
              <a:gd name="csY11" fmla="*/ 1000935 h 1000935"/>
              <a:gd name="csX12" fmla="*/ 4637773 w 5276859"/>
              <a:gd name="csY12" fmla="*/ 1000935 h 1000935"/>
              <a:gd name="csX13" fmla="*/ 4209761 w 5276859"/>
              <a:gd name="csY13" fmla="*/ 1000935 h 1000935"/>
              <a:gd name="csX14" fmla="*/ 3517906 w 5276859"/>
              <a:gd name="csY14" fmla="*/ 1000935 h 1000935"/>
              <a:gd name="csX15" fmla="*/ 2826051 w 5276859"/>
              <a:gd name="csY15" fmla="*/ 1000935 h 1000935"/>
              <a:gd name="csX16" fmla="*/ 2398039 w 5276859"/>
              <a:gd name="csY16" fmla="*/ 1000935 h 1000935"/>
              <a:gd name="csX17" fmla="*/ 1917259 w 5276859"/>
              <a:gd name="csY17" fmla="*/ 1000935 h 1000935"/>
              <a:gd name="csX18" fmla="*/ 1278173 w 5276859"/>
              <a:gd name="csY18" fmla="*/ 1000935 h 1000935"/>
              <a:gd name="csX19" fmla="*/ 639086 w 5276859"/>
              <a:gd name="csY19" fmla="*/ 1000935 h 1000935"/>
              <a:gd name="csX20" fmla="*/ 0 w 5276859"/>
              <a:gd name="csY20" fmla="*/ 1000935 h 1000935"/>
              <a:gd name="csX21" fmla="*/ 0 w 5276859"/>
              <a:gd name="csY21" fmla="*/ 480449 h 1000935"/>
              <a:gd name="csX22" fmla="*/ 0 w 5276859"/>
              <a:gd name="csY22" fmla="*/ 0 h 10009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276859" h="1000935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80724" y="178334"/>
                  <a:pt x="5235933" y="392235"/>
                  <a:pt x="5276859" y="490458"/>
                </a:cubicBezTo>
                <a:cubicBezTo>
                  <a:pt x="5317785" y="588681"/>
                  <a:pt x="5242923" y="845866"/>
                  <a:pt x="5276859" y="1000935"/>
                </a:cubicBezTo>
                <a:cubicBezTo>
                  <a:pt x="5082621" y="1017557"/>
                  <a:pt x="4849082" y="941593"/>
                  <a:pt x="4637773" y="1000935"/>
                </a:cubicBezTo>
                <a:cubicBezTo>
                  <a:pt x="4426464" y="1060277"/>
                  <a:pt x="4375401" y="973197"/>
                  <a:pt x="4209761" y="1000935"/>
                </a:cubicBezTo>
                <a:cubicBezTo>
                  <a:pt x="4044121" y="1028673"/>
                  <a:pt x="3756659" y="966705"/>
                  <a:pt x="3517906" y="1000935"/>
                </a:cubicBezTo>
                <a:cubicBezTo>
                  <a:pt x="3279154" y="1035165"/>
                  <a:pt x="3131771" y="962284"/>
                  <a:pt x="2826051" y="1000935"/>
                </a:cubicBezTo>
                <a:cubicBezTo>
                  <a:pt x="2520331" y="1039586"/>
                  <a:pt x="2537386" y="978621"/>
                  <a:pt x="2398039" y="1000935"/>
                </a:cubicBezTo>
                <a:cubicBezTo>
                  <a:pt x="2258692" y="1023249"/>
                  <a:pt x="2016233" y="951460"/>
                  <a:pt x="1917259" y="1000935"/>
                </a:cubicBezTo>
                <a:cubicBezTo>
                  <a:pt x="1818285" y="1050410"/>
                  <a:pt x="1415910" y="949725"/>
                  <a:pt x="1278173" y="1000935"/>
                </a:cubicBezTo>
                <a:cubicBezTo>
                  <a:pt x="1140436" y="1052145"/>
                  <a:pt x="790402" y="971457"/>
                  <a:pt x="639086" y="1000935"/>
                </a:cubicBezTo>
                <a:cubicBezTo>
                  <a:pt x="487770" y="1030413"/>
                  <a:pt x="210082" y="937832"/>
                  <a:pt x="0" y="1000935"/>
                </a:cubicBezTo>
                <a:cubicBezTo>
                  <a:pt x="-7639" y="851566"/>
                  <a:pt x="34434" y="598650"/>
                  <a:pt x="0" y="480449"/>
                </a:cubicBezTo>
                <a:cubicBezTo>
                  <a:pt x="-34434" y="362248"/>
                  <a:pt x="38566" y="101151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160A83A0-697A-2CD9-5D22-7026DE3CD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3222" y="4010040"/>
            <a:ext cx="429152" cy="429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B0A168-E82A-5BC1-E986-DB5264A12087}"/>
              </a:ext>
            </a:extLst>
          </p:cNvPr>
          <p:cNvSpPr/>
          <p:nvPr/>
        </p:nvSpPr>
        <p:spPr>
          <a:xfrm>
            <a:off x="765515" y="3004477"/>
            <a:ext cx="5028066" cy="1005565"/>
          </a:xfrm>
          <a:custGeom>
            <a:avLst/>
            <a:gdLst>
              <a:gd name="csX0" fmla="*/ 0 w 5028066"/>
              <a:gd name="csY0" fmla="*/ 0 h 1005565"/>
              <a:gd name="csX1" fmla="*/ 608955 w 5028066"/>
              <a:gd name="csY1" fmla="*/ 0 h 1005565"/>
              <a:gd name="csX2" fmla="*/ 1217909 w 5028066"/>
              <a:gd name="csY2" fmla="*/ 0 h 1005565"/>
              <a:gd name="csX3" fmla="*/ 1625741 w 5028066"/>
              <a:gd name="csY3" fmla="*/ 0 h 1005565"/>
              <a:gd name="csX4" fmla="*/ 2234696 w 5028066"/>
              <a:gd name="csY4" fmla="*/ 0 h 1005565"/>
              <a:gd name="csX5" fmla="*/ 2843651 w 5028066"/>
              <a:gd name="csY5" fmla="*/ 0 h 1005565"/>
              <a:gd name="csX6" fmla="*/ 3452605 w 5028066"/>
              <a:gd name="csY6" fmla="*/ 0 h 1005565"/>
              <a:gd name="csX7" fmla="*/ 3910718 w 5028066"/>
              <a:gd name="csY7" fmla="*/ 0 h 1005565"/>
              <a:gd name="csX8" fmla="*/ 4519673 w 5028066"/>
              <a:gd name="csY8" fmla="*/ 0 h 1005565"/>
              <a:gd name="csX9" fmla="*/ 5028066 w 5028066"/>
              <a:gd name="csY9" fmla="*/ 0 h 1005565"/>
              <a:gd name="csX10" fmla="*/ 5028066 w 5028066"/>
              <a:gd name="csY10" fmla="*/ 492727 h 1005565"/>
              <a:gd name="csX11" fmla="*/ 5028066 w 5028066"/>
              <a:gd name="csY11" fmla="*/ 1005565 h 1005565"/>
              <a:gd name="csX12" fmla="*/ 4419111 w 5028066"/>
              <a:gd name="csY12" fmla="*/ 1005565 h 1005565"/>
              <a:gd name="csX13" fmla="*/ 4011279 w 5028066"/>
              <a:gd name="csY13" fmla="*/ 1005565 h 1005565"/>
              <a:gd name="csX14" fmla="*/ 3352044 w 5028066"/>
              <a:gd name="csY14" fmla="*/ 1005565 h 1005565"/>
              <a:gd name="csX15" fmla="*/ 2692809 w 5028066"/>
              <a:gd name="csY15" fmla="*/ 1005565 h 1005565"/>
              <a:gd name="csX16" fmla="*/ 2284977 w 5028066"/>
              <a:gd name="csY16" fmla="*/ 1005565 h 1005565"/>
              <a:gd name="csX17" fmla="*/ 1826864 w 5028066"/>
              <a:gd name="csY17" fmla="*/ 1005565 h 1005565"/>
              <a:gd name="csX18" fmla="*/ 1217909 w 5028066"/>
              <a:gd name="csY18" fmla="*/ 1005565 h 1005565"/>
              <a:gd name="csX19" fmla="*/ 608955 w 5028066"/>
              <a:gd name="csY19" fmla="*/ 1005565 h 1005565"/>
              <a:gd name="csX20" fmla="*/ 0 w 5028066"/>
              <a:gd name="csY20" fmla="*/ 1005565 h 1005565"/>
              <a:gd name="csX21" fmla="*/ 0 w 5028066"/>
              <a:gd name="csY21" fmla="*/ 482671 h 1005565"/>
              <a:gd name="csX22" fmla="*/ 0 w 5028066"/>
              <a:gd name="csY22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028066" h="1005565" extrusionOk="0">
                <a:moveTo>
                  <a:pt x="0" y="0"/>
                </a:moveTo>
                <a:cubicBezTo>
                  <a:pt x="294155" y="-17429"/>
                  <a:pt x="384258" y="43086"/>
                  <a:pt x="608955" y="0"/>
                </a:cubicBezTo>
                <a:cubicBezTo>
                  <a:pt x="833652" y="-43086"/>
                  <a:pt x="1092588" y="13189"/>
                  <a:pt x="1217909" y="0"/>
                </a:cubicBezTo>
                <a:cubicBezTo>
                  <a:pt x="1343230" y="-13189"/>
                  <a:pt x="1489855" y="41842"/>
                  <a:pt x="1625741" y="0"/>
                </a:cubicBezTo>
                <a:cubicBezTo>
                  <a:pt x="1761627" y="-41842"/>
                  <a:pt x="1975338" y="71546"/>
                  <a:pt x="2234696" y="0"/>
                </a:cubicBezTo>
                <a:cubicBezTo>
                  <a:pt x="2494055" y="-71546"/>
                  <a:pt x="2663877" y="64968"/>
                  <a:pt x="2843651" y="0"/>
                </a:cubicBezTo>
                <a:cubicBezTo>
                  <a:pt x="3023425" y="-64968"/>
                  <a:pt x="3260398" y="66516"/>
                  <a:pt x="3452605" y="0"/>
                </a:cubicBezTo>
                <a:cubicBezTo>
                  <a:pt x="3644812" y="-66516"/>
                  <a:pt x="3770543" y="22345"/>
                  <a:pt x="3910718" y="0"/>
                </a:cubicBezTo>
                <a:cubicBezTo>
                  <a:pt x="4050893" y="-22345"/>
                  <a:pt x="4265417" y="44513"/>
                  <a:pt x="4519673" y="0"/>
                </a:cubicBezTo>
                <a:cubicBezTo>
                  <a:pt x="4773930" y="-44513"/>
                  <a:pt x="4876196" y="54373"/>
                  <a:pt x="5028066" y="0"/>
                </a:cubicBezTo>
                <a:cubicBezTo>
                  <a:pt x="5068056" y="148189"/>
                  <a:pt x="5015433" y="254330"/>
                  <a:pt x="5028066" y="492727"/>
                </a:cubicBezTo>
                <a:cubicBezTo>
                  <a:pt x="5040699" y="731124"/>
                  <a:pt x="5012559" y="819877"/>
                  <a:pt x="5028066" y="1005565"/>
                </a:cubicBezTo>
                <a:cubicBezTo>
                  <a:pt x="4902536" y="1024399"/>
                  <a:pt x="4617676" y="984483"/>
                  <a:pt x="4419111" y="1005565"/>
                </a:cubicBezTo>
                <a:cubicBezTo>
                  <a:pt x="4220546" y="1026647"/>
                  <a:pt x="4195085" y="988017"/>
                  <a:pt x="4011279" y="1005565"/>
                </a:cubicBezTo>
                <a:cubicBezTo>
                  <a:pt x="3827473" y="1023113"/>
                  <a:pt x="3484317" y="996039"/>
                  <a:pt x="3352044" y="1005565"/>
                </a:cubicBezTo>
                <a:cubicBezTo>
                  <a:pt x="3219771" y="1015091"/>
                  <a:pt x="2927431" y="961071"/>
                  <a:pt x="2692809" y="1005565"/>
                </a:cubicBezTo>
                <a:cubicBezTo>
                  <a:pt x="2458187" y="1050059"/>
                  <a:pt x="2411854" y="963899"/>
                  <a:pt x="2284977" y="1005565"/>
                </a:cubicBezTo>
                <a:cubicBezTo>
                  <a:pt x="2158100" y="1047231"/>
                  <a:pt x="2025375" y="985596"/>
                  <a:pt x="1826864" y="1005565"/>
                </a:cubicBezTo>
                <a:cubicBezTo>
                  <a:pt x="1628353" y="1025534"/>
                  <a:pt x="1501663" y="959270"/>
                  <a:pt x="1217909" y="1005565"/>
                </a:cubicBezTo>
                <a:cubicBezTo>
                  <a:pt x="934156" y="1051860"/>
                  <a:pt x="911367" y="945908"/>
                  <a:pt x="608955" y="1005565"/>
                </a:cubicBezTo>
                <a:cubicBezTo>
                  <a:pt x="306543" y="1065222"/>
                  <a:pt x="124613" y="965017"/>
                  <a:pt x="0" y="1005565"/>
                </a:cubicBezTo>
                <a:cubicBezTo>
                  <a:pt x="-43875" y="832019"/>
                  <a:pt x="52136" y="638841"/>
                  <a:pt x="0" y="482671"/>
                </a:cubicBezTo>
                <a:cubicBezTo>
                  <a:pt x="-52136" y="326501"/>
                  <a:pt x="36843" y="23690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093A71-1586-641E-0D28-6DC10B9E7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Type = Architecture Decision</a:t>
            </a:r>
          </a:p>
          <a:p>
            <a:endParaRPr lang="en-US" dirty="0"/>
          </a:p>
          <a:p>
            <a:r>
              <a:rPr lang="en-US" dirty="0"/>
              <a:t>Data type determines:</a:t>
            </a:r>
          </a:p>
          <a:p>
            <a:pPr lvl="1"/>
            <a:r>
              <a:rPr lang="en-US" dirty="0"/>
              <a:t>DSP usage</a:t>
            </a:r>
          </a:p>
          <a:p>
            <a:pPr lvl="1"/>
            <a:r>
              <a:rPr lang="en-US" dirty="0"/>
              <a:t>BRAM / URAM capacity</a:t>
            </a:r>
          </a:p>
          <a:p>
            <a:pPr lvl="1"/>
            <a:r>
              <a:rPr lang="en-US" dirty="0"/>
              <a:t>Memory bandwidth</a:t>
            </a:r>
          </a:p>
          <a:p>
            <a:pPr lvl="1"/>
            <a:r>
              <a:rPr lang="en-US" dirty="0"/>
              <a:t>Pipeline depth &amp; II</a:t>
            </a:r>
          </a:p>
          <a:p>
            <a:pPr lvl="1"/>
            <a:endParaRPr lang="en-US" dirty="0"/>
          </a:p>
          <a:p>
            <a:r>
              <a:rPr lang="en-US" dirty="0"/>
              <a:t>On FPGA:</a:t>
            </a:r>
          </a:p>
          <a:p>
            <a:pPr lvl="1"/>
            <a:r>
              <a:rPr lang="en-US" dirty="0"/>
              <a:t>Saving </a:t>
            </a:r>
            <a:r>
              <a:rPr lang="en-US" b="1" dirty="0"/>
              <a:t>1 bit</a:t>
            </a:r>
            <a:r>
              <a:rPr lang="en-US" dirty="0"/>
              <a:t> can save </a:t>
            </a:r>
            <a:r>
              <a:rPr lang="en-US" b="1" dirty="0"/>
              <a:t>DSPs, buffers, </a:t>
            </a:r>
            <a:r>
              <a:rPr lang="en-US" dirty="0"/>
              <a:t>and </a:t>
            </a:r>
            <a:r>
              <a:rPr lang="en-US" b="1" dirty="0"/>
              <a:t>routing</a:t>
            </a:r>
          </a:p>
          <a:p>
            <a:pPr lvl="1"/>
            <a:endParaRPr lang="en-US" dirty="0"/>
          </a:p>
          <a:p>
            <a:r>
              <a:rPr lang="en-US" dirty="0"/>
              <a:t>Many 10×–100× speedups come from:</a:t>
            </a:r>
          </a:p>
          <a:p>
            <a:pPr lvl="1"/>
            <a:r>
              <a:rPr lang="en-US" b="1" dirty="0"/>
              <a:t>Data-type specialization</a:t>
            </a:r>
            <a:r>
              <a:rPr lang="en-US" dirty="0"/>
              <a:t>, not algorithm changes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9948C-A218-CDDB-2932-6D30EF86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1B587E-F715-8565-4A7E-EABDA167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Datatype Matters</a:t>
            </a:r>
          </a:p>
        </p:txBody>
      </p:sp>
    </p:spTree>
    <p:extLst>
      <p:ext uri="{BB962C8B-B14F-4D97-AF65-F5344CB8AC3E}">
        <p14:creationId xmlns:p14="http://schemas.microsoft.com/office/powerpoint/2010/main" val="339349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Floating-point and fixed-point representations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Data quantization in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50234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Number Representation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C86EBB2-5EE1-44A3-9B07-5ACE7859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10" y="1339368"/>
            <a:ext cx="4032151" cy="109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Unsigned number</a:t>
            </a:r>
          </a:p>
          <a:p>
            <a:r>
              <a:rPr lang="en-US" sz="2800" dirty="0"/>
              <a:t>MSB has weight </a:t>
            </a:r>
            <a:r>
              <a:rPr lang="en-US" sz="2800" dirty="0">
                <a:solidFill>
                  <a:schemeClr val="accent1"/>
                </a:solidFill>
              </a:rPr>
              <a:t>2</a:t>
            </a:r>
            <a:r>
              <a:rPr lang="en-US" sz="2800" baseline="30000" dirty="0">
                <a:solidFill>
                  <a:schemeClr val="accent1"/>
                </a:solidFill>
              </a:rPr>
              <a:t>n-1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5B0A0-14F6-4F92-B298-58D30E22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67" y="2431369"/>
            <a:ext cx="9818957" cy="3776150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CFCC57E-6E2D-447A-9CA5-FBC29D91C478}"/>
              </a:ext>
            </a:extLst>
          </p:cNvPr>
          <p:cNvSpPr txBox="1">
            <a:spLocks/>
          </p:cNvSpPr>
          <p:nvPr/>
        </p:nvSpPr>
        <p:spPr>
          <a:xfrm>
            <a:off x="7085430" y="1337025"/>
            <a:ext cx="4032151" cy="1094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igned number</a:t>
            </a:r>
          </a:p>
          <a:p>
            <a:r>
              <a:rPr lang="en-US" sz="2800" dirty="0">
                <a:latin typeface="Aptos" panose="020B0004020202020204" pitchFamily="34" charset="0"/>
              </a:rPr>
              <a:t>MSB has weight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-2</a:t>
            </a:r>
            <a:r>
              <a:rPr lang="en-US" sz="2800" baseline="300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n-1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D5B9D7-15E2-4A82-A698-D00056C3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159" y="3547174"/>
            <a:ext cx="250741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6C9080-7BD2-4BAE-9258-4CD81C08F033}"/>
              </a:ext>
            </a:extLst>
          </p:cNvPr>
          <p:cNvSpPr/>
          <p:nvPr/>
        </p:nvSpPr>
        <p:spPr>
          <a:xfrm>
            <a:off x="7035564" y="3589185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7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IEEE 754 Floating Point Standard</a:t>
            </a:r>
          </a:p>
        </p:txBody>
      </p:sp>
      <p:pic>
        <p:nvPicPr>
          <p:cNvPr id="2050" name="Picture 2" descr="Floating Point Representation - CS 357">
            <a:extLst>
              <a:ext uri="{FF2B5EF4-FFF2-40B4-BE49-F238E27FC236}">
                <a16:creationId xmlns:a16="http://schemas.microsoft.com/office/drawing/2014/main" id="{E759F760-D292-45B3-BB9C-68865A165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6559"/>
            <a:ext cx="12192000" cy="246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D09D84-334C-4082-929F-CB5E00511CFF}"/>
              </a:ext>
            </a:extLst>
          </p:cNvPr>
          <p:cNvSpPr txBox="1"/>
          <p:nvPr/>
        </p:nvSpPr>
        <p:spPr>
          <a:xfrm>
            <a:off x="5521569" y="1489014"/>
            <a:ext cx="290816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M</a:t>
            </a:r>
            <a:r>
              <a:rPr lang="en-US" sz="2800" b="1" dirty="0">
                <a:latin typeface="Aptos" panose="020B0004020202020204" pitchFamily="34" charset="0"/>
              </a:rPr>
              <a:t>antissa (23-bit)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63136-907A-4728-AC61-AE922ED14B28}"/>
              </a:ext>
            </a:extLst>
          </p:cNvPr>
          <p:cNvSpPr txBox="1"/>
          <p:nvPr/>
        </p:nvSpPr>
        <p:spPr>
          <a:xfrm>
            <a:off x="841718" y="1489014"/>
            <a:ext cx="27622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E</a:t>
            </a:r>
            <a:r>
              <a:rPr lang="en-US" sz="2800" b="1" dirty="0">
                <a:latin typeface="Aptos" panose="020B0004020202020204" pitchFamily="34" charset="0"/>
              </a:rPr>
              <a:t>xponent (8-bit)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0CF6B-7E0D-42B7-A951-BEDADCFF2CFE}"/>
                  </a:ext>
                </a:extLst>
              </p:cNvPr>
              <p:cNvSpPr txBox="1"/>
              <p:nvPr/>
            </p:nvSpPr>
            <p:spPr>
              <a:xfrm>
                <a:off x="2295985" y="3842494"/>
                <a:ext cx="6727034" cy="566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b="1" dirty="0">
                    <a:latin typeface="Aptos" panose="020B0004020202020204" pitchFamily="34" charset="0"/>
                  </a:rPr>
                  <a:t>Value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𝟏𝟐𝟕</m:t>
                        </m:r>
                      </m:sup>
                    </m:sSup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</m:oMath>
                </a14:m>
                <a:endParaRPr lang="en-US" sz="36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0CF6B-7E0D-42B7-A951-BEDADCFF2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985" y="3842494"/>
                <a:ext cx="6727034" cy="566565"/>
              </a:xfrm>
              <a:prstGeom prst="rect">
                <a:avLst/>
              </a:prstGeom>
              <a:blipFill>
                <a:blip r:embed="rId3"/>
                <a:stretch>
                  <a:fillRect l="-4170" t="-21505" b="-49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B0A7D-5AF7-4096-A140-5296454BDF99}"/>
                  </a:ext>
                </a:extLst>
              </p:cNvPr>
              <p:cNvSpPr txBox="1"/>
              <p:nvPr/>
            </p:nvSpPr>
            <p:spPr>
              <a:xfrm>
                <a:off x="3390920" y="4482364"/>
                <a:ext cx="6583533" cy="1674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3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𝟏𝟐𝟒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𝟏𝟐𝟕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𝟏𝟐𝟓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𝟏𝟓𝟔𝟐𝟓</m:t>
                      </m:r>
                    </m:oMath>
                  </m:oMathPara>
                </a14:m>
                <a:endParaRPr lang="en-US" sz="36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B0A7D-5AF7-4096-A140-5296454BD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20" y="4482364"/>
                <a:ext cx="6583533" cy="1674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F7E5121-6153-40ED-99AC-2DB61EB3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20" y="2905780"/>
            <a:ext cx="250741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D8B0EC-5474-497E-AA03-F95CE8CA4915}"/>
              </a:ext>
            </a:extLst>
          </p:cNvPr>
          <p:cNvSpPr/>
          <p:nvPr/>
        </p:nvSpPr>
        <p:spPr>
          <a:xfrm>
            <a:off x="3059325" y="2947791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6B6576-F88E-8E1D-3EC0-F195FE4C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0"/>
                <a:cs typeface="宋体" charset="0"/>
              </a:rPr>
              <a:t>C/C++ only provides a limited set of native integer types</a:t>
            </a:r>
          </a:p>
          <a:p>
            <a:pPr lvl="1"/>
            <a:r>
              <a:rPr lang="en-US" altLang="zh-CN" sz="2800" b="1" dirty="0">
                <a:ea typeface="宋体" charset="0"/>
                <a:cs typeface="宋体" charset="0"/>
              </a:rPr>
              <a:t>Integers: </a:t>
            </a:r>
            <a:r>
              <a:rPr lang="en-US" altLang="zh-CN" sz="2800" dirty="0">
                <a:ea typeface="宋体" charset="0"/>
                <a:cs typeface="宋体" charset="0"/>
              </a:rPr>
              <a:t>char (8b), short (16b), int (32b), long (?), long </a:t>
            </a:r>
            <a:r>
              <a:rPr lang="en-US" altLang="zh-CN" sz="2800" dirty="0" err="1">
                <a:ea typeface="宋体" charset="0"/>
                <a:cs typeface="宋体" charset="0"/>
              </a:rPr>
              <a:t>long</a:t>
            </a:r>
            <a:r>
              <a:rPr lang="en-US" altLang="zh-CN" sz="2800" dirty="0">
                <a:ea typeface="宋体" charset="0"/>
                <a:cs typeface="宋体" charset="0"/>
              </a:rPr>
              <a:t> (64b)</a:t>
            </a:r>
          </a:p>
          <a:p>
            <a:pPr lvl="1"/>
            <a:r>
              <a:rPr lang="en-US" altLang="zh-CN" sz="2800" b="1" dirty="0">
                <a:ea typeface="宋体" charset="0"/>
                <a:cs typeface="宋体" charset="0"/>
              </a:rPr>
              <a:t>Floating: </a:t>
            </a:r>
            <a:r>
              <a:rPr lang="en-US" altLang="zh-CN" sz="2800" dirty="0">
                <a:ea typeface="宋体" charset="0"/>
                <a:cs typeface="宋体" charset="0"/>
              </a:rPr>
              <a:t>single (32b), double (64b), half (16b)</a:t>
            </a:r>
          </a:p>
          <a:p>
            <a:pPr lvl="2"/>
            <a:r>
              <a:rPr lang="en-US" altLang="zh-CN" sz="2600" dirty="0">
                <a:ea typeface="宋体" charset="0"/>
                <a:cs typeface="宋体" charset="0"/>
              </a:rPr>
              <a:t>Single (FP32): </a:t>
            </a:r>
            <a:r>
              <a:rPr lang="en-US" altLang="zh-CN" sz="2400" dirty="0">
                <a:ea typeface="宋体" charset="0"/>
                <a:cs typeface="宋体" charset="0"/>
              </a:rPr>
              <a:t>E8M23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Double (FP64): E10M53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Half (FP16): E5M10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(recent) BF16: E8M7</a:t>
            </a:r>
          </a:p>
          <a:p>
            <a:pPr lvl="2"/>
            <a:endParaRPr lang="en-US" altLang="zh-CN" sz="2400" dirty="0">
              <a:ea typeface="宋体" charset="0"/>
              <a:cs typeface="宋体" charset="0"/>
            </a:endParaRPr>
          </a:p>
          <a:p>
            <a:r>
              <a:rPr lang="en-US" altLang="zh-CN" sz="3000" dirty="0">
                <a:ea typeface="宋体" charset="0"/>
                <a:cs typeface="宋体" charset="0"/>
              </a:rPr>
              <a:t>Floating point operations are expensive: alignment and scaling</a:t>
            </a:r>
          </a:p>
          <a:p>
            <a:endParaRPr lang="en-US" altLang="zh-CN" sz="3000" dirty="0">
              <a:ea typeface="宋体" charset="0"/>
              <a:cs typeface="宋体" charset="0"/>
            </a:endParaRPr>
          </a:p>
          <a:p>
            <a:r>
              <a:rPr lang="en-US" altLang="zh-CN" sz="3000" dirty="0">
                <a:ea typeface="宋体" charset="0"/>
                <a:cs typeface="宋体" charset="0"/>
              </a:rPr>
              <a:t>What if you need only 2 bits, or you want 40 bits?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9A2B3-5759-F298-0237-AE0A32E0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8FE954-C4FA-936C-6B10-BDD76C39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Existing Data Types in Hardware</a:t>
            </a:r>
          </a:p>
        </p:txBody>
      </p:sp>
    </p:spTree>
    <p:extLst>
      <p:ext uri="{BB962C8B-B14F-4D97-AF65-F5344CB8AC3E}">
        <p14:creationId xmlns:p14="http://schemas.microsoft.com/office/powerpoint/2010/main" val="9436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05105E-E180-9FA1-113A-35E7961A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Arbitrary precision integers: </a:t>
            </a:r>
          </a:p>
          <a:p>
            <a:pPr lvl="1"/>
            <a:r>
              <a:rPr lang="en-US" sz="2400" b="1" dirty="0"/>
              <a:t>Signed: </a:t>
            </a:r>
            <a:r>
              <a:rPr lang="en-US" sz="2400" b="1" dirty="0" err="1">
                <a:solidFill>
                  <a:schemeClr val="accent1"/>
                </a:solidFill>
              </a:rPr>
              <a:t>ap_int</a:t>
            </a:r>
            <a:r>
              <a:rPr lang="en-US" sz="2400" b="1" dirty="0">
                <a:solidFill>
                  <a:schemeClr val="accent1"/>
                </a:solidFill>
              </a:rPr>
              <a:t>&lt;W&gt;</a:t>
            </a:r>
          </a:p>
          <a:p>
            <a:pPr lvl="1"/>
            <a:r>
              <a:rPr lang="en-US" sz="2400" b="1" dirty="0"/>
              <a:t>Unsigned: </a:t>
            </a:r>
            <a:r>
              <a:rPr lang="en-US" sz="2400" b="1" dirty="0" err="1">
                <a:solidFill>
                  <a:schemeClr val="accent1"/>
                </a:solidFill>
              </a:rPr>
              <a:t>ap_uint</a:t>
            </a:r>
            <a:r>
              <a:rPr lang="en-US" sz="2400" b="1" dirty="0">
                <a:solidFill>
                  <a:schemeClr val="accent1"/>
                </a:solidFill>
              </a:rPr>
              <a:t>&lt;W&gt;</a:t>
            </a:r>
          </a:p>
          <a:p>
            <a:pPr lvl="1"/>
            <a:r>
              <a:rPr lang="en-US" sz="2400" dirty="0"/>
              <a:t>W is the user-specified </a:t>
            </a:r>
            <a:r>
              <a:rPr lang="en-US" sz="2400" dirty="0" err="1"/>
              <a:t>bitwidth</a:t>
            </a:r>
            <a:endParaRPr lang="en-US" sz="2400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Arbitrary precision fixed-point representation: for decimal numbers</a:t>
            </a:r>
          </a:p>
          <a:p>
            <a:pPr lvl="1"/>
            <a:r>
              <a:rPr lang="en-US" sz="2400" dirty="0"/>
              <a:t>Templatized class </a:t>
            </a:r>
            <a:r>
              <a:rPr lang="en-US" sz="2400" b="1" dirty="0" err="1">
                <a:solidFill>
                  <a:schemeClr val="accent1"/>
                </a:solidFill>
              </a:rPr>
              <a:t>ap_fixed</a:t>
            </a:r>
            <a:r>
              <a:rPr lang="en-US" sz="2400" b="1" dirty="0">
                <a:solidFill>
                  <a:schemeClr val="accent1"/>
                </a:solidFill>
              </a:rPr>
              <a:t>&lt;W, I, Q, O&gt; </a:t>
            </a:r>
          </a:p>
          <a:p>
            <a:pPr lvl="1"/>
            <a:r>
              <a:rPr lang="en-US" sz="2400" dirty="0"/>
              <a:t>W: total binary bits</a:t>
            </a:r>
          </a:p>
          <a:p>
            <a:pPr lvl="1"/>
            <a:r>
              <a:rPr lang="en-US" sz="2400" dirty="0"/>
              <a:t>I: number of integer bits (including sign bit)</a:t>
            </a:r>
          </a:p>
          <a:p>
            <a:pPr lvl="1"/>
            <a:r>
              <a:rPr lang="en-US" sz="2400" dirty="0"/>
              <a:t>Q: quantization mode</a:t>
            </a:r>
          </a:p>
          <a:p>
            <a:pPr lvl="1"/>
            <a:r>
              <a:rPr lang="en-US" sz="2400" dirty="0"/>
              <a:t>O: overflow mode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5B600-BC91-D4F0-B0CB-6052F973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F90923-9937-4BE7-2385-CEEC50B0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Arbitrary Data Precision using FPGA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62B1F-1DDA-4EB8-3FCD-96056003181F}"/>
              </a:ext>
            </a:extLst>
          </p:cNvPr>
          <p:cNvSpPr txBox="1"/>
          <p:nvPr/>
        </p:nvSpPr>
        <p:spPr>
          <a:xfrm>
            <a:off x="5925336" y="1226826"/>
            <a:ext cx="5026033" cy="17002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indent="174625">
              <a:defRPr sz="1600">
                <a:solidFill>
                  <a:schemeClr val="tx1"/>
                </a:solidFill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 dirty="0"/>
              <a:t>#include “</a:t>
            </a:r>
            <a:r>
              <a:rPr lang="en-US" sz="1800" dirty="0" err="1"/>
              <a:t>ap_int.h</a:t>
            </a:r>
            <a:r>
              <a:rPr lang="en-US" sz="1800" dirty="0"/>
              <a:t>”</a:t>
            </a:r>
          </a:p>
          <a:p>
            <a:r>
              <a:rPr lang="en-US" sz="1800" dirty="0"/>
              <a:t>…</a:t>
            </a:r>
          </a:p>
          <a:p>
            <a:r>
              <a:rPr lang="en-US" sz="1800" dirty="0" err="1"/>
              <a:t>ap_int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9</a:t>
            </a:r>
            <a:r>
              <a:rPr lang="en-US" sz="1800" dirty="0"/>
              <a:t>&gt;     x;  // 9-bit</a:t>
            </a:r>
          </a:p>
          <a:p>
            <a:r>
              <a:rPr lang="en-US" sz="1800" dirty="0" err="1"/>
              <a:t>ap_uint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17</a:t>
            </a:r>
            <a:r>
              <a:rPr lang="en-US" sz="1800" dirty="0"/>
              <a:t>&gt;   y;  // 17-bit unsigned</a:t>
            </a:r>
          </a:p>
          <a:p>
            <a:r>
              <a:rPr lang="en-US" sz="1800" dirty="0" err="1"/>
              <a:t>ap_uint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512</a:t>
            </a:r>
            <a:r>
              <a:rPr lang="en-US" sz="1800" dirty="0"/>
              <a:t>&gt;  z;  // 512-bit unsigned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F5DFC-2602-4786-BE5A-1D2E1F9B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393" y="3907748"/>
            <a:ext cx="4903265" cy="22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3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Fixed-Point Modeling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600" dirty="0" err="1"/>
              <a:t>ap_ufixed</a:t>
            </a:r>
            <a:r>
              <a:rPr lang="en-US" sz="3600" dirty="0"/>
              <a:t>&lt;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1"/>
                </a:solidFill>
              </a:rPr>
              <a:t>8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AP_TRN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AP_WRAP</a:t>
            </a:r>
            <a:r>
              <a:rPr lang="en-US" sz="3600" dirty="0"/>
              <a:t>&gt;   x;</a:t>
            </a:r>
            <a:endParaRPr lang="en-US" sz="3200" dirty="0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E8809489-9E23-4196-AA2F-E561A6037B73}"/>
              </a:ext>
            </a:extLst>
          </p:cNvPr>
          <p:cNvGraphicFramePr>
            <a:graphicFrameLocks noGrp="1"/>
          </p:cNvGraphicFramePr>
          <p:nvPr/>
        </p:nvGraphicFramePr>
        <p:xfrm>
          <a:off x="1251826" y="2441645"/>
          <a:ext cx="9026776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347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4048504046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b7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b6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baseline="0" dirty="0">
                          <a:latin typeface="Aptos" panose="020B0004020202020204" pitchFamily="34" charset="0"/>
                        </a:rPr>
                        <a:t>b5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…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b1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FF3D3EF-0E3B-4DD9-B5D9-1EED95C021C7}"/>
              </a:ext>
            </a:extLst>
          </p:cNvPr>
          <p:cNvSpPr/>
          <p:nvPr/>
        </p:nvSpPr>
        <p:spPr>
          <a:xfrm>
            <a:off x="7892582" y="3014779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3EAC3-8D72-4176-85A4-ACC5BED27733}"/>
              </a:ext>
            </a:extLst>
          </p:cNvPr>
          <p:cNvSpPr txBox="1"/>
          <p:nvPr/>
        </p:nvSpPr>
        <p:spPr>
          <a:xfrm>
            <a:off x="746092" y="3885666"/>
            <a:ext cx="11233952" cy="2249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b="1">
                <a:latin typeface="Corbel" panose="020B0503020204020204" pitchFamily="34" charset="0"/>
              </a:defRPr>
            </a:lvl1pPr>
            <a:lvl2pPr marL="857229" indent="-400041" defTabSz="914377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>
                <a:latin typeface="Corbel" panose="020B0503020204020204" pitchFamily="34" charset="0"/>
              </a:defRPr>
            </a:lvl2pPr>
            <a:lvl3pPr marL="1142971" indent="-285744" defTabSz="914377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>
                <a:latin typeface="Corbel" panose="020B0503020204020204" pitchFamily="34" charset="0"/>
              </a:defRPr>
            </a:lvl3pPr>
            <a:lvl4pPr marL="1600160" indent="-228594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Corbel" panose="020B0503020204020204" pitchFamily="34" charset="0"/>
              </a:defRPr>
            </a:lvl4pPr>
            <a:lvl5pPr marL="2057349" indent="-228594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Corbel" panose="020B0503020204020204" pitchFamily="34" charset="0"/>
              </a:defRPr>
            </a:lvl5pPr>
            <a:lvl6pPr marL="2514537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726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914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103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11</a:t>
            </a:r>
            <a:r>
              <a:rPr lang="en-US" sz="3200" b="0" dirty="0">
                <a:latin typeface="Aptos" panose="020B0004020202020204" pitchFamily="34" charset="0"/>
              </a:rPr>
              <a:t> is the total number of bits in the type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/>
                </a:solidFill>
                <a:latin typeface="Aptos" panose="020B0004020202020204" pitchFamily="34" charset="0"/>
              </a:rPr>
              <a:t>8</a:t>
            </a:r>
            <a:r>
              <a:rPr lang="en-US" sz="3200" b="0" dirty="0">
                <a:latin typeface="Aptos" panose="020B0004020202020204" pitchFamily="34" charset="0"/>
              </a:rPr>
              <a:t> bits is the integer </a:t>
            </a:r>
            <a:r>
              <a:rPr lang="en-US" sz="3200" b="0" dirty="0" err="1">
                <a:latin typeface="Aptos" panose="020B0004020202020204" pitchFamily="34" charset="0"/>
              </a:rPr>
              <a:t>bitwidth</a:t>
            </a:r>
            <a:endParaRPr lang="en-US" sz="3200" b="0" dirty="0">
              <a:latin typeface="Aptos" panose="020B00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AP_TRN </a:t>
            </a:r>
            <a:r>
              <a:rPr lang="en-US" sz="3200" b="0" dirty="0">
                <a:latin typeface="Aptos" panose="020B0004020202020204" pitchFamily="34" charset="0"/>
              </a:rPr>
              <a:t>defines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truncation</a:t>
            </a:r>
            <a:r>
              <a:rPr lang="en-US" sz="3200" b="0" dirty="0">
                <a:latin typeface="Aptos" panose="020B0004020202020204" pitchFamily="34" charset="0"/>
              </a:rPr>
              <a:t> behavior for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quantization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AP_WRAP </a:t>
            </a:r>
            <a:r>
              <a:rPr lang="en-US" sz="3200" b="0" dirty="0">
                <a:latin typeface="Aptos" panose="020B0004020202020204" pitchFamily="34" charset="0"/>
              </a:rPr>
              <a:t>defines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wrapping</a:t>
            </a:r>
            <a:r>
              <a:rPr lang="en-US" sz="3200" b="0" dirty="0">
                <a:latin typeface="Aptos" panose="020B0004020202020204" pitchFamily="34" charset="0"/>
              </a:rPr>
              <a:t> behavior for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372564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Representation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Fix</a:t>
            </a:r>
            <a:r>
              <a:rPr lang="en-US" sz="3200" dirty="0"/>
              <a:t> the decimal point </a:t>
            </a:r>
            <a:r>
              <a:rPr lang="zh-CN" altLang="en-US" sz="3200" dirty="0"/>
              <a:t>→</a:t>
            </a:r>
            <a:r>
              <a:rPr lang="en-US" sz="3200" dirty="0"/>
              <a:t> </a:t>
            </a:r>
            <a:r>
              <a:rPr lang="en-US" altLang="zh-CN" sz="3200" dirty="0">
                <a:solidFill>
                  <a:schemeClr val="accent1"/>
                </a:solidFill>
              </a:rPr>
              <a:t>F</a:t>
            </a:r>
            <a:r>
              <a:rPr lang="en-US" sz="3200" dirty="0">
                <a:solidFill>
                  <a:schemeClr val="accent1"/>
                </a:solidFill>
              </a:rPr>
              <a:t>ixed-point</a:t>
            </a:r>
            <a:r>
              <a:rPr lang="en-US" sz="3200" dirty="0"/>
              <a:t> numbers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8E68F1E-5D16-442E-B99B-43734ECFB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51081"/>
              </p:ext>
            </p:extLst>
          </p:nvPr>
        </p:nvGraphicFramePr>
        <p:xfrm>
          <a:off x="679934" y="2313739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unsigned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11.25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25301392-8EAA-48C8-95F3-4E16F145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90896"/>
              </p:ext>
            </p:extLst>
          </p:nvPr>
        </p:nvGraphicFramePr>
        <p:xfrm>
          <a:off x="670043" y="4393092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2’C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6893A3-DFA5-43B9-B51B-446B2BC7EF16}"/>
              </a:ext>
            </a:extLst>
          </p:cNvPr>
          <p:cNvCxnSpPr/>
          <p:nvPr/>
        </p:nvCxnSpPr>
        <p:spPr>
          <a:xfrm>
            <a:off x="272563" y="3075067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AAAC01-8AA2-4F27-A38A-254A3D48CBED}"/>
              </a:ext>
            </a:extLst>
          </p:cNvPr>
          <p:cNvCxnSpPr/>
          <p:nvPr/>
        </p:nvCxnSpPr>
        <p:spPr>
          <a:xfrm>
            <a:off x="342901" y="5186893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CBA41-3108-4EF8-8588-DE245BD8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591" y="3590001"/>
            <a:ext cx="2507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82DF98-8012-45EE-987A-C79B95CF15D9}"/>
              </a:ext>
            </a:extLst>
          </p:cNvPr>
          <p:cNvSpPr/>
          <p:nvPr/>
        </p:nvSpPr>
        <p:spPr>
          <a:xfrm>
            <a:off x="5712090" y="3377883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209D1E-189C-4CA7-85F9-D0AC3073D518}"/>
              </a:ext>
            </a:extLst>
          </p:cNvPr>
          <p:cNvSpPr/>
          <p:nvPr/>
        </p:nvSpPr>
        <p:spPr>
          <a:xfrm>
            <a:off x="5712090" y="556249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91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Representation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Fix</a:t>
            </a:r>
            <a:r>
              <a:rPr lang="en-US" sz="3200" dirty="0"/>
              <a:t> the decimal point </a:t>
            </a:r>
            <a:r>
              <a:rPr lang="zh-CN" altLang="en-US" sz="3200" dirty="0"/>
              <a:t>→</a:t>
            </a:r>
            <a:r>
              <a:rPr lang="en-US" sz="3200" dirty="0"/>
              <a:t> </a:t>
            </a:r>
            <a:r>
              <a:rPr lang="en-US" altLang="zh-CN" sz="3200" dirty="0">
                <a:solidFill>
                  <a:schemeClr val="accent1"/>
                </a:solidFill>
              </a:rPr>
              <a:t>F</a:t>
            </a:r>
            <a:r>
              <a:rPr lang="en-US" sz="3200" dirty="0">
                <a:solidFill>
                  <a:schemeClr val="accent1"/>
                </a:solidFill>
              </a:rPr>
              <a:t>ixed-point</a:t>
            </a:r>
            <a:r>
              <a:rPr lang="en-US" sz="3200" dirty="0"/>
              <a:t> numbers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8E68F1E-5D16-442E-B99B-43734ECFB66F}"/>
              </a:ext>
            </a:extLst>
          </p:cNvPr>
          <p:cNvGraphicFramePr>
            <a:graphicFrameLocks noGrp="1"/>
          </p:cNvGraphicFramePr>
          <p:nvPr/>
        </p:nvGraphicFramePr>
        <p:xfrm>
          <a:off x="679934" y="2313739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unsigned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11.25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25301392-8EAA-48C8-95F3-4E16F145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03443"/>
              </p:ext>
            </p:extLst>
          </p:nvPr>
        </p:nvGraphicFramePr>
        <p:xfrm>
          <a:off x="670043" y="4393092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2’C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-4.75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6893A3-DFA5-43B9-B51B-446B2BC7EF16}"/>
              </a:ext>
            </a:extLst>
          </p:cNvPr>
          <p:cNvCxnSpPr/>
          <p:nvPr/>
        </p:nvCxnSpPr>
        <p:spPr>
          <a:xfrm>
            <a:off x="272563" y="3075067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AAAC01-8AA2-4F27-A38A-254A3D48CBED}"/>
              </a:ext>
            </a:extLst>
          </p:cNvPr>
          <p:cNvCxnSpPr/>
          <p:nvPr/>
        </p:nvCxnSpPr>
        <p:spPr>
          <a:xfrm>
            <a:off x="342901" y="5186893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CBA41-3108-4EF8-8588-DE245BD8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591" y="3590001"/>
            <a:ext cx="2507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82DF98-8012-45EE-987A-C79B95CF15D9}"/>
              </a:ext>
            </a:extLst>
          </p:cNvPr>
          <p:cNvSpPr/>
          <p:nvPr/>
        </p:nvSpPr>
        <p:spPr>
          <a:xfrm>
            <a:off x="5712090" y="3377883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209D1E-189C-4CA7-85F9-D0AC3073D518}"/>
              </a:ext>
            </a:extLst>
          </p:cNvPr>
          <p:cNvSpPr/>
          <p:nvPr/>
        </p:nvSpPr>
        <p:spPr>
          <a:xfrm>
            <a:off x="5712090" y="556249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B9941-CE16-41D8-ACB4-B3D7B49EC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886" y="5719085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(-8 + 3.25)</a:t>
            </a:r>
          </a:p>
        </p:txBody>
      </p:sp>
    </p:spTree>
    <p:extLst>
      <p:ext uri="{BB962C8B-B14F-4D97-AF65-F5344CB8AC3E}">
        <p14:creationId xmlns:p14="http://schemas.microsoft.com/office/powerpoint/2010/main" val="2836119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F61D63-4167-241E-5B86-1E5A284DC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117845"/>
              </p:ext>
            </p:extLst>
          </p:nvPr>
        </p:nvGraphicFramePr>
        <p:xfrm>
          <a:off x="4432618" y="2029305"/>
          <a:ext cx="7311707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53882">
                  <a:extLst>
                    <a:ext uri="{9D8B030D-6E8A-4147-A177-3AD203B41FA5}">
                      <a16:colId xmlns:a16="http://schemas.microsoft.com/office/drawing/2014/main" val="401055837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21521303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100170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ptos Display" panose="020B0004020202020204" pitchFamily="34" charset="0"/>
                        </a:rPr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Aptos Display" panose="020B0004020202020204" pitchFamily="34" charset="0"/>
                        </a:rPr>
                        <a:t>Floating-point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Aptos Display" panose="020B0004020202020204" pitchFamily="34" charset="0"/>
                        </a:rPr>
                        <a:t>Fixed-point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90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Add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align + normalize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integer add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43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Mul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mantissa × mantissa; exponent + exponent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integer mul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31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Latency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Multi-cycle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1–2 cycle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618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DSP usage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 high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 friendly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72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Pipeline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Challenging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</a:t>
                      </a:r>
                      <a:r>
                        <a:rPr lang="zh-CN" altLang="en-US" sz="2400" dirty="0"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friendly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305827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B02CF-339B-0E09-256C-90719DF3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C4A61-0C61-3652-FF64-A91EE11A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Floating-Point vs Fixed-Point on FPGA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D824998-6D8E-AE80-92C1-ABB86B2D867D}"/>
              </a:ext>
            </a:extLst>
          </p:cNvPr>
          <p:cNvSpPr txBox="1">
            <a:spLocks/>
          </p:cNvSpPr>
          <p:nvPr/>
        </p:nvSpPr>
        <p:spPr>
          <a:xfrm>
            <a:off x="342901" y="1226826"/>
            <a:ext cx="3924299" cy="4950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Floating-point requires: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Exponent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Mantissa normalization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 control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Floating-point on FPGA: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DSP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Multi-cycle 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Harder to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Fixed-point </a:t>
            </a:r>
            <a:r>
              <a:rPr lang="en-US" altLang="zh-CN" dirty="0"/>
              <a:t>on FPGA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Integer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Predictable latency</a:t>
            </a:r>
          </a:p>
        </p:txBody>
      </p:sp>
    </p:spTree>
    <p:extLst>
      <p:ext uri="{BB962C8B-B14F-4D97-AF65-F5344CB8AC3E}">
        <p14:creationId xmlns:p14="http://schemas.microsoft.com/office/powerpoint/2010/main" val="178656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Overflow and Underflow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Overflow</a:t>
            </a:r>
            <a:r>
              <a:rPr lang="en-US" sz="3200" dirty="0"/>
              <a:t>: happens at MSB</a:t>
            </a:r>
          </a:p>
          <a:p>
            <a:pPr lvl="1"/>
            <a:r>
              <a:rPr lang="en-US" sz="2800" dirty="0"/>
              <a:t>When a number is larger than the largest that can be represented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1728E-C635-42AE-A1C2-7B16D659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44" y="2232205"/>
            <a:ext cx="10676040" cy="26255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6B87DAC-502A-4B8B-B693-960762F9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205" y="4257490"/>
            <a:ext cx="2029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Drop MSB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CF1415-C015-4839-B250-9B5CC64F5FA5}"/>
              </a:ext>
            </a:extLst>
          </p:cNvPr>
          <p:cNvSpPr/>
          <p:nvPr/>
        </p:nvSpPr>
        <p:spPr>
          <a:xfrm>
            <a:off x="2640066" y="3795968"/>
            <a:ext cx="422031" cy="52322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2A3102-B1BB-4CE9-ABFC-3384E133ADF7}"/>
              </a:ext>
            </a:extLst>
          </p:cNvPr>
          <p:cNvSpPr/>
          <p:nvPr/>
        </p:nvSpPr>
        <p:spPr>
          <a:xfrm>
            <a:off x="9985747" y="4257490"/>
            <a:ext cx="1131834" cy="52322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6C4F5C86-0871-4BC7-87C6-8453647C244A}"/>
              </a:ext>
            </a:extLst>
          </p:cNvPr>
          <p:cNvSpPr txBox="1">
            <a:spLocks/>
          </p:cNvSpPr>
          <p:nvPr/>
        </p:nvSpPr>
        <p:spPr>
          <a:xfrm>
            <a:off x="342900" y="5155510"/>
            <a:ext cx="11849100" cy="144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  <a:latin typeface="Aptos" panose="020B0004020202020204" pitchFamily="34" charset="0"/>
              </a:rPr>
              <a:t>Underflow</a:t>
            </a:r>
            <a:r>
              <a:rPr lang="en-US" sz="3200" dirty="0">
                <a:latin typeface="Aptos" panose="020B0004020202020204" pitchFamily="34" charset="0"/>
              </a:rPr>
              <a:t>: happens at LSB</a:t>
            </a:r>
          </a:p>
          <a:p>
            <a:pPr lvl="1"/>
            <a:r>
              <a:rPr lang="en-US" sz="2800" dirty="0">
                <a:latin typeface="Aptos" panose="020B0004020202020204" pitchFamily="34" charset="0"/>
              </a:rPr>
              <a:t> When a number is smaller than the smallest that can be represented</a:t>
            </a:r>
          </a:p>
        </p:txBody>
      </p:sp>
    </p:spTree>
    <p:extLst>
      <p:ext uri="{BB962C8B-B14F-4D97-AF65-F5344CB8AC3E}">
        <p14:creationId xmlns:p14="http://schemas.microsoft.com/office/powerpoint/2010/main" val="2877922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Overflow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88467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Wrapping</a:t>
            </a:r>
            <a:r>
              <a:rPr lang="en-US" dirty="0"/>
              <a:t> is one common (&amp; efficient) way of handling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overflow</a:t>
            </a:r>
            <a:r>
              <a:rPr lang="en-US" dirty="0"/>
              <a:t>: drop the </a:t>
            </a:r>
            <a:r>
              <a:rPr lang="en-US" dirty="0">
                <a:solidFill>
                  <a:schemeClr val="accent1"/>
                </a:solidFill>
              </a:rPr>
              <a:t>MSBs </a:t>
            </a:r>
            <a:r>
              <a:rPr lang="en-US" dirty="0"/>
              <a:t>of the original number</a:t>
            </a:r>
          </a:p>
          <a:p>
            <a:pPr lvl="1"/>
            <a:r>
              <a:rPr lang="en-US" sz="2400" dirty="0"/>
              <a:t>But… may result in a totally wrong number</a:t>
            </a:r>
          </a:p>
          <a:p>
            <a:r>
              <a:rPr lang="en-US" dirty="0">
                <a:solidFill>
                  <a:schemeClr val="accent1"/>
                </a:solidFill>
              </a:rPr>
              <a:t>Saturation: </a:t>
            </a:r>
            <a:r>
              <a:rPr lang="en-US" dirty="0"/>
              <a:t>Overflow "saturates" to the maximum or minimum representable value</a:t>
            </a:r>
          </a:p>
          <a:p>
            <a:pPr lvl="1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C3F87-5C96-4E73-B262-809226BB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1" y="3429000"/>
            <a:ext cx="10721608" cy="22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6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0FF77-DD86-41AD-A8C3-2FA3AC00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6C5624-D71A-44A8-B089-7A36789D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Overflow Modes in HLS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BA4E3C-21B6-47FF-B16E-D86BE769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79" y="1088936"/>
            <a:ext cx="7215190" cy="17829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4961C63-E124-4A31-8CD6-2F3A4FEC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292" y="1070514"/>
            <a:ext cx="2300289" cy="7222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*</a:t>
            </a:r>
            <a:r>
              <a:rPr lang="en-US" sz="1800" dirty="0">
                <a:solidFill>
                  <a:schemeClr val="accent1"/>
                </a:solidFill>
              </a:rPr>
              <a:t>AP_SAT </a:t>
            </a:r>
            <a:r>
              <a:rPr lang="en-US" sz="1800" dirty="0"/>
              <a:t>Requires extra complex logic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9A500-4594-9D06-4275-5E80AEB97045}"/>
              </a:ext>
            </a:extLst>
          </p:cNvPr>
          <p:cNvSpPr txBox="1"/>
          <p:nvPr/>
        </p:nvSpPr>
        <p:spPr>
          <a:xfrm>
            <a:off x="494822" y="2136055"/>
            <a:ext cx="1017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default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C906E-998F-F5F0-01CB-0BCE21202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71" y="4496785"/>
            <a:ext cx="8580610" cy="1804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3733F9-4CCD-5E05-0C62-88EE02D6F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79" y="3005025"/>
            <a:ext cx="8246746" cy="1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6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2A75-9B51-E8F0-C974-9696A47C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83707-0F99-198E-25AB-742C3269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F75813-F739-E8CC-CF76-3E0EFEBD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Overflow Manually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883B268-1A2D-F0F7-06B8-17370A53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37387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AP_SAT </a:t>
            </a:r>
            <a:r>
              <a:rPr lang="en-US" sz="2400" dirty="0"/>
              <a:t>requires extra complex logic (uses a lot of resource)</a:t>
            </a:r>
          </a:p>
          <a:p>
            <a:endParaRPr lang="en-US" dirty="0"/>
          </a:p>
          <a:p>
            <a:r>
              <a:rPr lang="en-US" sz="2400" dirty="0"/>
              <a:t>Manually handle overflow examples:</a:t>
            </a:r>
          </a:p>
          <a:p>
            <a:pPr lvl="1"/>
            <a:r>
              <a:rPr lang="en-US" dirty="0"/>
              <a:t>Explicit clipping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dirty="0"/>
              <a:t>Use larger </a:t>
            </a:r>
            <a:r>
              <a:rPr lang="en-US" dirty="0" err="1"/>
              <a:t>bitwidth</a:t>
            </a:r>
            <a:r>
              <a:rPr lang="en-US" dirty="0"/>
              <a:t>, e.g., larger W</a:t>
            </a:r>
          </a:p>
          <a:p>
            <a:pPr lvl="1"/>
            <a:r>
              <a:rPr lang="en-US" dirty="0"/>
              <a:t>Rescaling beforehand – do a comprehensive data range analysis</a:t>
            </a:r>
          </a:p>
          <a:p>
            <a:pPr lvl="1"/>
            <a:r>
              <a:rPr lang="en-US" dirty="0"/>
              <a:t>Ignore it if only happen rarely – in error-resilient algorithms, e.g.,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6149A-3BBD-B0A8-1920-6FF010F9B8CD}"/>
              </a:ext>
            </a:extLst>
          </p:cNvPr>
          <p:cNvSpPr txBox="1"/>
          <p:nvPr/>
        </p:nvSpPr>
        <p:spPr>
          <a:xfrm>
            <a:off x="3227187" y="2405620"/>
            <a:ext cx="71812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float a = 176.18793;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ap_fixed</a:t>
            </a:r>
            <a:r>
              <a:rPr lang="en-US" sz="1600" dirty="0">
                <a:latin typeface="Consolas" panose="020B0609020204030204" pitchFamily="49" charset="0"/>
              </a:rPr>
              <a:t>&lt;W, I&gt; var = if (a &gt; xxx ) ? </a:t>
            </a:r>
            <a:r>
              <a:rPr lang="en-US" sz="1600" dirty="0" err="1">
                <a:latin typeface="Consolas" panose="020B0609020204030204" pitchFamily="49" charset="0"/>
              </a:rPr>
              <a:t>clip_value</a:t>
            </a:r>
            <a:r>
              <a:rPr lang="en-US" sz="1600" dirty="0">
                <a:latin typeface="Consolas" panose="020B0609020204030204" pitchFamily="49" charset="0"/>
              </a:rPr>
              <a:t> : zzz;</a:t>
            </a:r>
          </a:p>
        </p:txBody>
      </p:sp>
    </p:spTree>
    <p:extLst>
      <p:ext uri="{BB962C8B-B14F-4D97-AF65-F5344CB8AC3E}">
        <p14:creationId xmlns:p14="http://schemas.microsoft.com/office/powerpoint/2010/main" val="2735457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E27F49-5410-4C19-A189-97A7E4988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Rounding</a:t>
            </a:r>
            <a:r>
              <a:rPr lang="en-US" dirty="0"/>
              <a:t>: when a number cannot be represented precisely in a given number of fractional bits (also called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quantization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1"/>
                </a:solidFill>
              </a:rPr>
              <a:t>Rounding down </a:t>
            </a:r>
            <a:r>
              <a:rPr lang="en-US" dirty="0"/>
              <a:t>(round to negative infinity): drop the extra fractional bits (</a:t>
            </a:r>
            <a:r>
              <a:rPr lang="en-US" dirty="0">
                <a:solidFill>
                  <a:schemeClr val="accent1"/>
                </a:solidFill>
              </a:rPr>
              <a:t>LSBs</a:t>
            </a:r>
            <a:r>
              <a:rPr lang="en-US" dirty="0"/>
              <a:t>)</a:t>
            </a:r>
          </a:p>
          <a:p>
            <a:pPr lvl="1"/>
            <a:r>
              <a:rPr lang="en-US" sz="2400" dirty="0"/>
              <a:t>Result in numbers that are more negative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884038-A827-4A30-88ED-2EBF5DA6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68123F-082B-4CA4-97C5-93214416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Underflow – Rounding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B1E854-C494-4636-8913-DA21ECB4A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84"/>
          <a:stretch/>
        </p:blipFill>
        <p:spPr>
          <a:xfrm>
            <a:off x="2187502" y="2771321"/>
            <a:ext cx="7695435" cy="349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0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E27F49-5410-4C19-A189-97A7E4988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Rounding to nearest even</a:t>
            </a:r>
            <a:r>
              <a:rPr lang="en-US" dirty="0"/>
              <a:t>: always picks the nearest representable number</a:t>
            </a:r>
          </a:p>
          <a:p>
            <a:pPr lvl="1"/>
            <a:r>
              <a:rPr lang="en-US" sz="2400" dirty="0"/>
              <a:t>Minimizes rounding errors</a:t>
            </a:r>
          </a:p>
          <a:p>
            <a:pPr lvl="1"/>
            <a:r>
              <a:rPr lang="en-US" sz="2400" dirty="0"/>
              <a:t>Error tends to </a:t>
            </a:r>
            <a:r>
              <a:rPr lang="en-US" sz="2400" b="1" dirty="0">
                <a:solidFill>
                  <a:schemeClr val="accent1"/>
                </a:solidFill>
              </a:rPr>
              <a:t>cancel out </a:t>
            </a:r>
            <a:r>
              <a:rPr lang="en-US" sz="2400" dirty="0"/>
              <a:t>when computing sums – </a:t>
            </a:r>
            <a:r>
              <a:rPr lang="en-US" sz="2400" b="1" dirty="0">
                <a:solidFill>
                  <a:schemeClr val="accent1"/>
                </a:solidFill>
              </a:rPr>
              <a:t>unbiased rounding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884038-A827-4A30-88ED-2EBF5DA6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68123F-082B-4CA4-97C5-93214416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Underflow – Rounding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B4901-7AD9-4699-8FA3-03E03664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2534779"/>
            <a:ext cx="8259328" cy="384863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BAB6EF-AF1C-43EB-A0D1-FE992EF74953}"/>
              </a:ext>
            </a:extLst>
          </p:cNvPr>
          <p:cNvCxnSpPr>
            <a:cxnSpLocks/>
          </p:cNvCxnSpPr>
          <p:nvPr/>
        </p:nvCxnSpPr>
        <p:spPr>
          <a:xfrm>
            <a:off x="1966336" y="3348111"/>
            <a:ext cx="787087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180E34-C0A5-4CD1-8A30-497ACDEDEC11}"/>
              </a:ext>
            </a:extLst>
          </p:cNvPr>
          <p:cNvCxnSpPr>
            <a:cxnSpLocks/>
          </p:cNvCxnSpPr>
          <p:nvPr/>
        </p:nvCxnSpPr>
        <p:spPr>
          <a:xfrm>
            <a:off x="1966336" y="4063218"/>
            <a:ext cx="787087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0A26E75E-13C6-49BB-AE92-18F6DE059A2F}"/>
              </a:ext>
            </a:extLst>
          </p:cNvPr>
          <p:cNvSpPr txBox="1">
            <a:spLocks/>
          </p:cNvSpPr>
          <p:nvPr/>
        </p:nvSpPr>
        <p:spPr>
          <a:xfrm>
            <a:off x="9837209" y="3098610"/>
            <a:ext cx="1761603" cy="4816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Goes larger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1C9EE0C5-6A5C-4428-8706-6AEDFE0AD5C8}"/>
              </a:ext>
            </a:extLst>
          </p:cNvPr>
          <p:cNvSpPr txBox="1">
            <a:spLocks/>
          </p:cNvSpPr>
          <p:nvPr/>
        </p:nvSpPr>
        <p:spPr>
          <a:xfrm>
            <a:off x="9873488" y="3822409"/>
            <a:ext cx="2034814" cy="481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Goes smaller</a:t>
            </a: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7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0FF77-DD86-41AD-A8C3-2FA3AC00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6C5624-D71A-44A8-B089-7A36789D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Modes in HLS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8EF219-13CF-4ADB-819F-00DC89868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25"/>
          <a:stretch/>
        </p:blipFill>
        <p:spPr>
          <a:xfrm>
            <a:off x="2309411" y="1110499"/>
            <a:ext cx="7129656" cy="2239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798D9-75A2-BCC9-107F-3A75A3A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100" y="3595597"/>
            <a:ext cx="8487960" cy="80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892249-058D-9DBF-D6A1-E1650C9B5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100" y="4405335"/>
            <a:ext cx="9116697" cy="943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5D669-594E-2F5B-6C59-C6ED4F036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100" y="5348442"/>
            <a:ext cx="8449854" cy="924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AA9222-1A9A-0A20-39A2-2E7108EFE1DD}"/>
              </a:ext>
            </a:extLst>
          </p:cNvPr>
          <p:cNvSpPr txBox="1"/>
          <p:nvPr/>
        </p:nvSpPr>
        <p:spPr>
          <a:xfrm>
            <a:off x="1332862" y="2652490"/>
            <a:ext cx="1017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default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730F7-445C-AF26-5694-45A31CD3B1E8}"/>
              </a:ext>
            </a:extLst>
          </p:cNvPr>
          <p:cNvSpPr txBox="1"/>
          <p:nvPr/>
        </p:nvSpPr>
        <p:spPr>
          <a:xfrm>
            <a:off x="8142088" y="2360529"/>
            <a:ext cx="129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(to nearest)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03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7CE024-3316-449C-BAC0-5A361E521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Pros</a:t>
            </a:r>
          </a:p>
          <a:p>
            <a:pPr lvl="1"/>
            <a:r>
              <a:rPr lang="en-US" sz="2800" dirty="0"/>
              <a:t>Low memory, low resource (DSP, peripheral logic), low latency</a:t>
            </a:r>
          </a:p>
          <a:p>
            <a:r>
              <a:rPr lang="en-US" altLang="zh-CN" sz="3200" dirty="0"/>
              <a:t>Cons</a:t>
            </a:r>
          </a:p>
          <a:p>
            <a:pPr lvl="1"/>
            <a:r>
              <a:rPr lang="en-US" sz="2800" dirty="0"/>
              <a:t>Uncertain accuracy</a:t>
            </a:r>
          </a:p>
          <a:p>
            <a:pPr lvl="1"/>
            <a:endParaRPr lang="en-US" sz="2800" dirty="0"/>
          </a:p>
          <a:p>
            <a:r>
              <a:rPr lang="en-US" sz="3200" dirty="0"/>
              <a:t>Vitis HLS can also synthesize floating point </a:t>
            </a:r>
          </a:p>
          <a:p>
            <a:pPr lvl="1"/>
            <a:r>
              <a:rPr lang="en-US" sz="2800" dirty="0"/>
              <a:t>Requires significant amount of computation </a:t>
            </a:r>
            <a:r>
              <a:rPr lang="zh-CN" altLang="en-US" sz="2800" dirty="0"/>
              <a:t>→ </a:t>
            </a:r>
            <a:r>
              <a:rPr lang="en-US" sz="2800" dirty="0"/>
              <a:t>a large amount of resource usage and many cycles of latency</a:t>
            </a:r>
          </a:p>
          <a:p>
            <a:pPr lvl="1"/>
            <a:r>
              <a:rPr lang="en-US" altLang="zh-CN" sz="2800" dirty="0"/>
              <a:t>F</a:t>
            </a:r>
            <a:r>
              <a:rPr lang="en-US" sz="2800" dirty="0"/>
              <a:t>loating point numbers should be avoided unless absolutely necessary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71469-4DC4-444A-969F-BEA977AD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B7B7D1-C832-4481-9709-5DD96014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Pros and Cons of Fixed Point</a:t>
            </a:r>
          </a:p>
        </p:txBody>
      </p:sp>
    </p:spTree>
    <p:extLst>
      <p:ext uri="{BB962C8B-B14F-4D97-AF65-F5344CB8AC3E}">
        <p14:creationId xmlns:p14="http://schemas.microsoft.com/office/powerpoint/2010/main" val="2777919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FECF0B-72C3-5B12-0ACE-4BFD1F726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5045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Representation</a:t>
            </a:r>
            <a:r>
              <a:rPr lang="en-US" dirty="0"/>
              <a:t> is fine, but when comes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computation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Intermediate results, especially </a:t>
            </a:r>
            <a:r>
              <a:rPr lang="en-US" b="1" dirty="0">
                <a:solidFill>
                  <a:schemeClr val="accent1"/>
                </a:solidFill>
              </a:rPr>
              <a:t>accumulations</a:t>
            </a:r>
            <a:r>
              <a:rPr lang="en-US" dirty="0"/>
              <a:t>, matter </a:t>
            </a:r>
            <a:r>
              <a:rPr lang="en-US" b="1" dirty="0">
                <a:solidFill>
                  <a:schemeClr val="accent1"/>
                </a:solidFill>
              </a:rPr>
              <a:t>a lot</a:t>
            </a:r>
          </a:p>
          <a:p>
            <a:pPr lvl="1"/>
            <a:r>
              <a:rPr lang="en-US" dirty="0"/>
              <a:t>Usually use a larger precision for accumulation</a:t>
            </a:r>
          </a:p>
          <a:p>
            <a:pPr lvl="1"/>
            <a:r>
              <a:rPr lang="en-US" dirty="0"/>
              <a:t>Maybe other cases</a:t>
            </a:r>
          </a:p>
          <a:p>
            <a:pPr lvl="1"/>
            <a:endParaRPr lang="en-US" dirty="0"/>
          </a:p>
          <a:p>
            <a:r>
              <a:rPr lang="en-US" dirty="0"/>
              <a:t>Accumulation error grows with:</a:t>
            </a:r>
          </a:p>
          <a:p>
            <a:pPr lvl="1"/>
            <a:r>
              <a:rPr lang="en-US" dirty="0"/>
              <a:t>Loop trip count</a:t>
            </a:r>
          </a:p>
          <a:p>
            <a:pPr lvl="1"/>
            <a:r>
              <a:rPr lang="en-US" dirty="0"/>
              <a:t>Reduction (accumulation) depth</a:t>
            </a:r>
          </a:p>
          <a:p>
            <a:pPr lvl="1"/>
            <a:r>
              <a:rPr lang="en-US" b="1" dirty="0"/>
              <a:t>Sum overflows</a:t>
            </a:r>
          </a:p>
          <a:p>
            <a:pPr lvl="1"/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8-bit × 8-bit → 16-bit product</a:t>
            </a:r>
          </a:p>
          <a:p>
            <a:pPr lvl="1"/>
            <a:r>
              <a:rPr lang="en-US" dirty="0"/>
              <a:t>Accumulating 256 terms → needs +8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DD9E1-2C44-8BF7-53CA-C952DBD4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DD88B5-E187-C239-928D-D42A63DA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Pitfalls of using Fixed-Point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4B0C4-8FBA-EE5D-893B-962D9DFD0489}"/>
              </a:ext>
            </a:extLst>
          </p:cNvPr>
          <p:cNvSpPr txBox="1"/>
          <p:nvPr/>
        </p:nvSpPr>
        <p:spPr>
          <a:xfrm>
            <a:off x="6086109" y="3020457"/>
            <a:ext cx="5648325" cy="2676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for (int i = 0; i &lt; N; i++) { 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j = 0; j &lt; N;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 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ap_fixed_higher_precision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sum = 0; </a:t>
            </a:r>
          </a:p>
          <a:p>
            <a:r>
              <a:rPr lang="en-US" dirty="0">
                <a:latin typeface="Consolas" panose="020B0609020204030204" pitchFamily="49" charset="0"/>
              </a:rPr>
              <a:t>        for (int k = 0; k &lt; N; k++) {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sum += A[i][k] * B[k][j]; </a:t>
            </a:r>
          </a:p>
          <a:p>
            <a:r>
              <a:rPr lang="en-US" dirty="0">
                <a:latin typeface="Consolas" panose="020B0609020204030204" pitchFamily="49" charset="0"/>
              </a:rPr>
              <a:t>        }  </a:t>
            </a:r>
          </a:p>
          <a:p>
            <a:r>
              <a:rPr lang="en-US" dirty="0">
                <a:latin typeface="Consolas" panose="020B0609020204030204" pitchFamily="49" charset="0"/>
              </a:rPr>
              <a:t>    } </a:t>
            </a:r>
          </a:p>
          <a:p>
            <a:r>
              <a:rPr lang="en-US" dirty="0">
                <a:latin typeface="Consolas" panose="020B0609020204030204" pitchFamily="49" charset="0"/>
              </a:rPr>
              <a:t>    C[i][j] = sum;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1572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Floating-point and fixed-point representations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Data quantization in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315552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9327FA-7018-47E0-BF11-FA3E6CBC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do we care?</a:t>
            </a:r>
          </a:p>
          <a:p>
            <a:pPr lvl="1"/>
            <a:r>
              <a:rPr lang="en-US" sz="2800" dirty="0"/>
              <a:t>Faster, smaller, easier!</a:t>
            </a:r>
          </a:p>
          <a:p>
            <a:endParaRPr lang="en-US" sz="3200" dirty="0"/>
          </a:p>
          <a:p>
            <a:r>
              <a:rPr lang="en-US" sz="3200" i="0" dirty="0">
                <a:effectLst/>
              </a:rPr>
              <a:t>Why does it work?</a:t>
            </a:r>
          </a:p>
          <a:p>
            <a:endParaRPr lang="en-US" sz="3200" i="0" dirty="0">
              <a:effectLst/>
            </a:endParaRPr>
          </a:p>
          <a:p>
            <a:r>
              <a:rPr lang="en-US" sz="3200" i="0" dirty="0">
                <a:effectLst/>
              </a:rPr>
              <a:t>Quantization Methods</a:t>
            </a:r>
          </a:p>
          <a:p>
            <a:pPr lvl="1"/>
            <a:r>
              <a:rPr lang="en-US" sz="2800" dirty="0"/>
              <a:t>Fixed-point </a:t>
            </a:r>
          </a:p>
          <a:p>
            <a:pPr lvl="1"/>
            <a:r>
              <a:rPr lang="en-US" sz="2800" i="0" dirty="0">
                <a:effectLst/>
              </a:rPr>
              <a:t>Integer</a:t>
            </a:r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D675F-96A2-48ED-AB8B-D1015A8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5519E-FCDF-43EB-BA2C-EB2083EF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for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167C5-AA5C-4D07-B855-5F277BE069F7}"/>
              </a:ext>
            </a:extLst>
          </p:cNvPr>
          <p:cNvSpPr txBox="1"/>
          <p:nvPr/>
        </p:nvSpPr>
        <p:spPr>
          <a:xfrm>
            <a:off x="212774" y="6155862"/>
            <a:ext cx="6151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ptos" panose="020B0004020202020204" pitchFamily="34" charset="0"/>
              </a:rPr>
              <a:t>Reference: https://sahnimanas.github.io/post/quantization-in-tflite/</a:t>
            </a:r>
          </a:p>
        </p:txBody>
      </p:sp>
    </p:spTree>
    <p:extLst>
      <p:ext uri="{BB962C8B-B14F-4D97-AF65-F5344CB8AC3E}">
        <p14:creationId xmlns:p14="http://schemas.microsoft.com/office/powerpoint/2010/main" val="4086926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1ABC0-3359-4D23-8939-A352768E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678152"/>
          </a:xfrm>
        </p:spPr>
        <p:txBody>
          <a:bodyPr/>
          <a:lstStyle/>
          <a:p>
            <a:r>
              <a:rPr lang="en-US" dirty="0"/>
              <a:t>DNNs are known to be robust to noise and small perturbations once trained</a:t>
            </a:r>
          </a:p>
          <a:p>
            <a:pPr lvl="1"/>
            <a:r>
              <a:rPr lang="en-US" dirty="0"/>
              <a:t>80% chance to be a dog? 75% chance to be a dog? Still a dog!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C7B20-9928-413F-AABF-DD3AAE61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3F39DE-2005-4DAF-BBE2-7BD21F97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Quantization Work for ML?</a:t>
            </a:r>
          </a:p>
        </p:txBody>
      </p:sp>
      <p:pic>
        <p:nvPicPr>
          <p:cNvPr id="1026" name="Picture 2" descr="Nvidia DIGITS — An Easy Way to Get Started with Deep Learning – The New  Stack">
            <a:extLst>
              <a:ext uri="{FF2B5EF4-FFF2-40B4-BE49-F238E27FC236}">
                <a16:creationId xmlns:a16="http://schemas.microsoft.com/office/drawing/2014/main" id="{C73CBEDC-8D1F-49AA-B79C-AD3C03B8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2"/>
          <a:stretch/>
        </p:blipFill>
        <p:spPr bwMode="auto">
          <a:xfrm>
            <a:off x="2724150" y="2366066"/>
            <a:ext cx="4780281" cy="342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E2CD8-173E-472F-B8B4-37DA46054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6" y="3199848"/>
            <a:ext cx="2022233" cy="1815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A986C-9371-4E25-906B-FA6CE56D0687}"/>
              </a:ext>
            </a:extLst>
          </p:cNvPr>
          <p:cNvSpPr txBox="1"/>
          <p:nvPr/>
        </p:nvSpPr>
        <p:spPr>
          <a:xfrm>
            <a:off x="7236910" y="2692636"/>
            <a:ext cx="1435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" panose="020B0004020202020204" pitchFamily="34" charset="0"/>
              </a:rPr>
              <a:t>Cat: 0.1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35783-1E3D-4C51-B2C2-798D5AE3B484}"/>
              </a:ext>
            </a:extLst>
          </p:cNvPr>
          <p:cNvSpPr txBox="1"/>
          <p:nvPr/>
        </p:nvSpPr>
        <p:spPr>
          <a:xfrm>
            <a:off x="7236910" y="3388838"/>
            <a:ext cx="1495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Dog: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6CFDD3-684A-40D3-8790-BD880765EC92}"/>
              </a:ext>
            </a:extLst>
          </p:cNvPr>
          <p:cNvSpPr txBox="1"/>
          <p:nvPr/>
        </p:nvSpPr>
        <p:spPr>
          <a:xfrm>
            <a:off x="7236910" y="4143238"/>
            <a:ext cx="1515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Bird: 0.1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70A2D-B20E-478A-B7B0-8654007ADA63}"/>
              </a:ext>
            </a:extLst>
          </p:cNvPr>
          <p:cNvSpPr txBox="1"/>
          <p:nvPr/>
        </p:nvSpPr>
        <p:spPr>
          <a:xfrm>
            <a:off x="7236910" y="4919139"/>
            <a:ext cx="185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Parrot: 0.1</a:t>
            </a:r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903A0139-91C1-4293-B436-718C17E06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8788" y="3298087"/>
            <a:ext cx="683221" cy="68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74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1ABC0-3359-4D23-8939-A352768E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678152"/>
          </a:xfrm>
        </p:spPr>
        <p:txBody>
          <a:bodyPr/>
          <a:lstStyle/>
          <a:p>
            <a:r>
              <a:rPr lang="en-US" dirty="0"/>
              <a:t>DNNs are known to be robust to noise and small perturbations once trained</a:t>
            </a:r>
          </a:p>
          <a:p>
            <a:pPr lvl="1"/>
            <a:r>
              <a:rPr lang="en-US" dirty="0"/>
              <a:t>80% chance to be a cat? 75% chance to be a cat? Still a cat!</a:t>
            </a:r>
          </a:p>
          <a:p>
            <a:r>
              <a:rPr lang="en-US" dirty="0"/>
              <a:t>Weights and activations often tend to lie in a small range</a:t>
            </a:r>
          </a:p>
          <a:p>
            <a:pPr lvl="1"/>
            <a:r>
              <a:rPr lang="en-US" dirty="0"/>
              <a:t>Can be estimated beforehand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C7B20-9928-413F-AABF-DD3AAE61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3F39DE-2005-4DAF-BBE2-7BD21F97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Quantization Work for ML?</a:t>
            </a:r>
          </a:p>
        </p:txBody>
      </p:sp>
      <p:pic>
        <p:nvPicPr>
          <p:cNvPr id="2050" name="Picture 2" descr="weights_quant">
            <a:extLst>
              <a:ext uri="{FF2B5EF4-FFF2-40B4-BE49-F238E27FC236}">
                <a16:creationId xmlns:a16="http://schemas.microsoft.com/office/drawing/2014/main" id="{AEB33EB1-DA0E-4B2B-9ADD-2143C29F4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2628539"/>
            <a:ext cx="8734792" cy="368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96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64ED86-6A3B-4CD1-8147-D9F668D6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3627108"/>
          </a:xfrm>
        </p:spPr>
        <p:txBody>
          <a:bodyPr>
            <a:normAutofit/>
          </a:bodyPr>
          <a:lstStyle/>
          <a:p>
            <a:r>
              <a:rPr lang="en-US" sz="2800" dirty="0"/>
              <a:t>Using </a:t>
            </a:r>
            <a:r>
              <a:rPr lang="en-US" sz="2800" dirty="0">
                <a:solidFill>
                  <a:schemeClr val="accent1"/>
                </a:solidFill>
              </a:rPr>
              <a:t>fixed-point</a:t>
            </a:r>
            <a:r>
              <a:rPr lang="en-US" sz="2800" dirty="0"/>
              <a:t> instead of floating point: most widely used in HLS</a:t>
            </a:r>
          </a:p>
          <a:p>
            <a:pPr lvl="1"/>
            <a:endParaRPr lang="en-US" sz="2800" dirty="0"/>
          </a:p>
          <a:p>
            <a:r>
              <a:rPr lang="en-US" sz="2800" dirty="0">
                <a:solidFill>
                  <a:schemeClr val="accent1"/>
                </a:solidFill>
              </a:rPr>
              <a:t>Drawback</a:t>
            </a:r>
            <a:r>
              <a:rPr lang="en-US" sz="2800" dirty="0"/>
              <a:t>: doesn’t work well for low bit-width, e.g., &lt; 8-bit</a:t>
            </a:r>
          </a:p>
          <a:p>
            <a:pPr lvl="1"/>
            <a:r>
              <a:rPr lang="en-US" sz="2400" dirty="0"/>
              <a:t>The range of the represented number is strictly limited by </a:t>
            </a:r>
            <a:r>
              <a:rPr lang="en-US" sz="2400" b="1" dirty="0">
                <a:solidFill>
                  <a:schemeClr val="accent1"/>
                </a:solidFill>
              </a:rPr>
              <a:t>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2554FF-7ABF-4988-B524-B5C16B14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1DDF0F-D7ED-419C-AF26-3907608B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1 – Fixed Point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544E862F-0579-41FB-B04D-844DC83F1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173895"/>
              </p:ext>
            </p:extLst>
          </p:nvPr>
        </p:nvGraphicFramePr>
        <p:xfrm>
          <a:off x="7653576" y="3429000"/>
          <a:ext cx="3551616" cy="530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904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</a:tblGrid>
              <a:tr h="5307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sign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b2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ptos" panose="020B0004020202020204" pitchFamily="34" charset="0"/>
                        </a:rP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0C7EA69C-2EBB-462C-BE45-D93A4A23DB27}"/>
              </a:ext>
            </a:extLst>
          </p:cNvPr>
          <p:cNvSpPr/>
          <p:nvPr/>
        </p:nvSpPr>
        <p:spPr>
          <a:xfrm>
            <a:off x="10179461" y="3798803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E0486-BBB6-4DAE-8D69-16C4B6E366BE}"/>
              </a:ext>
            </a:extLst>
          </p:cNvPr>
          <p:cNvSpPr txBox="1"/>
          <p:nvPr/>
        </p:nvSpPr>
        <p:spPr>
          <a:xfrm>
            <a:off x="8479695" y="4000143"/>
            <a:ext cx="1278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[-4, 3.5]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F63FF-F29F-4BDC-B4FD-5659492A5A9F}"/>
              </a:ext>
            </a:extLst>
          </p:cNvPr>
          <p:cNvSpPr txBox="1"/>
          <p:nvPr/>
        </p:nvSpPr>
        <p:spPr>
          <a:xfrm>
            <a:off x="10033782" y="4000143"/>
            <a:ext cx="168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step: 0.5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C7A94-653D-421D-8053-A3EF5EDF4FB8}"/>
              </a:ext>
            </a:extLst>
          </p:cNvPr>
          <p:cNvSpPr txBox="1"/>
          <p:nvPr/>
        </p:nvSpPr>
        <p:spPr>
          <a:xfrm>
            <a:off x="270223" y="3299534"/>
            <a:ext cx="6759227" cy="2570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indent="174625">
              <a:defRPr sz="1600">
                <a:solidFill>
                  <a:schemeClr val="tx1"/>
                </a:solidFill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 dirty="0"/>
              <a:t>#include “</a:t>
            </a:r>
            <a:r>
              <a:rPr lang="en-US" sz="1800" dirty="0" err="1"/>
              <a:t>ap_fixed.h</a:t>
            </a:r>
            <a:r>
              <a:rPr lang="en-US" sz="1800" dirty="0"/>
              <a:t>”</a:t>
            </a:r>
          </a:p>
          <a:p>
            <a:endParaRPr lang="en-US" sz="1800" dirty="0"/>
          </a:p>
          <a:p>
            <a:r>
              <a:rPr lang="en-US" altLang="zh-CN" sz="1800" dirty="0"/>
              <a:t>Typedef </a:t>
            </a:r>
            <a:r>
              <a:rPr lang="en-US" sz="1800" dirty="0" err="1"/>
              <a:t>ap_fixed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9, 3</a:t>
            </a:r>
            <a:r>
              <a:rPr lang="en-US" sz="1800" dirty="0"/>
              <a:t>&gt;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dirty="0"/>
              <a:t>;</a:t>
            </a:r>
          </a:p>
          <a:p>
            <a:endParaRPr lang="en-US" sz="1800" dirty="0"/>
          </a:p>
          <a:p>
            <a:r>
              <a:rPr lang="en-US" altLang="zh-CN" sz="1800" b="1" dirty="0" err="1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y_fixed_type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dirty="0"/>
              <a:t>weights[dim1][dim2];</a:t>
            </a:r>
          </a:p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dirty="0"/>
              <a:t>bias[dim1];</a:t>
            </a:r>
          </a:p>
          <a:p>
            <a:r>
              <a:rPr lang="en-US" sz="1800" dirty="0"/>
              <a:t>…</a:t>
            </a:r>
          </a:p>
          <a:p>
            <a:r>
              <a:rPr lang="en-US" sz="1800" dirty="0"/>
              <a:t>weights[0][0] = (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dirty="0"/>
              <a:t>) </a:t>
            </a:r>
            <a:r>
              <a:rPr lang="en-US" sz="1800" dirty="0" err="1"/>
              <a:t>weights_float</a:t>
            </a:r>
            <a:r>
              <a:rPr lang="en-US" sz="1800" dirty="0"/>
              <a:t>[0][0];</a:t>
            </a:r>
          </a:p>
          <a:p>
            <a:r>
              <a:rPr lang="en-US" sz="1800" dirty="0"/>
              <a:t>…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986AEF0-1A5C-55B5-80DB-8F8608E4A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890685"/>
              </p:ext>
            </p:extLst>
          </p:nvPr>
        </p:nvGraphicFramePr>
        <p:xfrm>
          <a:off x="7665007" y="4843140"/>
          <a:ext cx="3551616" cy="530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904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</a:tblGrid>
              <a:tr h="5307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sign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b2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ptos" panose="020B0004020202020204" pitchFamily="34" charset="0"/>
                        </a:rP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F3F9667B-E74D-4CF7-2278-9F9AD58677E0}"/>
              </a:ext>
            </a:extLst>
          </p:cNvPr>
          <p:cNvSpPr/>
          <p:nvPr/>
        </p:nvSpPr>
        <p:spPr>
          <a:xfrm>
            <a:off x="9305067" y="5212943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817AC5-6A9D-FED6-9D29-28CD2EEDB0A6}"/>
              </a:ext>
            </a:extLst>
          </p:cNvPr>
          <p:cNvSpPr txBox="1"/>
          <p:nvPr/>
        </p:nvSpPr>
        <p:spPr>
          <a:xfrm>
            <a:off x="8207571" y="5407971"/>
            <a:ext cx="1550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[-2, 1.75]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2A110-5B2C-F293-F2F7-D0FEBEAD5E3C}"/>
              </a:ext>
            </a:extLst>
          </p:cNvPr>
          <p:cNvSpPr txBox="1"/>
          <p:nvPr/>
        </p:nvSpPr>
        <p:spPr>
          <a:xfrm>
            <a:off x="9842689" y="5414211"/>
            <a:ext cx="1668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step: 0.25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02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9" grpId="0"/>
      <p:bldP spid="10" grpId="0"/>
      <p:bldP spid="6" grpId="0" animBg="1"/>
      <p:bldP spid="11" grpId="0" animBg="1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E7EA71-9F5B-4BF6-8755-F431222D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With a </a:t>
            </a:r>
            <a:r>
              <a:rPr lang="en-US" altLang="zh-CN" sz="2800" dirty="0">
                <a:solidFill>
                  <a:schemeClr val="accent1"/>
                </a:solidFill>
              </a:rPr>
              <a:t>scaling</a:t>
            </a:r>
            <a:r>
              <a:rPr lang="en-US" altLang="zh-CN" sz="2800" dirty="0"/>
              <a:t> and a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bias</a:t>
            </a:r>
            <a:r>
              <a:rPr lang="en-US" altLang="zh-CN" sz="2800" dirty="0"/>
              <a:t> (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shift</a:t>
            </a:r>
            <a:r>
              <a:rPr lang="en-US" altLang="zh-CN" sz="2800" dirty="0"/>
              <a:t>), can represent a much larger range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5EAB1D2-7A08-4371-9026-B1BAEDE61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33" y="2069303"/>
            <a:ext cx="6067587" cy="252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AB3DF6-0511-4CC9-BAD5-534DFC97D359}"/>
              </a:ext>
            </a:extLst>
          </p:cNvPr>
          <p:cNvSpPr txBox="1"/>
          <p:nvPr/>
        </p:nvSpPr>
        <p:spPr>
          <a:xfrm>
            <a:off x="254977" y="6083738"/>
            <a:ext cx="6151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ptos" panose="020B0004020202020204" pitchFamily="34" charset="0"/>
              </a:rPr>
              <a:t>https://intellabs.github.io/distiller/algo_quantization.html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443BC-7211-4C4E-B754-0B99C2C1F833}"/>
              </a:ext>
            </a:extLst>
          </p:cNvPr>
          <p:cNvSpPr txBox="1"/>
          <p:nvPr/>
        </p:nvSpPr>
        <p:spPr>
          <a:xfrm>
            <a:off x="2602625" y="4301814"/>
            <a:ext cx="1278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8-bit</a:t>
            </a:r>
            <a:endParaRPr lang="en-US" sz="3200" b="1" u="sng" baseline="300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D62DB-2A18-4165-A70D-AABDD74D2368}"/>
                  </a:ext>
                </a:extLst>
              </p:cNvPr>
              <p:cNvSpPr txBox="1"/>
              <p:nvPr/>
            </p:nvSpPr>
            <p:spPr>
              <a:xfrm>
                <a:off x="6096000" y="2299317"/>
                <a:ext cx="5128007" cy="16870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𝒃𝒊𝒂𝒔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𝒔𝒄𝒂𝒍𝒆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D62DB-2A18-4165-A70D-AABDD74D2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99317"/>
                <a:ext cx="5128007" cy="1687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1DE370-0BD8-449A-BDB0-275B3FBBFAAA}"/>
                  </a:ext>
                </a:extLst>
              </p:cNvPr>
              <p:cNvSpPr txBox="1"/>
              <p:nvPr/>
            </p:nvSpPr>
            <p:spPr>
              <a:xfrm>
                <a:off x="6096000" y="4298807"/>
                <a:ext cx="5212080" cy="1682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zh-CN" sz="2400" b="1" dirty="0">
                    <a:latin typeface="Aptos" panose="020B0004020202020204" pitchFamily="34" charset="0"/>
                  </a:rPr>
                  <a:t> : original floating-point value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q</a:t>
                </a:r>
                <a:r>
                  <a:rPr lang="en-US" sz="2800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b="1" dirty="0">
                    <a:latin typeface="Aptos" panose="020B0004020202020204" pitchFamily="34" charset="0"/>
                  </a:rPr>
                  <a:t>: quantized integer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i="1" dirty="0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scale</a:t>
                </a:r>
                <a:r>
                  <a:rPr lang="en-US" sz="2400" b="1" dirty="0">
                    <a:latin typeface="Aptos" panose="020B0004020202020204" pitchFamily="34" charset="0"/>
                  </a:rPr>
                  <a:t> and </a:t>
                </a:r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bias</a:t>
                </a:r>
                <a:r>
                  <a:rPr lang="en-US" sz="2400" b="1" dirty="0">
                    <a:latin typeface="Aptos" panose="020B0004020202020204" pitchFamily="34" charset="0"/>
                  </a:rPr>
                  <a:t>: can be floating or fixed point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1DE370-0BD8-449A-BDB0-275B3FBBF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98807"/>
                <a:ext cx="5212080" cy="1682833"/>
              </a:xfrm>
              <a:prstGeom prst="rect">
                <a:avLst/>
              </a:prstGeom>
              <a:blipFill>
                <a:blip r:embed="rId4"/>
                <a:stretch>
                  <a:fillRect l="-2105" r="-2105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540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8207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301973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487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992939-E13F-4D4F-B990-35B4ABA95131}"/>
                  </a:ext>
                </a:extLst>
              </p:cNvPr>
              <p:cNvSpPr txBox="1"/>
              <p:nvPr/>
            </p:nvSpPr>
            <p:spPr>
              <a:xfrm>
                <a:off x="2486464" y="3119817"/>
                <a:ext cx="5426613" cy="1027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32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145.6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−(−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𝟐𝟓𝟕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992939-E13F-4D4F-B990-35B4ABA95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464" y="3119817"/>
                <a:ext cx="5426613" cy="10271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DA91E7E-B59A-4A68-9F32-5FCFD2FFAA96}"/>
              </a:ext>
            </a:extLst>
          </p:cNvPr>
          <p:cNvSpPr txBox="1"/>
          <p:nvPr/>
        </p:nvSpPr>
        <p:spPr>
          <a:xfrm>
            <a:off x="7583656" y="3341000"/>
            <a:ext cx="33328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Scaling factor</a:t>
            </a:r>
          </a:p>
        </p:txBody>
      </p:sp>
    </p:spTree>
    <p:extLst>
      <p:ext uri="{BB962C8B-B14F-4D97-AF65-F5344CB8AC3E}">
        <p14:creationId xmlns:p14="http://schemas.microsoft.com/office/powerpoint/2010/main" val="3913841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695504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65769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D8B2243-9546-4215-A07C-42A445A7FE70}"/>
              </a:ext>
            </a:extLst>
          </p:cNvPr>
          <p:cNvSpPr txBox="1"/>
          <p:nvPr/>
        </p:nvSpPr>
        <p:spPr>
          <a:xfrm>
            <a:off x="6162819" y="4027972"/>
            <a:ext cx="3564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Next is to shift</a:t>
            </a:r>
          </a:p>
        </p:txBody>
      </p:sp>
    </p:spTree>
    <p:extLst>
      <p:ext uri="{BB962C8B-B14F-4D97-AF65-F5344CB8AC3E}">
        <p14:creationId xmlns:p14="http://schemas.microsoft.com/office/powerpoint/2010/main" val="2793192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14617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A081BB-204A-49A9-9F63-C6576CA17BCB}"/>
              </a:ext>
            </a:extLst>
          </p:cNvPr>
          <p:cNvCxnSpPr>
            <a:cxnSpLocks/>
          </p:cNvCxnSpPr>
          <p:nvPr/>
        </p:nvCxnSpPr>
        <p:spPr>
          <a:xfrm>
            <a:off x="1125415" y="3429000"/>
            <a:ext cx="1962443" cy="169245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A87AFE-2280-484C-B33D-5EC99DF5F60E}"/>
                  </a:ext>
                </a:extLst>
              </p:cNvPr>
              <p:cNvSpPr txBox="1"/>
              <p:nvPr/>
            </p:nvSpPr>
            <p:spPr>
              <a:xfrm>
                <a:off x="2227384" y="3945897"/>
                <a:ext cx="5657852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𝟒𝟕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(is this the best choice?)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A87AFE-2280-484C-B33D-5EC99DF5F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84" y="3945897"/>
                <a:ext cx="5657852" cy="1077218"/>
              </a:xfrm>
              <a:prstGeom prst="rect">
                <a:avLst/>
              </a:prstGeom>
              <a:blipFill>
                <a:blip r:embed="rId3"/>
                <a:stretch>
                  <a:fillRect l="-2691" t="-6780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111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577655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37845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442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1983545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25134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1230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02574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50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96332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84802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593479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77819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1983545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25134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1230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02574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2546252" y="5718551"/>
            <a:ext cx="8243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Zeros are very common in ML but are tampered</a:t>
            </a:r>
            <a:endParaRPr lang="en-US" sz="2400" b="1" dirty="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769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07624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87928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721796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2817052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3460653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94012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84284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3756073" y="5802957"/>
            <a:ext cx="5139982" cy="46166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ptos" panose="020B0004020202020204" pitchFamily="34" charset="0"/>
              </a:rPr>
              <a:t>A better approach: align the zero!</a:t>
            </a:r>
            <a:endParaRPr lang="en-US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695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2817052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3460653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94012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84284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3756073" y="5802957"/>
            <a:ext cx="5139982" cy="46166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ptos" panose="020B0004020202020204" pitchFamily="34" charset="0"/>
              </a:rPr>
              <a:t>A better approach: align the zero!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322AEC-989D-4755-8E66-C71FC26E6F06}"/>
              </a:ext>
            </a:extLst>
          </p:cNvPr>
          <p:cNvSpPr txBox="1"/>
          <p:nvPr/>
        </p:nvSpPr>
        <p:spPr>
          <a:xfrm>
            <a:off x="7673050" y="2183333"/>
            <a:ext cx="3560879" cy="1815882"/>
          </a:xfrm>
          <a:prstGeom prst="rect">
            <a:avLst/>
          </a:prstGeom>
          <a:solidFill>
            <a:srgbClr val="00305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Aptos" panose="020B0004020202020204" pitchFamily="34" charset="0"/>
              </a:rPr>
              <a:t>Many researches are trying to find the optimal scaling factor and bias…</a:t>
            </a:r>
            <a:endParaRPr lang="en-US" sz="2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33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64A4E-D114-ED3E-00ED-B0475774A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Difference: Coupled vs Decoupled Range</a:t>
            </a:r>
          </a:p>
          <a:p>
            <a:endParaRPr lang="en-US" dirty="0"/>
          </a:p>
          <a:p>
            <a:r>
              <a:rPr lang="en-US" dirty="0"/>
              <a:t>Fixed-point:</a:t>
            </a:r>
          </a:p>
          <a:p>
            <a:pPr lvl="1"/>
            <a:r>
              <a:rPr lang="en-US" dirty="0"/>
              <a:t>Range determined by I</a:t>
            </a:r>
          </a:p>
          <a:p>
            <a:pPr lvl="1"/>
            <a:r>
              <a:rPr lang="en-US" dirty="0"/>
              <a:t>Precision determined by W − I</a:t>
            </a:r>
          </a:p>
          <a:p>
            <a:pPr lvl="1"/>
            <a:r>
              <a:rPr lang="en-US" dirty="0"/>
              <a:t>Strongly coupled</a:t>
            </a:r>
          </a:p>
          <a:p>
            <a:endParaRPr lang="en-US" dirty="0"/>
          </a:p>
          <a:p>
            <a:r>
              <a:rPr lang="en-US" dirty="0"/>
              <a:t>Integer quantization:</a:t>
            </a:r>
          </a:p>
          <a:p>
            <a:pPr lvl="1"/>
            <a:r>
              <a:rPr lang="en-US" dirty="0"/>
              <a:t>Range controlled by scale + bias</a:t>
            </a:r>
          </a:p>
          <a:p>
            <a:pPr lvl="1"/>
            <a:r>
              <a:rPr lang="en-US" dirty="0"/>
              <a:t>Precision controlled by integer bit-width</a:t>
            </a:r>
          </a:p>
          <a:p>
            <a:pPr lvl="1"/>
            <a:r>
              <a:rPr lang="en-US" dirty="0"/>
              <a:t>Decoupled design</a:t>
            </a:r>
          </a:p>
          <a:p>
            <a:endParaRPr lang="en-US" dirty="0"/>
          </a:p>
          <a:p>
            <a:r>
              <a:rPr lang="en-US" dirty="0"/>
              <a:t>Integer quantization enables ultra-low-bit inference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ACCE15-2C31-CA93-60E5-4FA931E5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824A53-9077-B952-CACA-CB2AFCF6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vs Integer Quantization</a:t>
            </a:r>
          </a:p>
        </p:txBody>
      </p:sp>
    </p:spTree>
    <p:extLst>
      <p:ext uri="{BB962C8B-B14F-4D97-AF65-F5344CB8AC3E}">
        <p14:creationId xmlns:p14="http://schemas.microsoft.com/office/powerpoint/2010/main" val="136800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54F062-A2A4-F936-8AA4-314D39797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Choosing the Right Numeric Representation</a:t>
            </a:r>
          </a:p>
          <a:p>
            <a:endParaRPr lang="en-US" dirty="0"/>
          </a:p>
          <a:p>
            <a:r>
              <a:rPr lang="en-US" dirty="0"/>
              <a:t>Floating-point:</a:t>
            </a:r>
          </a:p>
          <a:p>
            <a:pPr lvl="1"/>
            <a:r>
              <a:rPr lang="en-US" dirty="0"/>
              <a:t>High dynamic range</a:t>
            </a:r>
          </a:p>
          <a:p>
            <a:pPr lvl="1"/>
            <a:r>
              <a:rPr lang="en-US" dirty="0"/>
              <a:t>Control-heavy logic</a:t>
            </a:r>
          </a:p>
          <a:p>
            <a:pPr lvl="1"/>
            <a:endParaRPr lang="en-US" dirty="0"/>
          </a:p>
          <a:p>
            <a:r>
              <a:rPr lang="en-US" dirty="0"/>
              <a:t>Fixed-point:</a:t>
            </a:r>
          </a:p>
          <a:p>
            <a:pPr lvl="1"/>
            <a:r>
              <a:rPr lang="en-US" dirty="0"/>
              <a:t>Medium precision</a:t>
            </a:r>
          </a:p>
          <a:p>
            <a:pPr lvl="1"/>
            <a:r>
              <a:rPr lang="en-US" dirty="0"/>
              <a:t>Known ranges</a:t>
            </a:r>
          </a:p>
          <a:p>
            <a:pPr lvl="1"/>
            <a:endParaRPr lang="en-US" dirty="0"/>
          </a:p>
          <a:p>
            <a:r>
              <a:rPr lang="en-US" dirty="0"/>
              <a:t>Integer quantization:</a:t>
            </a:r>
          </a:p>
          <a:p>
            <a:pPr lvl="1"/>
            <a:r>
              <a:rPr lang="en-US" dirty="0"/>
              <a:t>ML inference</a:t>
            </a:r>
          </a:p>
          <a:p>
            <a:pPr lvl="1"/>
            <a:r>
              <a:rPr lang="en-US" dirty="0"/>
              <a:t>≤8-bit</a:t>
            </a:r>
          </a:p>
          <a:p>
            <a:pPr lvl="1"/>
            <a:r>
              <a:rPr lang="en-US" dirty="0"/>
              <a:t>High efficiency</a:t>
            </a:r>
          </a:p>
          <a:p>
            <a:pPr lvl="1"/>
            <a:endParaRPr lang="en-US" dirty="0"/>
          </a:p>
          <a:p>
            <a:r>
              <a:rPr lang="en-US"/>
              <a:t>Precision </a:t>
            </a:r>
            <a:r>
              <a:rPr lang="en-US" dirty="0"/>
              <a:t>choice = </a:t>
            </a:r>
            <a:r>
              <a:rPr lang="en-US"/>
              <a:t>performance choice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FBE414-D7FE-D0CF-639D-B855345B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339D9E-7C61-07F4-25C0-2CACB44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 What (Decision Guide)</a:t>
            </a:r>
          </a:p>
        </p:txBody>
      </p:sp>
    </p:spTree>
    <p:extLst>
      <p:ext uri="{BB962C8B-B14F-4D97-AF65-F5344CB8AC3E}">
        <p14:creationId xmlns:p14="http://schemas.microsoft.com/office/powerpoint/2010/main" val="1663500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D97CDF-B06D-410E-8775-114F69A65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Floating point representation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Fixed point representation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Overflow, underflow, rounding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Data quantization in Machine Learning</a:t>
            </a:r>
          </a:p>
          <a:p>
            <a:pPr lvl="1">
              <a:lnSpc>
                <a:spcPct val="150000"/>
              </a:lnSpc>
            </a:pPr>
            <a:r>
              <a:rPr lang="en-US" sz="2400"/>
              <a:t>Two approaches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5490C-7882-4BCE-AE03-375007CF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0B5614-08B3-483A-9081-7DB4DD65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0252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32392</TotalTime>
  <Words>2212</Words>
  <Application>Microsoft Office PowerPoint</Application>
  <PresentationFormat>Widescreen</PresentationFormat>
  <Paragraphs>720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宋体</vt:lpstr>
      <vt:lpstr>Aptos</vt:lpstr>
      <vt:lpstr>Aptos Display</vt:lpstr>
      <vt:lpstr>Arial</vt:lpstr>
      <vt:lpstr>Calibri</vt:lpstr>
      <vt:lpstr>Cambria Math</vt:lpstr>
      <vt:lpstr>Consolas</vt:lpstr>
      <vt:lpstr>Corbel</vt:lpstr>
      <vt:lpstr>Courier New</vt:lpstr>
      <vt:lpstr>Roboto</vt:lpstr>
      <vt:lpstr>Office Theme</vt:lpstr>
      <vt:lpstr>Custom Design</vt:lpstr>
      <vt:lpstr>1_Office Theme</vt:lpstr>
      <vt:lpstr>Data Type and Quantization</vt:lpstr>
      <vt:lpstr>Hardware Design with HLS</vt:lpstr>
      <vt:lpstr>Why Datatype Matters</vt:lpstr>
      <vt:lpstr>Outline</vt:lpstr>
      <vt:lpstr>Binary Number Representation</vt:lpstr>
      <vt:lpstr>IEEE 754 Floating Point Standard</vt:lpstr>
      <vt:lpstr>Using Existing Data Types in Hardware</vt:lpstr>
      <vt:lpstr>Arbitrary Data Precision using FPGA</vt:lpstr>
      <vt:lpstr>Example: Fixed-Point Modeling</vt:lpstr>
      <vt:lpstr>Fixed-Point Representation</vt:lpstr>
      <vt:lpstr>Fixed-Point Representation</vt:lpstr>
      <vt:lpstr>Floating-Point vs Fixed-Point on FPGA</vt:lpstr>
      <vt:lpstr>Fixed-Point Overflow and Underflow</vt:lpstr>
      <vt:lpstr>Handling Overflow</vt:lpstr>
      <vt:lpstr>Overflow Modes in HLS</vt:lpstr>
      <vt:lpstr>Handling Overflow Manually</vt:lpstr>
      <vt:lpstr>Handling Underflow – Rounding</vt:lpstr>
      <vt:lpstr>Handling Underflow – Rounding</vt:lpstr>
      <vt:lpstr>Quantization Modes in HLS</vt:lpstr>
      <vt:lpstr>Pros and Cons of Fixed Point</vt:lpstr>
      <vt:lpstr>Pitfalls of using Fixed-Point</vt:lpstr>
      <vt:lpstr>Outline</vt:lpstr>
      <vt:lpstr>Quantization for Machine Learning</vt:lpstr>
      <vt:lpstr>Why Does Quantization Work for ML?</vt:lpstr>
      <vt:lpstr>Why Does Quantization Work for ML?</vt:lpstr>
      <vt:lpstr>Quantization Method 1 – Fixed Point</vt:lpstr>
      <vt:lpstr>Quantization Method 2 – Integer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Fixed-Point vs Integer Quantization</vt:lpstr>
      <vt:lpstr>When to Use What (Decision Guide)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Hao, Callie</cp:lastModifiedBy>
  <cp:revision>3232</cp:revision>
  <dcterms:created xsi:type="dcterms:W3CDTF">2014-06-12T21:03:18Z</dcterms:created>
  <dcterms:modified xsi:type="dcterms:W3CDTF">2026-02-10T16:48:55Z</dcterms:modified>
</cp:coreProperties>
</file>